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72e977b5d7493d" /><Relationship Type="http://schemas.openxmlformats.org/officeDocument/2006/relationships/extended-properties" Target="/docProps/app.xml" Id="R76aced67a16a47af" /><Relationship Type="http://schemas.openxmlformats.org/officeDocument/2006/relationships/officeDocument" Target="/ppt/presentation.xml" Id="R8f7a2d5b316e4317" /></Relationships>
</file>

<file path=ppt/presentation.xml><?xml version="1.0" encoding="utf-8"?>
<p:presentation xmlns:p="http://schemas.openxmlformats.org/presentationml/2006/main">
  <p:sldMasterIdLst>
    <p:sldMasterId xmlns:r="http://schemas.openxmlformats.org/officeDocument/2006/relationships" id="2147483648" r:id="R5d82dbbea2fa47ab"/>
  </p:sldMasterIdLst>
  <p:notesMasterIdLst>
    <p:notesMasterId xmlns:r="http://schemas.openxmlformats.org/officeDocument/2006/relationships" r:id="Rf5d7defc97eb434a"/>
  </p:notesMasterIdLst>
  <p:sldIdLst>
    <p:sldId xmlns:r="http://schemas.openxmlformats.org/officeDocument/2006/relationships" id="256" r:id="R67e1bc16599a44d2"/>
    <p:sldId xmlns:r="http://schemas.openxmlformats.org/officeDocument/2006/relationships" id="257" r:id="R2c03ee99bedd4aa4"/>
    <p:sldId xmlns:r="http://schemas.openxmlformats.org/officeDocument/2006/relationships" id="258" r:id="Rfb1e5b08ec91493f"/>
    <p:sldId xmlns:r="http://schemas.openxmlformats.org/officeDocument/2006/relationships" id="259" r:id="Rb32e53599c134a7d"/>
    <p:sldId xmlns:r="http://schemas.openxmlformats.org/officeDocument/2006/relationships" id="260" r:id="R2e6ca429f48442ba"/>
    <p:sldId xmlns:r="http://schemas.openxmlformats.org/officeDocument/2006/relationships" id="261" r:id="R8980f60d9c9f4e1b"/>
    <p:sldId xmlns:r="http://schemas.openxmlformats.org/officeDocument/2006/relationships" id="262" r:id="R1554c35ab7b442e0"/>
    <p:sldId xmlns:r="http://schemas.openxmlformats.org/officeDocument/2006/relationships" id="263" r:id="R897fcb414efe4ab0"/>
    <p:sldId xmlns:r="http://schemas.openxmlformats.org/officeDocument/2006/relationships" id="264" r:id="Ra99feb2d15f94a7e"/>
    <p:sldId xmlns:r="http://schemas.openxmlformats.org/officeDocument/2006/relationships" id="265" r:id="R745796b628024434"/>
    <p:sldId xmlns:r="http://schemas.openxmlformats.org/officeDocument/2006/relationships" id="266" r:id="R1c507a6ab54b45ce"/>
    <p:sldId xmlns:r="http://schemas.openxmlformats.org/officeDocument/2006/relationships" id="267" r:id="R474065ce50054e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5f9f50c0924882" /><Relationship Type="http://schemas.openxmlformats.org/officeDocument/2006/relationships/slideMaster" Target="/ppt/slideMasters/slideMaster1.xml" Id="R5d82dbbea2fa47ab" /><Relationship Type="http://schemas.openxmlformats.org/officeDocument/2006/relationships/notesMaster" Target="/ppt/notesMasters/notesMaster1.xml" Id="Rf5d7defc97eb434a" /><Relationship Type="http://schemas.openxmlformats.org/officeDocument/2006/relationships/presProps" Target="/ppt/presProps.xml" Id="Re4041115a3d84e55" /><Relationship Type="http://schemas.openxmlformats.org/officeDocument/2006/relationships/tableStyles" Target="/ppt/tableStyles.xml" Id="Rf808b2bef32548a1" /><Relationship Type="http://schemas.openxmlformats.org/officeDocument/2006/relationships/slide" Target="/ppt/slides/slide1.xml" Id="R67e1bc16599a44d2" /><Relationship Type="http://schemas.openxmlformats.org/officeDocument/2006/relationships/slide" Target="/ppt/slides/slide2.xml" Id="R2c03ee99bedd4aa4" /><Relationship Type="http://schemas.openxmlformats.org/officeDocument/2006/relationships/slide" Target="/ppt/slides/slide3.xml" Id="Rfb1e5b08ec91493f" /><Relationship Type="http://schemas.openxmlformats.org/officeDocument/2006/relationships/slide" Target="/ppt/slides/slide4.xml" Id="Rb32e53599c134a7d" /><Relationship Type="http://schemas.openxmlformats.org/officeDocument/2006/relationships/slide" Target="/ppt/slides/slide5.xml" Id="R2e6ca429f48442ba" /><Relationship Type="http://schemas.openxmlformats.org/officeDocument/2006/relationships/slide" Target="/ppt/slides/slide6.xml" Id="R8980f60d9c9f4e1b" /><Relationship Type="http://schemas.openxmlformats.org/officeDocument/2006/relationships/slide" Target="/ppt/slides/slide7.xml" Id="R1554c35ab7b442e0" /><Relationship Type="http://schemas.openxmlformats.org/officeDocument/2006/relationships/slide" Target="/ppt/slides/slide8.xml" Id="R897fcb414efe4ab0" /><Relationship Type="http://schemas.openxmlformats.org/officeDocument/2006/relationships/slide" Target="/ppt/slides/slide9.xml" Id="Ra99feb2d15f94a7e" /><Relationship Type="http://schemas.openxmlformats.org/officeDocument/2006/relationships/slide" Target="/ppt/slides/slide10.xml" Id="R745796b628024434" /><Relationship Type="http://schemas.openxmlformats.org/officeDocument/2006/relationships/slide" Target="/ppt/slides/slide11.xml" Id="R1c507a6ab54b45ce" /><Relationship Type="http://schemas.openxmlformats.org/officeDocument/2006/relationships/slide" Target="/ppt/slides/slide12.xml" Id="R474065ce50054e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0d0b6127a743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3a454807c843bd" /><Relationship Type="http://schemas.openxmlformats.org/officeDocument/2006/relationships/notesMaster" Target="/ppt/notesMasters/notesMaster1.xml" Id="R5db8311000ae4d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bc926315f54ef0" /><Relationship Type="http://schemas.openxmlformats.org/officeDocument/2006/relationships/notesMaster" Target="/ppt/notesMasters/notesMaster1.xml" Id="R435f0e0102084e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be1b66ae9449b1" /><Relationship Type="http://schemas.openxmlformats.org/officeDocument/2006/relationships/notesMaster" Target="/ppt/notesMasters/notesMaster1.xml" Id="R31a857c6a91d45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603b65d0e64ae3" /><Relationship Type="http://schemas.openxmlformats.org/officeDocument/2006/relationships/notesMaster" Target="/ppt/notesMasters/notesMaster1.xml" Id="R38934c36083448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c0540205b34463" /><Relationship Type="http://schemas.openxmlformats.org/officeDocument/2006/relationships/notesMaster" Target="/ppt/notesMasters/notesMaster1.xml" Id="Ra16c1478faef48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bb84483eef4d33" /><Relationship Type="http://schemas.openxmlformats.org/officeDocument/2006/relationships/notesMaster" Target="/ppt/notesMasters/notesMaster1.xml" Id="Rfdd1fe22d5f24e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b80ef472544ce4" /><Relationship Type="http://schemas.openxmlformats.org/officeDocument/2006/relationships/notesMaster" Target="/ppt/notesMasters/notesMaster1.xml" Id="Rb6de13fbc18841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19b1700dec4d1f" /><Relationship Type="http://schemas.openxmlformats.org/officeDocument/2006/relationships/notesMaster" Target="/ppt/notesMasters/notesMaster1.xml" Id="R84f88fff7dbd4c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ebb5a5afb944d84" /><Relationship Type="http://schemas.openxmlformats.org/officeDocument/2006/relationships/notesMaster" Target="/ppt/notesMasters/notesMaster1.xml" Id="R253e23cfd42a46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5bbefa388745ce" /><Relationship Type="http://schemas.openxmlformats.org/officeDocument/2006/relationships/notesMaster" Target="/ppt/notesMasters/notesMaster1.xml" Id="Rb8a108c25dcf4e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3f10a5c05b4623" /><Relationship Type="http://schemas.openxmlformats.org/officeDocument/2006/relationships/notesMaster" Target="/ppt/notesMasters/notesMaster1.xml" Id="R79aa8370c8874f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8ad9c409cb4ff2" /><Relationship Type="http://schemas.openxmlformats.org/officeDocument/2006/relationships/notesMaster" Target="/ppt/notesMasters/notesMaster1.xml" Id="R80ba46f9812448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compare three recurrent architectures on the same drug review sentiment task. We implement every recurrent cell manually with PyTorch Linear layers. Our goal is to understand whether changing memory control improves sentiment recognition under a shared experimental protocol. We use rating-derived labels and report the limits of that supervision. The presentation covers the dataset, preprocessing, model design, controlled experiments and measured held-out results. Source: Guidelines_RNN_2627.pdf and resultats/synthese.json.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receives only the patient review text. It predicts negative, neutral or positive sentiment. We create these labels from the associated rating: one through four is negative, five or six neutral, and seven through ten positive. This is a modeling choice rather than a linguistic annotation. The rating defines the training target but never enters the model as an input. All three architectures solve exactly this same task. Source: course brief and etape_02_categories.py.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downloaded training file contains 161,297 reviews and the raw test file 53,766. About two thirds of the raw training reviews fall in the positive category, while fewer than nine percent are neutral. This imbalance motivates class weights during optimization and macro-F1 during selection. We report accuracy as a complementary metric. The TSV files came from the cited GitHub mirror because the UCI page was inaccessible. We record hashes rather than claiming a fresh byte-level verification against UCI. Sources: dataset TSVs and resultats/synthese.json.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decode HTML, lowercase the text and normalize whitespace while preserving punctuation. We remove repeated normalized texts and rows with contradictory sentiment labels. This leaves 112,285 unique training texts. We split that pool 85/15 with stratification. To keep manual recurrent training feasible on CPU, all experiments use fixed subsets of 12,000 training reviews and 2,000 validation reviews. We clean test data separately and remove overlap against the entire cleaned training and validation pool before selecting 4,000 test reviews. Sources: stages 3, 4 and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embedding represents each token with 64 learned values. The LSTM reads these vectors in order. The cell state c preserves a selectively updated memory. The hidden state h exposes information from that memory and helps calculate the next gates. Both can contain context from multiple preceding tokens. Forget and input gates update c. The output gate controls h. At the last useful token, a linear classifier maps h to three logits. Padding leaves both states unchanged. Sources: etape_07_modele_vanilla.py and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Vanilla has independent input, forget and output gates. CIFG replaces the learned input gate with one minus the forget gate. This removes one set of learned transforms and imposes a trade-off between retaining memory and accepting new content. WMC adds tanh-transformed memory connections to the gates. Its output gate consults the newly updated cell state, following the exact ordering in the appendix. We use Linear layers and elementwise operations instead of built-in LSTM cells. Counts include embeddings and the classifier. Source: etape_09_variantes.py.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Adam and weighted cross entropy. Class weights come only from the training subset. Gradient clipping limits the gradient norm to one. Each setting runs four epochs with seed 42. We fit the 12,000-entry vocabulary on the larger training pool only, with no validation or test text. Every sequence keeps at most 128 tokens. The model checkpoints compete using validation macro-F1. A single seed and restricted data budget limit the stability of architecture comparisons. Sources: stage 10 and experiment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reports the best validation macro-F1 reached by each setting over four epochs. We select an epoch within each run, then select one configuration per architecture. The primary model is the one with the strongest validation result. The comparison changes learning rate and batch size relative to a common baseline, but it does not form a complete factorial grid. Test scores play no role in selection. Results come from the saved experiment JSON files and synthese.json.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selecting the configuration and checkpoint of each architecture, we evaluate the three models on the same cleaned test subset. We also include a classifier that always predicts the majority class. Macro-F1 gives equal importance to all categories and exposes failures on minority classes that accuracy can hide. These are measured scores for a single split and seed. They do not prove universal superiority. The following slide examines the errors of the validation-selected primary model. Source: resultats/synthese.json.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of this confusion matrix are actual categories and columns are predicted categories. The diagonal counts correct predictions. Off-diagonal entries show where the model confuses classes. The neutral category has fewer training examples and often represents mixed or ambiguous sentiment, although the matrix alone cannot establish the cause of every error. Saved predictions permit detailed inspection after model selection. Increasing sequence length or changing supervision are possible future experiments rather than conclusions proven by this matrix. Source: predictions and synthese.json.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is limited to one seed, one vocabulary and a restricted optimization subset. Exact deduplication removes identical normalized text but cannot guarantee independence of near-duplicates or reviews about the same medicine. Ratings provide imperfect sentiment labels, and 128-token truncation discards context. Future work should repeat seeds, expand the training budget and investigate neutral or mixed reviews. Pretrained embeddings and splits grouped by drug could test different generalization questions. Any new decisions require validation and a fresh held-out evaluation. Source: experimental protocol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implemented all three requested recurrent architectures manually and compared them under the same protocol. CIFG produced the strongest validation configuration. The test scores and parameter counts provide a practical comparison for this dataset and budget. The public repository contains the numbered learning stages, experiment driver, tests, logged results and data source information. The ZIP includes trained checkpoints for demonstration. The five-page report describes the methodology and caveats in more detail. Sources: https://github.com/baalasara7-max/rnn-drug-review-lstm-2026 ; UCI https://doi.org/10.24432/C5SK5S ; CIFG https://arxiv.org/abs/1503.04069 ; WMC https://www.sciencedirect.com/science/article/pii/S0893608021003439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4aba81dc0f40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6e72a6adaa44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1390ffc7ed49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aa052e7b1342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a4ac50ba1141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cb362e858d4e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8AE955-425C-4CDC-89C1-AACFDA432A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E5A9A9-EFC7-461D-94D1-76F3681C48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7D169D-A60B-44A8-9D67-64DBF180BA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E8059A-D6D2-47A8-B9AA-89F85C2B1B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FD1FBD-B292-4674-8A33-BAE17DBB10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34D4A4-BDD1-4193-8375-A3825E0F0F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BA3B32-E024-4DAF-9786-F95029CD08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3F31EC-6004-4F0F-98DF-E18F732ABF3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8568E6-B1D1-48BF-A595-886D08AE3D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BFAE61-DE66-4581-A0C9-136F732520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fa258348754553" /><Relationship Type="http://schemas.openxmlformats.org/officeDocument/2006/relationships/slideLayout" Target="/ppt/slideLayouts/slideLayout1.xml" Id="R61adaacae62140f0" /><Relationship Type="http://schemas.openxmlformats.org/officeDocument/2006/relationships/slideLayout" Target="/ppt/slideLayouts/slideLayout2.xml" Id="R5e644b2f8df641b0" /><Relationship Type="http://schemas.openxmlformats.org/officeDocument/2006/relationships/slideLayout" Target="/ppt/slideLayouts/slideLayout3.xml" Id="Rce79d880c49a4e9f" /><Relationship Type="http://schemas.openxmlformats.org/officeDocument/2006/relationships/slideLayout" Target="/ppt/slideLayouts/slideLayout4.xml" Id="R1fd2c491a90e4ded" /><Relationship Type="http://schemas.openxmlformats.org/officeDocument/2006/relationships/slideLayout" Target="/ppt/slideLayouts/slideLayout5.xml" Id="Rc4a643af19384020" /><Relationship Type="http://schemas.openxmlformats.org/officeDocument/2006/relationships/slideLayout" Target="/ppt/slideLayouts/slideLayout6.xml" Id="Rc93194e37f2646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adaacae62140f0"/>
    <p:sldLayoutId xmlns:r="http://schemas.openxmlformats.org/officeDocument/2006/relationships" id="2147483650" r:id="R5e644b2f8df641b0"/>
    <p:sldLayoutId xmlns:r="http://schemas.openxmlformats.org/officeDocument/2006/relationships" id="2147483651" r:id="Rce79d880c49a4e9f"/>
    <p:sldLayoutId xmlns:r="http://schemas.openxmlformats.org/officeDocument/2006/relationships" id="2147483652" r:id="R1fd2c491a90e4ded"/>
    <p:sldLayoutId xmlns:r="http://schemas.openxmlformats.org/officeDocument/2006/relationships" id="2147483653" r:id="Rc4a643af19384020"/>
    <p:sldLayoutId xmlns:r="http://schemas.openxmlformats.org/officeDocument/2006/relationships" id="2147483654" r:id="Rc93194e37f2646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bf2cfbb1f24802" /><Relationship Type="http://schemas.openxmlformats.org/officeDocument/2006/relationships/notesSlide" Target="/ppt/notesSlides/notesSlide1.xml" Id="Rcd1e12f63df84c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2d19137264497f" /><Relationship Type="http://schemas.openxmlformats.org/officeDocument/2006/relationships/notesSlide" Target="/ppt/notesSlides/notesSlide2.xml" Id="Rcfde729e5f5843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18725ffa2d4eb9" /><Relationship Type="http://schemas.openxmlformats.org/officeDocument/2006/relationships/chart" Target="/ppt/slides/charts/chart1.xml" Id="R96d8ed69387a471f" /><Relationship Type="http://schemas.openxmlformats.org/officeDocument/2006/relationships/notesSlide" Target="/ppt/notesSlides/notesSlide3.xml" Id="Rb0f37fd0125944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05e42509c14de8" /><Relationship Type="http://schemas.openxmlformats.org/officeDocument/2006/relationships/notesSlide" Target="/ppt/notesSlides/notesSlide4.xml" Id="R10f3935bfd3740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4bfc314ed5d45bc" /><Relationship Type="http://schemas.openxmlformats.org/officeDocument/2006/relationships/notesSlide" Target="/ppt/notesSlides/notesSlide5.xml" Id="R2fa4de66e7c44d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dc8f0b31de4ec3" /><Relationship Type="http://schemas.openxmlformats.org/officeDocument/2006/relationships/notesSlide" Target="/ppt/notesSlides/notesSlide6.xml" Id="Rcdd2541125e241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6b5b5c0fa540fd" /><Relationship Type="http://schemas.openxmlformats.org/officeDocument/2006/relationships/notesSlide" Target="/ppt/notesSlides/notesSlide7.xml" Id="Re234e7c53d6c44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4449bf325d44c2" /><Relationship Type="http://schemas.openxmlformats.org/officeDocument/2006/relationships/notesSlide" Target="/ppt/notesSlides/notesSlide8.xml" Id="R50d4dd9c5aaf43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4271db13954d45" /><Relationship Type="http://schemas.openxmlformats.org/officeDocument/2006/relationships/chart" Target="/ppt/slides/charts/chart2.xml" Id="Recd664aa4bd34703" /><Relationship Type="http://schemas.openxmlformats.org/officeDocument/2006/relationships/notesSlide" Target="/ppt/notesSlides/notesSlide9.xml" Id="R777dcb510f6649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b46fef230a4e91" /><Relationship Type="http://schemas.openxmlformats.org/officeDocument/2006/relationships/notesSlide" Target="/ppt/notesSlides/notesSlide10.xml" Id="Rda18325cc1b041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8f51f48d353463e" /><Relationship Type="http://schemas.openxmlformats.org/officeDocument/2006/relationships/notesSlide" Target="/ppt/notesSlides/notesSlide11.xml" Id="R3a68170a910f4a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5645ce97894dca" /><Relationship Type="http://schemas.openxmlformats.org/officeDocument/2006/relationships/notesSlide" Target="/ppt/notesSlides/notesSlide12.xml" Id="R1e8dafdc3c914e09" /></Relationships>
</file>

<file path=ppt/slides/charts/chart1.xml><?xml version="1.0" encoding="utf-8"?>
<c:chartSpace xmlns:c="http://schemas.openxmlformats.org/drawingml/2006/chart">
  <c:lang val="en-US"/>
  <c:chart>
    <c:plotArea>
      <c:barChart>
        <c:barDir val="col"/>
        <c:grouping val="clustered"/>
        <c:varyColors val="0"/>
        <c:ser>
          <c:idx val="0"/>
          <c:order val="0"/>
          <c:tx>
            <c:v>Share of raw training reviews (%)</c:v>
          </c:tx>
          <c:spPr>
            <a:solidFill xmlns:a="http://schemas.openxmlformats.org/drawingml/2006/main">
              <a:srgbClr val="087E8B"/>
            </a:solidFill>
          </c:spPr>
          <c:invertIfNegative val="0"/>
          <c:cat>
            <c:strLit>
              <c:ptCount val="3"/>
              <c:pt idx="0">
                <c:v>Negative</c:v>
              </c:pt>
              <c:pt idx="1">
                <c:v>Neutral</c:v>
              </c:pt>
              <c:pt idx="2">
                <c:v>Positive</c:v>
              </c:pt>
            </c:strLit>
          </c:cat>
          <c:val>
            <c:numLit>
              <c:formatCode>0.00</c:formatCode>
              <c:ptCount val="3"/>
              <c:pt idx="0">
                <c:v>24.85</c:v>
              </c:pt>
              <c:pt idx="1">
                <c:v>8.9</c:v>
              </c:pt>
              <c:pt idx="2">
                <c:v>66.25</c:v>
              </c:pt>
            </c:numLit>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142C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C45"/>
                </a:solidFill>
                <a:latin typeface="Arial"/>
                <a:ea typeface="Arial"/>
                <a:cs typeface="Arial"/>
              </a:defRPr>
            </a:pPr>
          </a:p>
        </c:txPr>
        <c:crossAx val="48672768"/>
      </c:catAx>
      <c:valAx>
        <c:axId val="48672768"/>
        <c:scaling>
          <c:orientation val="minMax"/>
          <c:max val="75"/>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9"/>
                </a:solidFill>
                <a:latin typeface="Arial"/>
                <a:ea typeface="Arial"/>
                <a:cs typeface="Arial"/>
              </a:defRPr>
            </a:pPr>
          </a:p>
        </c:txPr>
        <c:crossAx val="48650112"/>
        <c:crossBetween val="between"/>
      </c:valAx>
      <c:spPr>
        <a:solidFill xmlns:a="http://schemas.openxmlformats.org/drawingml/2006/main">
          <a:srgbClr val="F8FAFC"/>
        </a:solidFill>
      </c:spPr>
    </c:plotArea>
    <c:plotVisOnly val="1"/>
  </c:chart>
  <c:spPr>
    <a:solidFill xmlns:a="http://schemas.openxmlformats.org/drawingml/2006/main">
      <a:srgbClr val="F8FAFC"/>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Test macro-F1</c:v>
          </c:tx>
          <c:spPr>
            <a:solidFill xmlns:a="http://schemas.openxmlformats.org/drawingml/2006/main">
              <a:srgbClr val="087E8B"/>
            </a:solidFill>
          </c:spPr>
          <c:invertIfNegative val="0"/>
          <c:cat>
            <c:strLit>
              <c:ptCount val="4"/>
              <c:pt idx="0">
                <c:v>VANILLA</c:v>
              </c:pt>
              <c:pt idx="1">
                <c:v>CIFG</c:v>
              </c:pt>
              <c:pt idx="2">
                <c:v>WMC</c:v>
              </c:pt>
              <c:pt idx="3">
                <c:v>Always positive</c:v>
              </c:pt>
            </c:strLit>
          </c:cat>
          <c:val>
            <c:numLit>
              <c:formatCode>0.00</c:formatCode>
              <c:ptCount val="4"/>
              <c:pt idx="0">
                <c:v>0.5052449107170105</c:v>
              </c:pt>
              <c:pt idx="1">
                <c:v>0.5092604756355286</c:v>
              </c:pt>
              <c:pt idx="2">
                <c:v>0.4858473241329193</c:v>
              </c:pt>
              <c:pt idx="3">
                <c:v>0.266025641025641</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42C4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C45"/>
                </a:solidFill>
                <a:latin typeface="Arial"/>
                <a:ea typeface="Arial"/>
                <a:cs typeface="Arial"/>
              </a:defRPr>
            </a:pPr>
          </a:p>
        </c:txPr>
        <c:crossAx val="48672768"/>
      </c:catAx>
      <c:valAx>
        <c:axId val="48672768"/>
        <c:scaling>
          <c:orientation val="minMax"/>
          <c:max val="0.7"/>
          <c:min val="0"/>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9"/>
                </a:solidFill>
                <a:latin typeface="Arial"/>
                <a:ea typeface="Arial"/>
                <a:cs typeface="Arial"/>
              </a:defRPr>
            </a:pPr>
          </a:p>
        </c:txPr>
        <c:crossAx val="48650112"/>
        <c:crossBetween val="between"/>
      </c:valAx>
      <c:spPr>
        <a:solidFill xmlns:a="http://schemas.openxmlformats.org/drawingml/2006/main">
          <a:srgbClr val="F8FAFC"/>
        </a:solidFill>
      </c:spPr>
    </c:plotArea>
    <c:plotVisOnly val="1"/>
  </c:chart>
  <c:spPr>
    <a:solidFill xmlns:a="http://schemas.openxmlformats.org/drawingml/2006/main">
      <a:srgbClr val="F8FAFC"/>
    </a:solidFill>
  </c:spPr>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FA1E41C-3D4A-4986-8F03-0DC1E55A2E76}"/>
              </a:ext>
            </a:extLst>
          </p:cNvPr>
          <p:cNvSpPr>
            <a:spLocks xmlns:a="http://schemas.openxmlformats.org/drawingml/2006/main" noGrp="1"/>
          </p:cNvSpPr>
          <p:nvPr/>
        </p:nvSpPr>
        <p:spPr>
          <a:xfrm xmlns:a="http://schemas.openxmlformats.org/drawingml/2006/main">
            <a:off x="609600" y="457200"/>
            <a:ext cx="1097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42C45"/>
                </a:solidFill>
                <a:latin typeface="Arial"/>
                <a:ea typeface="Arial"/>
                <a:cs typeface="Arial"/>
              </a:defRPr>
            </a:defPPr>
            <a:lvl1pPr>
              <a:defRPr sz="4200" b="1">
                <a:solidFill>
                  <a:srgbClr val="142C45"/>
                </a:solidFill>
                <a:latin typeface="Arial"/>
                <a:ea typeface="Arial"/>
                <a:cs typeface="Arial"/>
              </a:defRPr>
            </a:lvl1pPr>
            <a:lvl2pPr>
              <a:defRPr sz="4200" b="1">
                <a:solidFill>
                  <a:srgbClr val="142C45"/>
                </a:solidFill>
                <a:latin typeface="Arial"/>
                <a:ea typeface="Arial"/>
                <a:cs typeface="Arial"/>
              </a:defRPr>
            </a:lvl2pPr>
            <a:lvl3pPr>
              <a:defRPr sz="4200" b="1">
                <a:solidFill>
                  <a:srgbClr val="142C45"/>
                </a:solidFill>
                <a:latin typeface="Arial"/>
                <a:ea typeface="Arial"/>
                <a:cs typeface="Arial"/>
              </a:defRPr>
            </a:lvl3pPr>
            <a:lvl4pPr>
              <a:defRPr sz="4200" b="1">
                <a:solidFill>
                  <a:srgbClr val="142C45"/>
                </a:solidFill>
                <a:latin typeface="Arial"/>
                <a:ea typeface="Arial"/>
                <a:cs typeface="Arial"/>
              </a:defRPr>
            </a:lvl4pPr>
            <a:lvl5pPr>
              <a:defRPr sz="4200" b="1">
                <a:solidFill>
                  <a:srgbClr val="142C45"/>
                </a:solidFill>
                <a:latin typeface="Arial"/>
                <a:ea typeface="Arial"/>
                <a:cs typeface="Arial"/>
              </a:defRPr>
            </a:lvl5pPr>
            <a:lvl6pPr>
              <a:defRPr sz="4200" b="1">
                <a:solidFill>
                  <a:srgbClr val="142C45"/>
                </a:solidFill>
                <a:latin typeface="Arial"/>
                <a:ea typeface="Arial"/>
                <a:cs typeface="Arial"/>
              </a:defRPr>
            </a:lvl6pPr>
            <a:lvl7pPr>
              <a:defRPr sz="4200" b="1">
                <a:solidFill>
                  <a:srgbClr val="142C45"/>
                </a:solidFill>
                <a:latin typeface="Arial"/>
                <a:ea typeface="Arial"/>
                <a:cs typeface="Arial"/>
              </a:defRPr>
            </a:lvl7pPr>
            <a:lvl8pPr>
              <a:defRPr sz="4200" b="1">
                <a:solidFill>
                  <a:srgbClr val="142C45"/>
                </a:solidFill>
                <a:latin typeface="Arial"/>
                <a:ea typeface="Arial"/>
                <a:cs typeface="Arial"/>
              </a:defRPr>
            </a:lvl8pPr>
            <a:lvl9pPr>
              <a:defRPr sz="4200" b="1">
                <a:solidFill>
                  <a:srgbClr val="142C45"/>
                </a:solidFill>
                <a:latin typeface="Arial"/>
                <a:ea typeface="Arial"/>
                <a:cs typeface="Arial"/>
              </a:defRPr>
            </a:lvl9pPr>
          </a:lstStyle>
          <a:p xmlns:a="http://schemas.openxmlformats.org/drawingml/2006/main">
            <a:pPr>
              <a:defRPr sz="4200" b="1">
                <a:solidFill>
                  <a:srgbClr val="142C45"/>
                </a:solidFill>
                <a:latin typeface="Arial"/>
                <a:ea typeface="Arial"/>
                <a:cs typeface="Arial"/>
              </a:defRPr>
            </a:pPr>
            <a:r>
              <a:rPr sz="4200" b="1">
                <a:solidFill>
                  <a:srgbClr val="142C45"/>
                </a:solidFill>
                <a:latin typeface="Arial"/>
                <a:ea typeface="Arial"/>
                <a:cs typeface="Arial"/>
              </a:rPr>
              <a:t>Drug review sentiment</a:t>
            </a:r>
          </a:p>
          <a:p xmlns:a="http://schemas.openxmlformats.org/drawingml/2006/main">
            <a:pPr>
              <a:defRPr sz="4200" b="1">
                <a:solidFill>
                  <a:srgbClr val="142C45"/>
                </a:solidFill>
                <a:latin typeface="Arial"/>
                <a:ea typeface="Arial"/>
                <a:cs typeface="Arial"/>
              </a:defRPr>
            </a:pPr>
            <a:r>
              <a:rPr sz="4200" b="1">
                <a:solidFill>
                  <a:srgbClr val="142C45"/>
                </a:solidFill>
                <a:latin typeface="Arial"/>
                <a:ea typeface="Arial"/>
                <a:cs typeface="Arial"/>
              </a:rPr>
              <a:t>with manual LSTM cells</a:t>
            </a:r>
          </a:p>
        </p:txBody>
      </p:sp>
      <p:sp>
        <p:nvSpPr>
          <p:cNvPr id="3" name="">
            <a:extLst xmlns:a="http://schemas.openxmlformats.org/drawingml/2006/main">
              <a:ext uri="{FF2B5EF4-FFF2-40B4-BE49-F238E27FC236}">
                <a16:creationId xmlns:a16="http://schemas.microsoft.com/office/drawing/2014/main" id="{AC2A0A14-78F2-42E3-8FD6-12A15A04467C}"/>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A59F8E8-D5AB-4293-BC4E-54C36F08DAD0}"/>
              </a:ext>
            </a:extLst>
          </p:cNvPr>
          <p:cNvSpPr>
            <a:spLocks xmlns:a="http://schemas.openxmlformats.org/drawingml/2006/main" noGrp="1"/>
          </p:cNvSpPr>
          <p:nvPr/>
        </p:nvSpPr>
        <p:spPr>
          <a:xfrm xmlns:a="http://schemas.openxmlformats.org/drawingml/2006/main">
            <a:off x="647700" y="2524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C45"/>
                </a:solidFill>
                <a:latin typeface="Arial"/>
                <a:ea typeface="Arial"/>
                <a:cs typeface="Arial"/>
              </a:defRPr>
            </a:defPPr>
            <a:lvl1pPr>
              <a:defRPr sz="2550" b="0">
                <a:solidFill>
                  <a:srgbClr val="142C45"/>
                </a:solidFill>
                <a:latin typeface="Arial"/>
                <a:ea typeface="Arial"/>
                <a:cs typeface="Arial"/>
              </a:defRPr>
            </a:lvl1pPr>
            <a:lvl2pPr>
              <a:defRPr sz="2550" b="0">
                <a:solidFill>
                  <a:srgbClr val="142C45"/>
                </a:solidFill>
                <a:latin typeface="Arial"/>
                <a:ea typeface="Arial"/>
                <a:cs typeface="Arial"/>
              </a:defRPr>
            </a:lvl2pPr>
            <a:lvl3pPr>
              <a:defRPr sz="2550" b="0">
                <a:solidFill>
                  <a:srgbClr val="142C45"/>
                </a:solidFill>
                <a:latin typeface="Arial"/>
                <a:ea typeface="Arial"/>
                <a:cs typeface="Arial"/>
              </a:defRPr>
            </a:lvl3pPr>
            <a:lvl4pPr>
              <a:defRPr sz="2550" b="0">
                <a:solidFill>
                  <a:srgbClr val="142C45"/>
                </a:solidFill>
                <a:latin typeface="Arial"/>
                <a:ea typeface="Arial"/>
                <a:cs typeface="Arial"/>
              </a:defRPr>
            </a:lvl4pPr>
            <a:lvl5pPr>
              <a:defRPr sz="2550" b="0">
                <a:solidFill>
                  <a:srgbClr val="142C45"/>
                </a:solidFill>
                <a:latin typeface="Arial"/>
                <a:ea typeface="Arial"/>
                <a:cs typeface="Arial"/>
              </a:defRPr>
            </a:lvl5pPr>
            <a:lvl6pPr>
              <a:defRPr sz="2550" b="0">
                <a:solidFill>
                  <a:srgbClr val="142C45"/>
                </a:solidFill>
                <a:latin typeface="Arial"/>
                <a:ea typeface="Arial"/>
                <a:cs typeface="Arial"/>
              </a:defRPr>
            </a:lvl6pPr>
            <a:lvl7pPr>
              <a:defRPr sz="2550" b="0">
                <a:solidFill>
                  <a:srgbClr val="142C45"/>
                </a:solidFill>
                <a:latin typeface="Arial"/>
                <a:ea typeface="Arial"/>
                <a:cs typeface="Arial"/>
              </a:defRPr>
            </a:lvl7pPr>
            <a:lvl8pPr>
              <a:defRPr sz="2550" b="0">
                <a:solidFill>
                  <a:srgbClr val="142C45"/>
                </a:solidFill>
                <a:latin typeface="Arial"/>
                <a:ea typeface="Arial"/>
                <a:cs typeface="Arial"/>
              </a:defRPr>
            </a:lvl8pPr>
            <a:lvl9pPr>
              <a:defRPr sz="2550" b="0">
                <a:solidFill>
                  <a:srgbClr val="142C45"/>
                </a:solidFill>
                <a:latin typeface="Arial"/>
                <a:ea typeface="Arial"/>
                <a:cs typeface="Arial"/>
              </a:defRPr>
            </a:lvl9pPr>
          </a:lstStyle>
          <a:p xmlns:a="http://schemas.openxmlformats.org/drawingml/2006/main">
            <a:pPr>
              <a:defRPr sz="2550" b="0">
                <a:solidFill>
                  <a:srgbClr val="142C45"/>
                </a:solidFill>
                <a:latin typeface="Arial"/>
                <a:ea typeface="Arial"/>
                <a:cs typeface="Arial"/>
              </a:defRPr>
            </a:pPr>
            <a:r>
              <a:rPr sz="2550" b="0">
                <a:solidFill>
                  <a:srgbClr val="142C45"/>
                </a:solidFill>
                <a:latin typeface="Arial"/>
                <a:ea typeface="Arial"/>
                <a:cs typeface="Arial"/>
              </a:rPr>
              <a:t>Vanilla LSTM, CIFG and WMC</a:t>
            </a:r>
          </a:p>
        </p:txBody>
      </p:sp>
      <p:sp>
        <p:nvSpPr>
          <p:cNvPr id="5" name="">
            <a:extLst xmlns:a="http://schemas.openxmlformats.org/drawingml/2006/main">
              <a:ext uri="{FF2B5EF4-FFF2-40B4-BE49-F238E27FC236}">
                <a16:creationId xmlns:a16="http://schemas.microsoft.com/office/drawing/2014/main" id="{FCCE2ED3-19BC-499A-854B-3897AF0F8F57}"/>
              </a:ext>
            </a:extLst>
          </p:cNvPr>
          <p:cNvSpPr>
            <a:spLocks xmlns:a="http://schemas.openxmlformats.org/drawingml/2006/main" noGrp="1"/>
          </p:cNvSpPr>
          <p:nvPr/>
        </p:nvSpPr>
        <p:spPr>
          <a:xfrm xmlns:a="http://schemas.openxmlformats.org/drawingml/2006/main">
            <a:off x="647700" y="37147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5"/>
                </a:solidFill>
                <a:latin typeface="Arial"/>
                <a:ea typeface="Arial"/>
                <a:cs typeface="Arial"/>
              </a:defRPr>
            </a:defPPr>
            <a:lvl1pPr>
              <a:defRPr sz="1950" b="0">
                <a:solidFill>
                  <a:srgbClr val="142C45"/>
                </a:solidFill>
                <a:latin typeface="Arial"/>
                <a:ea typeface="Arial"/>
                <a:cs typeface="Arial"/>
              </a:defRPr>
            </a:lvl1pPr>
            <a:lvl2pPr>
              <a:defRPr sz="1950" b="0">
                <a:solidFill>
                  <a:srgbClr val="142C45"/>
                </a:solidFill>
                <a:latin typeface="Arial"/>
                <a:ea typeface="Arial"/>
                <a:cs typeface="Arial"/>
              </a:defRPr>
            </a:lvl2pPr>
            <a:lvl3pPr>
              <a:defRPr sz="1950" b="0">
                <a:solidFill>
                  <a:srgbClr val="142C45"/>
                </a:solidFill>
                <a:latin typeface="Arial"/>
                <a:ea typeface="Arial"/>
                <a:cs typeface="Arial"/>
              </a:defRPr>
            </a:lvl3pPr>
            <a:lvl4pPr>
              <a:defRPr sz="1950" b="0">
                <a:solidFill>
                  <a:srgbClr val="142C45"/>
                </a:solidFill>
                <a:latin typeface="Arial"/>
                <a:ea typeface="Arial"/>
                <a:cs typeface="Arial"/>
              </a:defRPr>
            </a:lvl4pPr>
            <a:lvl5pPr>
              <a:defRPr sz="1950" b="0">
                <a:solidFill>
                  <a:srgbClr val="142C45"/>
                </a:solidFill>
                <a:latin typeface="Arial"/>
                <a:ea typeface="Arial"/>
                <a:cs typeface="Arial"/>
              </a:defRPr>
            </a:lvl5pPr>
            <a:lvl6pPr>
              <a:defRPr sz="1950" b="0">
                <a:solidFill>
                  <a:srgbClr val="142C45"/>
                </a:solidFill>
                <a:latin typeface="Arial"/>
                <a:ea typeface="Arial"/>
                <a:cs typeface="Arial"/>
              </a:defRPr>
            </a:lvl6pPr>
            <a:lvl7pPr>
              <a:defRPr sz="1950" b="0">
                <a:solidFill>
                  <a:srgbClr val="142C45"/>
                </a:solidFill>
                <a:latin typeface="Arial"/>
                <a:ea typeface="Arial"/>
                <a:cs typeface="Arial"/>
              </a:defRPr>
            </a:lvl7pPr>
            <a:lvl8pPr>
              <a:defRPr sz="1950" b="0">
                <a:solidFill>
                  <a:srgbClr val="142C45"/>
                </a:solidFill>
                <a:latin typeface="Arial"/>
                <a:ea typeface="Arial"/>
                <a:cs typeface="Arial"/>
              </a:defRPr>
            </a:lvl8pPr>
            <a:lvl9pPr>
              <a:defRPr sz="1950" b="0">
                <a:solidFill>
                  <a:srgbClr val="142C45"/>
                </a:solidFill>
                <a:latin typeface="Arial"/>
                <a:ea typeface="Arial"/>
                <a:cs typeface="Arial"/>
              </a:defRPr>
            </a:lvl9pPr>
          </a:lstStyle>
          <a:p xmlns:a="http://schemas.openxmlformats.org/drawingml/2006/main">
            <a:pPr>
              <a:defRPr sz="1950" b="0">
                <a:solidFill>
                  <a:srgbClr val="142C45"/>
                </a:solidFill>
                <a:latin typeface="Arial"/>
                <a:ea typeface="Arial"/>
                <a:cs typeface="Arial"/>
              </a:defRPr>
            </a:pPr>
            <a:r>
              <a:rPr sz="1950" b="0">
                <a:solidFill>
                  <a:srgbClr val="142C45"/>
                </a:solidFill>
                <a:latin typeface="Arial"/>
                <a:ea typeface="Arial"/>
                <a:cs typeface="Arial"/>
              </a:rPr>
              <a:t>Sara Baalla · Zouhair Eouichak</a:t>
            </a:r>
          </a:p>
          <a:p xmlns:a="http://schemas.openxmlformats.org/drawingml/2006/main">
            <a:pPr>
              <a:defRPr sz="1950" b="0">
                <a:solidFill>
                  <a:srgbClr val="142C45"/>
                </a:solidFill>
                <a:latin typeface="Arial"/>
                <a:ea typeface="Arial"/>
                <a:cs typeface="Arial"/>
              </a:defRPr>
            </a:pPr>
            <a:r>
              <a:rPr sz="1950" b="0">
                <a:solidFill>
                  <a:srgbClr val="142C45"/>
                </a:solidFill>
                <a:latin typeface="Arial"/>
                <a:ea typeface="Arial"/>
                <a:cs typeface="Arial"/>
              </a:rPr>
              <a:t>Malak Bartal · Aymane Youssi</a:t>
            </a:r>
          </a:p>
        </p:txBody>
      </p:sp>
      <p:sp>
        <p:nvSpPr>
          <p:cNvPr id="6" name="">
            <a:extLst xmlns:a="http://schemas.openxmlformats.org/drawingml/2006/main">
              <a:ext uri="{FF2B5EF4-FFF2-40B4-BE49-F238E27FC236}">
                <a16:creationId xmlns:a16="http://schemas.microsoft.com/office/drawing/2014/main" id="{1A7487F0-D67F-491F-9B36-C9E6D101A7B5}"/>
              </a:ext>
            </a:extLst>
          </p:cNvPr>
          <p:cNvSpPr>
            <a:spLocks xmlns:a="http://schemas.openxmlformats.org/drawingml/2006/main" noGrp="1"/>
          </p:cNvSpPr>
          <p:nvPr/>
        </p:nvSpPr>
        <p:spPr>
          <a:xfrm xmlns:a="http://schemas.openxmlformats.org/drawingml/2006/main">
            <a:off x="647700" y="5286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C45"/>
                </a:solidFill>
                <a:latin typeface="Arial"/>
                <a:ea typeface="Arial"/>
                <a:cs typeface="Arial"/>
              </a:defRPr>
            </a:defPPr>
            <a:lvl1pPr>
              <a:defRPr sz="1725" b="0">
                <a:solidFill>
                  <a:srgbClr val="142C45"/>
                </a:solidFill>
                <a:latin typeface="Arial"/>
                <a:ea typeface="Arial"/>
                <a:cs typeface="Arial"/>
              </a:defRPr>
            </a:lvl1pPr>
            <a:lvl2pPr>
              <a:defRPr sz="1725" b="0">
                <a:solidFill>
                  <a:srgbClr val="142C45"/>
                </a:solidFill>
                <a:latin typeface="Arial"/>
                <a:ea typeface="Arial"/>
                <a:cs typeface="Arial"/>
              </a:defRPr>
            </a:lvl2pPr>
            <a:lvl3pPr>
              <a:defRPr sz="1725" b="0">
                <a:solidFill>
                  <a:srgbClr val="142C45"/>
                </a:solidFill>
                <a:latin typeface="Arial"/>
                <a:ea typeface="Arial"/>
                <a:cs typeface="Arial"/>
              </a:defRPr>
            </a:lvl3pPr>
            <a:lvl4pPr>
              <a:defRPr sz="1725" b="0">
                <a:solidFill>
                  <a:srgbClr val="142C45"/>
                </a:solidFill>
                <a:latin typeface="Arial"/>
                <a:ea typeface="Arial"/>
                <a:cs typeface="Arial"/>
              </a:defRPr>
            </a:lvl4pPr>
            <a:lvl5pPr>
              <a:defRPr sz="1725" b="0">
                <a:solidFill>
                  <a:srgbClr val="142C45"/>
                </a:solidFill>
                <a:latin typeface="Arial"/>
                <a:ea typeface="Arial"/>
                <a:cs typeface="Arial"/>
              </a:defRPr>
            </a:lvl5pPr>
            <a:lvl6pPr>
              <a:defRPr sz="1725" b="0">
                <a:solidFill>
                  <a:srgbClr val="142C45"/>
                </a:solidFill>
                <a:latin typeface="Arial"/>
                <a:ea typeface="Arial"/>
                <a:cs typeface="Arial"/>
              </a:defRPr>
            </a:lvl6pPr>
            <a:lvl7pPr>
              <a:defRPr sz="1725" b="0">
                <a:solidFill>
                  <a:srgbClr val="142C45"/>
                </a:solidFill>
                <a:latin typeface="Arial"/>
                <a:ea typeface="Arial"/>
                <a:cs typeface="Arial"/>
              </a:defRPr>
            </a:lvl7pPr>
            <a:lvl8pPr>
              <a:defRPr sz="1725" b="0">
                <a:solidFill>
                  <a:srgbClr val="142C45"/>
                </a:solidFill>
                <a:latin typeface="Arial"/>
                <a:ea typeface="Arial"/>
                <a:cs typeface="Arial"/>
              </a:defRPr>
            </a:lvl8pPr>
            <a:lvl9pPr>
              <a:defRPr sz="1725" b="0">
                <a:solidFill>
                  <a:srgbClr val="142C45"/>
                </a:solidFill>
                <a:latin typeface="Arial"/>
                <a:ea typeface="Arial"/>
                <a:cs typeface="Arial"/>
              </a:defRPr>
            </a:lvl9pPr>
          </a:lstStyle>
          <a:p xmlns:a="http://schemas.openxmlformats.org/drawingml/2006/main">
            <a:pPr>
              <a:defRPr sz="1725" b="0">
                <a:solidFill>
                  <a:srgbClr val="142C45"/>
                </a:solidFill>
                <a:latin typeface="Arial"/>
                <a:ea typeface="Arial"/>
                <a:cs typeface="Arial"/>
              </a:defRPr>
            </a:pPr>
            <a:r>
              <a:rPr sz="1725" b="0">
                <a:solidFill>
                  <a:srgbClr val="142C45"/>
                </a:solidFill>
                <a:latin typeface="Arial"/>
                <a:ea typeface="Arial"/>
                <a:cs typeface="Arial"/>
              </a:rPr>
              <a:t>Advanced Natural Language Processing</a:t>
            </a:r>
          </a:p>
          <a:p xmlns:a="http://schemas.openxmlformats.org/drawingml/2006/main">
            <a:pPr>
              <a:defRPr sz="1725" b="0">
                <a:solidFill>
                  <a:srgbClr val="142C45"/>
                </a:solidFill>
                <a:latin typeface="Arial"/>
                <a:ea typeface="Arial"/>
                <a:cs typeface="Arial"/>
              </a:defRPr>
            </a:pPr>
            <a:r>
              <a:rPr sz="1725" b="0">
                <a:solidFill>
                  <a:srgbClr val="142C45"/>
                </a:solidFill>
                <a:latin typeface="Arial"/>
                <a:ea typeface="Arial"/>
                <a:cs typeface="Arial"/>
              </a:rPr>
              <a:t>2026/2027     25 October 2026</a:t>
            </a:r>
          </a:p>
        </p:txBody>
      </p:sp>
    </p:spTree>
    <p:extLst>
      <p:ext uri="{BB962C8B-B14F-4D97-AF65-F5344CB8AC3E}">
        <p14:creationId xmlns:p14="http://schemas.microsoft.com/office/powerpoint/2010/main" val="196180993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3D6B77F-FF6F-4EF6-AF8B-36DBABB0930A}"/>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Task and supervision</a:t>
            </a:r>
          </a:p>
        </p:txBody>
      </p:sp>
      <p:sp>
        <p:nvSpPr>
          <p:cNvPr id="3" name="">
            <a:extLst xmlns:a="http://schemas.openxmlformats.org/drawingml/2006/main">
              <a:ext uri="{FF2B5EF4-FFF2-40B4-BE49-F238E27FC236}">
                <a16:creationId xmlns:a16="http://schemas.microsoft.com/office/drawing/2014/main" id="{CCD52133-2DBE-41A0-A467-CB58BFD6472E}"/>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F9CD5BE-7399-4105-9DA8-76D11EB0CC35}"/>
              </a:ext>
            </a:extLst>
          </p:cNvPr>
          <p:cNvSpPr>
            <a:spLocks xmlns:a="http://schemas.openxmlformats.org/drawingml/2006/main" noGrp="1"/>
          </p:cNvSpPr>
          <p:nvPr/>
        </p:nvSpPr>
        <p:spPr>
          <a:xfrm xmlns:a="http://schemas.openxmlformats.org/drawingml/2006/main">
            <a:off x="647700" y="1619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C45"/>
                </a:solidFill>
                <a:latin typeface="Arial"/>
                <a:ea typeface="Arial"/>
                <a:cs typeface="Arial"/>
              </a:defRPr>
            </a:defPPr>
            <a:lvl1pPr>
              <a:defRPr sz="2400" b="0">
                <a:solidFill>
                  <a:srgbClr val="142C45"/>
                </a:solidFill>
                <a:latin typeface="Arial"/>
                <a:ea typeface="Arial"/>
                <a:cs typeface="Arial"/>
              </a:defRPr>
            </a:lvl1pPr>
            <a:lvl2pPr>
              <a:defRPr sz="2400" b="0">
                <a:solidFill>
                  <a:srgbClr val="142C45"/>
                </a:solidFill>
                <a:latin typeface="Arial"/>
                <a:ea typeface="Arial"/>
                <a:cs typeface="Arial"/>
              </a:defRPr>
            </a:lvl2pPr>
            <a:lvl3pPr>
              <a:defRPr sz="2400" b="0">
                <a:solidFill>
                  <a:srgbClr val="142C45"/>
                </a:solidFill>
                <a:latin typeface="Arial"/>
                <a:ea typeface="Arial"/>
                <a:cs typeface="Arial"/>
              </a:defRPr>
            </a:lvl3pPr>
            <a:lvl4pPr>
              <a:defRPr sz="2400" b="0">
                <a:solidFill>
                  <a:srgbClr val="142C45"/>
                </a:solidFill>
                <a:latin typeface="Arial"/>
                <a:ea typeface="Arial"/>
                <a:cs typeface="Arial"/>
              </a:defRPr>
            </a:lvl4pPr>
            <a:lvl5pPr>
              <a:defRPr sz="2400" b="0">
                <a:solidFill>
                  <a:srgbClr val="142C45"/>
                </a:solidFill>
                <a:latin typeface="Arial"/>
                <a:ea typeface="Arial"/>
                <a:cs typeface="Arial"/>
              </a:defRPr>
            </a:lvl5pPr>
            <a:lvl6pPr>
              <a:defRPr sz="2400" b="0">
                <a:solidFill>
                  <a:srgbClr val="142C45"/>
                </a:solidFill>
                <a:latin typeface="Arial"/>
                <a:ea typeface="Arial"/>
                <a:cs typeface="Arial"/>
              </a:defRPr>
            </a:lvl6pPr>
            <a:lvl7pPr>
              <a:defRPr sz="2400" b="0">
                <a:solidFill>
                  <a:srgbClr val="142C45"/>
                </a:solidFill>
                <a:latin typeface="Arial"/>
                <a:ea typeface="Arial"/>
                <a:cs typeface="Arial"/>
              </a:defRPr>
            </a:lvl7pPr>
            <a:lvl8pPr>
              <a:defRPr sz="2400" b="0">
                <a:solidFill>
                  <a:srgbClr val="142C45"/>
                </a:solidFill>
                <a:latin typeface="Arial"/>
                <a:ea typeface="Arial"/>
                <a:cs typeface="Arial"/>
              </a:defRPr>
            </a:lvl8pPr>
            <a:lvl9pPr>
              <a:defRPr sz="2400" b="0">
                <a:solidFill>
                  <a:srgbClr val="142C45"/>
                </a:solidFill>
                <a:latin typeface="Arial"/>
                <a:ea typeface="Arial"/>
                <a:cs typeface="Arial"/>
              </a:defRPr>
            </a:lvl9pPr>
          </a:lstStyle>
          <a:p xmlns:a="http://schemas.openxmlformats.org/drawingml/2006/main">
            <a:pPr>
              <a:defRPr sz="2400" b="0">
                <a:solidFill>
                  <a:srgbClr val="142C45"/>
                </a:solidFill>
                <a:latin typeface="Arial"/>
                <a:ea typeface="Arial"/>
                <a:cs typeface="Arial"/>
              </a:defRPr>
            </a:pPr>
            <a:r>
              <a:rPr sz="2400" b="0">
                <a:solidFill>
                  <a:srgbClr val="142C45"/>
                </a:solidFill>
                <a:latin typeface="Arial"/>
                <a:ea typeface="Arial"/>
                <a:cs typeface="Arial"/>
              </a:rPr>
              <a:t>Input: a patient review in English</a:t>
            </a:r>
          </a:p>
        </p:txBody>
      </p:sp>
      <p:graphicFrame>
        <p:nvGraphicFramePr>
          <p:cNvPr id="5" name="">
            <a:extLst xmlns:a="http://schemas.openxmlformats.org/drawingml/2006/main">
              <a:ext uri="{FF2B5EF4-FFF2-40B4-BE49-F238E27FC236}">
                <a16:creationId xmlns:a16="http://schemas.microsoft.com/office/drawing/2014/main" id="{0A1EE1B6-36BF-4EF4-AD15-00D704EBC845}"/>
              </a:ext>
            </a:extLst>
          </p:cNvPr>
          <p:cNvGraphicFramePr/>
          <p:nvPr/>
        </p:nvGraphicFramePr>
        <p:xfrm>
          <a:off xmlns:a="http://schemas.openxmlformats.org/drawingml/2006/main" x="647700" y="2476500"/>
          <a:ext xmlns:a="http://schemas.openxmlformats.org/drawingml/2006/main" cx="10896600" cy="2286000"/>
        </p:xfrm>
        <a:graphic xmlns:a="http://schemas.openxmlformats.org/drawingml/2006/main">
          <a:graphicData uri="http://schemas.openxmlformats.org/drawingml/2006/table">
            <a:tbl>
              <a:tblPr/>
              <a:tblGrid>
                <a:gridCol w="4000500"/>
                <a:gridCol w="6896100"/>
              </a:tblGrid>
              <a:tr h="571500">
                <a:tc>
                  <a:txBody>
                    <a:bodyPr/>
                    <a:lstStyle/>
                    <a:p>
                      <a:r>
                        <a:rPr sz="2025" b="1">
                          <a:solidFill>
                            <a:srgbClr val="FFFFFF"/>
                          </a:solidFill>
                          <a:latin typeface="Arial"/>
                          <a:ea typeface="Arial"/>
                          <a:cs typeface="Arial"/>
                        </a:rPr>
                        <a:t>Rating</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2025" b="1">
                          <a:solidFill>
                            <a:srgbClr val="FFFFFF"/>
                          </a:solidFill>
                          <a:latin typeface="Arial"/>
                          <a:ea typeface="Arial"/>
                          <a:cs typeface="Arial"/>
                        </a:rPr>
                        <a:t>Target category</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571500">
                <a:tc>
                  <a:txBody>
                    <a:bodyPr/>
                    <a:lstStyle/>
                    <a:p>
                      <a:r>
                        <a:rPr sz="2025" b="0">
                          <a:solidFill>
                            <a:srgbClr val="142C45"/>
                          </a:solidFill>
                          <a:latin typeface="Arial"/>
                          <a:ea typeface="Arial"/>
                          <a:cs typeface="Arial"/>
                        </a:rPr>
                        <a:t>1-4</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2025" b="0">
                          <a:solidFill>
                            <a:srgbClr val="142C45"/>
                          </a:solidFill>
                          <a:latin typeface="Arial"/>
                          <a:ea typeface="Arial"/>
                          <a:cs typeface="Arial"/>
                        </a:rPr>
                        <a:t>Negative</a:t>
                      </a:r>
                    </a:p>
                  </a:txBody>
                  <a:tcPr marL="91440" marR="91440" marT="45720" marB="45720">
                    <a:lnR w="5715">
                      <a:solidFill>
                        <a:srgbClr val="D9E3E9"/>
                      </a:solidFill>
                    </a:lnR>
                    <a:lnB w="5715">
                      <a:solidFill>
                        <a:srgbClr val="D9E3E9"/>
                      </a:solidFill>
                    </a:lnB>
                    <a:solidFill>
                      <a:srgbClr val="EDF3F6"/>
                    </a:solidFill>
                  </a:tcPr>
                </a:tc>
              </a:tr>
              <a:tr h="571500">
                <a:tc>
                  <a:txBody>
                    <a:bodyPr/>
                    <a:lstStyle/>
                    <a:p>
                      <a:r>
                        <a:rPr sz="2025" b="0">
                          <a:solidFill>
                            <a:srgbClr val="142C45"/>
                          </a:solidFill>
                          <a:latin typeface="Arial"/>
                          <a:ea typeface="Arial"/>
                          <a:cs typeface="Arial"/>
                        </a:rPr>
                        <a:t>5-6</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2025" b="0">
                          <a:solidFill>
                            <a:srgbClr val="142C45"/>
                          </a:solidFill>
                          <a:latin typeface="Arial"/>
                          <a:ea typeface="Arial"/>
                          <a:cs typeface="Arial"/>
                        </a:rPr>
                        <a:t>Neutral</a:t>
                      </a:r>
                    </a:p>
                  </a:txBody>
                  <a:tcPr marL="91440" marR="91440" marT="45720" marB="45720">
                    <a:lnR w="5715">
                      <a:solidFill>
                        <a:srgbClr val="D9E3E9"/>
                      </a:solidFill>
                    </a:lnR>
                    <a:lnB w="5715">
                      <a:solidFill>
                        <a:srgbClr val="D9E3E9"/>
                      </a:solidFill>
                    </a:lnB>
                    <a:solidFill>
                      <a:srgbClr val="FFFFFF"/>
                    </a:solidFill>
                  </a:tcPr>
                </a:tc>
              </a:tr>
              <a:tr h="571500">
                <a:tc>
                  <a:txBody>
                    <a:bodyPr/>
                    <a:lstStyle/>
                    <a:p>
                      <a:r>
                        <a:rPr sz="2025" b="0">
                          <a:solidFill>
                            <a:srgbClr val="142C45"/>
                          </a:solidFill>
                          <a:latin typeface="Arial"/>
                          <a:ea typeface="Arial"/>
                          <a:cs typeface="Arial"/>
                        </a:rPr>
                        <a:t>7-10</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2025" b="0">
                          <a:solidFill>
                            <a:srgbClr val="142C45"/>
                          </a:solidFill>
                          <a:latin typeface="Arial"/>
                          <a:ea typeface="Arial"/>
                          <a:cs typeface="Arial"/>
                        </a:rPr>
                        <a:t>Positive</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6" name="">
            <a:extLst xmlns:a="http://schemas.openxmlformats.org/drawingml/2006/main">
              <a:ext uri="{FF2B5EF4-FFF2-40B4-BE49-F238E27FC236}">
                <a16:creationId xmlns:a16="http://schemas.microsoft.com/office/drawing/2014/main" id="{C103EBD1-9FA2-47D3-BC03-29DC48F89BE4}"/>
              </a:ext>
            </a:extLst>
          </p:cNvPr>
          <p:cNvSpPr>
            <a:spLocks xmlns:a="http://schemas.openxmlformats.org/drawingml/2006/main" noGrp="1"/>
          </p:cNvSpPr>
          <p:nvPr/>
        </p:nvSpPr>
        <p:spPr>
          <a:xfrm xmlns:a="http://schemas.openxmlformats.org/drawingml/2006/main">
            <a:off x="647700" y="5238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C45"/>
                </a:solidFill>
                <a:latin typeface="Arial"/>
                <a:ea typeface="Arial"/>
                <a:cs typeface="Arial"/>
              </a:defRPr>
            </a:defPPr>
            <a:lvl1pPr>
              <a:defRPr sz="2100" b="0">
                <a:solidFill>
                  <a:srgbClr val="142C45"/>
                </a:solidFill>
                <a:latin typeface="Arial"/>
                <a:ea typeface="Arial"/>
                <a:cs typeface="Arial"/>
              </a:defRPr>
            </a:lvl1pPr>
            <a:lvl2pPr>
              <a:defRPr sz="2100" b="0">
                <a:solidFill>
                  <a:srgbClr val="142C45"/>
                </a:solidFill>
                <a:latin typeface="Arial"/>
                <a:ea typeface="Arial"/>
                <a:cs typeface="Arial"/>
              </a:defRPr>
            </a:lvl2pPr>
            <a:lvl3pPr>
              <a:defRPr sz="2100" b="0">
                <a:solidFill>
                  <a:srgbClr val="142C45"/>
                </a:solidFill>
                <a:latin typeface="Arial"/>
                <a:ea typeface="Arial"/>
                <a:cs typeface="Arial"/>
              </a:defRPr>
            </a:lvl3pPr>
            <a:lvl4pPr>
              <a:defRPr sz="2100" b="0">
                <a:solidFill>
                  <a:srgbClr val="142C45"/>
                </a:solidFill>
                <a:latin typeface="Arial"/>
                <a:ea typeface="Arial"/>
                <a:cs typeface="Arial"/>
              </a:defRPr>
            </a:lvl4pPr>
            <a:lvl5pPr>
              <a:defRPr sz="2100" b="0">
                <a:solidFill>
                  <a:srgbClr val="142C45"/>
                </a:solidFill>
                <a:latin typeface="Arial"/>
                <a:ea typeface="Arial"/>
                <a:cs typeface="Arial"/>
              </a:defRPr>
            </a:lvl5pPr>
            <a:lvl6pPr>
              <a:defRPr sz="2100" b="0">
                <a:solidFill>
                  <a:srgbClr val="142C45"/>
                </a:solidFill>
                <a:latin typeface="Arial"/>
                <a:ea typeface="Arial"/>
                <a:cs typeface="Arial"/>
              </a:defRPr>
            </a:lvl6pPr>
            <a:lvl7pPr>
              <a:defRPr sz="2100" b="0">
                <a:solidFill>
                  <a:srgbClr val="142C45"/>
                </a:solidFill>
                <a:latin typeface="Arial"/>
                <a:ea typeface="Arial"/>
                <a:cs typeface="Arial"/>
              </a:defRPr>
            </a:lvl7pPr>
            <a:lvl8pPr>
              <a:defRPr sz="2100" b="0">
                <a:solidFill>
                  <a:srgbClr val="142C45"/>
                </a:solidFill>
                <a:latin typeface="Arial"/>
                <a:ea typeface="Arial"/>
                <a:cs typeface="Arial"/>
              </a:defRPr>
            </a:lvl8pPr>
            <a:lvl9pPr>
              <a:defRPr sz="2100" b="0">
                <a:solidFill>
                  <a:srgbClr val="142C45"/>
                </a:solidFill>
                <a:latin typeface="Arial"/>
                <a:ea typeface="Arial"/>
                <a:cs typeface="Arial"/>
              </a:defRPr>
            </a:lvl9pPr>
          </a:lstStyle>
          <a:p xmlns:a="http://schemas.openxmlformats.org/drawingml/2006/main">
            <a:pPr>
              <a:defRPr sz="2100" b="0">
                <a:solidFill>
                  <a:srgbClr val="142C45"/>
                </a:solidFill>
                <a:latin typeface="Arial"/>
                <a:ea typeface="Arial"/>
                <a:cs typeface="Arial"/>
              </a:defRPr>
            </a:pPr>
            <a:r>
              <a:rPr sz="2100" b="0">
                <a:solidFill>
                  <a:srgbClr val="142C45"/>
                </a:solidFill>
                <a:latin typeface="Arial"/>
                <a:ea typeface="Arial"/>
                <a:cs typeface="Arial"/>
              </a:rPr>
              <a:t>The model receives the text only. Ratings provide the expected answers.</a:t>
            </a:r>
          </a:p>
        </p:txBody>
      </p:sp>
    </p:spTree>
    <p:extLst>
      <p:ext uri="{BB962C8B-B14F-4D97-AF65-F5344CB8AC3E}">
        <p14:creationId xmlns:p14="http://schemas.microsoft.com/office/powerpoint/2010/main" val="244350625"/>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8701FD5-B075-4494-BAEA-28203C5B5173}"/>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Positive reviews dominate the raw training set</a:t>
            </a:r>
          </a:p>
        </p:txBody>
      </p:sp>
      <p:sp>
        <p:nvSpPr>
          <p:cNvPr id="3" name="">
            <a:extLst xmlns:a="http://schemas.openxmlformats.org/drawingml/2006/main">
              <a:ext uri="{FF2B5EF4-FFF2-40B4-BE49-F238E27FC236}">
                <a16:creationId xmlns:a16="http://schemas.microsoft.com/office/drawing/2014/main" id="{3995D71B-9729-42BD-8AC4-47BF0B7C7B5E}"/>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BC8A8329-E261-416A-8467-52270B275E53}"/>
              </a:ext>
            </a:extLst>
          </p:cNvPr>
          <p:cNvGraphicFramePr/>
          <p:nvPr/>
        </p:nvGraphicFramePr>
        <p:xfrm>
          <a:off xmlns:a="http://schemas.openxmlformats.org/drawingml/2006/main" x="647700" y="1619250"/>
          <a:ext xmlns:a="http://schemas.openxmlformats.org/drawingml/2006/main" cx="10896600" cy="3714750"/>
        </p:xfrm>
        <a:graphic xmlns:a="http://schemas.openxmlformats.org/drawingml/2006/main">
          <a:graphicData uri="http://schemas.openxmlformats.org/drawingml/2006/chart">
            <c:chart xmlns:r="http://schemas.openxmlformats.org/officeDocument/2006/relationships" xmlns:c="http://schemas.openxmlformats.org/drawingml/2006/chart" r:id="R96d8ed69387a471f"/>
          </a:graphicData>
        </a:graphic>
      </p:graphicFrame>
      <p:sp>
        <p:nvSpPr>
          <p:cNvPr id="5" name="">
            <a:extLst xmlns:a="http://schemas.openxmlformats.org/drawingml/2006/main">
              <a:ext uri="{FF2B5EF4-FFF2-40B4-BE49-F238E27FC236}">
                <a16:creationId xmlns:a16="http://schemas.microsoft.com/office/drawing/2014/main" id="{BC6FF21F-9775-4D72-85BF-7734427B6C7A}"/>
              </a:ext>
            </a:extLst>
          </p:cNvPr>
          <p:cNvSpPr>
            <a:spLocks xmlns:a="http://schemas.openxmlformats.org/drawingml/2006/main" noGrp="1"/>
          </p:cNvSpPr>
          <p:nvPr/>
        </p:nvSpPr>
        <p:spPr>
          <a:xfrm xmlns:a="http://schemas.openxmlformats.org/drawingml/2006/main">
            <a:off x="647700" y="56673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5"/>
                </a:solidFill>
                <a:latin typeface="Arial"/>
                <a:ea typeface="Arial"/>
                <a:cs typeface="Arial"/>
              </a:defRPr>
            </a:defPPr>
            <a:lvl1pPr>
              <a:defRPr sz="2025" b="0">
                <a:solidFill>
                  <a:srgbClr val="142C45"/>
                </a:solidFill>
                <a:latin typeface="Arial"/>
                <a:ea typeface="Arial"/>
                <a:cs typeface="Arial"/>
              </a:defRPr>
            </a:lvl1pPr>
            <a:lvl2pPr>
              <a:defRPr sz="2025" b="0">
                <a:solidFill>
                  <a:srgbClr val="142C45"/>
                </a:solidFill>
                <a:latin typeface="Arial"/>
                <a:ea typeface="Arial"/>
                <a:cs typeface="Arial"/>
              </a:defRPr>
            </a:lvl2pPr>
            <a:lvl3pPr>
              <a:defRPr sz="2025" b="0">
                <a:solidFill>
                  <a:srgbClr val="142C45"/>
                </a:solidFill>
                <a:latin typeface="Arial"/>
                <a:ea typeface="Arial"/>
                <a:cs typeface="Arial"/>
              </a:defRPr>
            </a:lvl3pPr>
            <a:lvl4pPr>
              <a:defRPr sz="2025" b="0">
                <a:solidFill>
                  <a:srgbClr val="142C45"/>
                </a:solidFill>
                <a:latin typeface="Arial"/>
                <a:ea typeface="Arial"/>
                <a:cs typeface="Arial"/>
              </a:defRPr>
            </a:lvl4pPr>
            <a:lvl5pPr>
              <a:defRPr sz="2025" b="0">
                <a:solidFill>
                  <a:srgbClr val="142C45"/>
                </a:solidFill>
                <a:latin typeface="Arial"/>
                <a:ea typeface="Arial"/>
                <a:cs typeface="Arial"/>
              </a:defRPr>
            </a:lvl5pPr>
            <a:lvl6pPr>
              <a:defRPr sz="2025" b="0">
                <a:solidFill>
                  <a:srgbClr val="142C45"/>
                </a:solidFill>
                <a:latin typeface="Arial"/>
                <a:ea typeface="Arial"/>
                <a:cs typeface="Arial"/>
              </a:defRPr>
            </a:lvl6pPr>
            <a:lvl7pPr>
              <a:defRPr sz="2025" b="0">
                <a:solidFill>
                  <a:srgbClr val="142C45"/>
                </a:solidFill>
                <a:latin typeface="Arial"/>
                <a:ea typeface="Arial"/>
                <a:cs typeface="Arial"/>
              </a:defRPr>
            </a:lvl7pPr>
            <a:lvl8pPr>
              <a:defRPr sz="2025" b="0">
                <a:solidFill>
                  <a:srgbClr val="142C45"/>
                </a:solidFill>
                <a:latin typeface="Arial"/>
                <a:ea typeface="Arial"/>
                <a:cs typeface="Arial"/>
              </a:defRPr>
            </a:lvl8pPr>
            <a:lvl9pPr>
              <a:defRPr sz="2025" b="0">
                <a:solidFill>
                  <a:srgbClr val="142C45"/>
                </a:solidFill>
                <a:latin typeface="Arial"/>
                <a:ea typeface="Arial"/>
                <a:cs typeface="Arial"/>
              </a:defRPr>
            </a:lvl9pPr>
          </a:lstStyle>
          <a:p xmlns:a="http://schemas.openxmlformats.org/drawingml/2006/main">
            <a:pPr>
              <a:defRPr sz="2025" b="0">
                <a:solidFill>
                  <a:srgbClr val="142C45"/>
                </a:solidFill>
                <a:latin typeface="Arial"/>
                <a:ea typeface="Arial"/>
                <a:cs typeface="Arial"/>
              </a:defRPr>
            </a:pPr>
            <a:r>
              <a:rPr sz="2025" b="0">
                <a:solidFill>
                  <a:srgbClr val="142C45"/>
                </a:solidFill>
                <a:latin typeface="Arial"/>
                <a:ea typeface="Arial"/>
                <a:cs typeface="Arial"/>
              </a:rPr>
              <a:t>161,297 training reviews     53,766 original test reviews</a:t>
            </a:r>
          </a:p>
        </p:txBody>
      </p:sp>
    </p:spTree>
    <p:extLst>
      <p:ext uri="{BB962C8B-B14F-4D97-AF65-F5344CB8AC3E}">
        <p14:creationId xmlns:p14="http://schemas.microsoft.com/office/powerpoint/2010/main" val="171536143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68B122-0206-4083-BC6C-9CD8717D3081}"/>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Cleaning and experimental partitions</a:t>
            </a:r>
          </a:p>
        </p:txBody>
      </p:sp>
      <p:sp>
        <p:nvSpPr>
          <p:cNvPr id="3" name="">
            <a:extLst xmlns:a="http://schemas.openxmlformats.org/drawingml/2006/main">
              <a:ext uri="{FF2B5EF4-FFF2-40B4-BE49-F238E27FC236}">
                <a16:creationId xmlns:a16="http://schemas.microsoft.com/office/drawing/2014/main" id="{5345A7AB-79B0-4124-832F-018C6F8E1517}"/>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214B2F2-8C36-405F-B924-2EA9A125841F}"/>
              </a:ext>
            </a:extLst>
          </p:cNvPr>
          <p:cNvSpPr>
            <a:spLocks xmlns:a="http://schemas.openxmlformats.org/drawingml/2006/main" noGrp="1"/>
          </p:cNvSpPr>
          <p:nvPr/>
        </p:nvSpPr>
        <p:spPr>
          <a:xfrm xmlns:a="http://schemas.openxmlformats.org/drawingml/2006/main">
            <a:off x="647700" y="1571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C45"/>
                </a:solidFill>
                <a:latin typeface="Arial"/>
                <a:ea typeface="Arial"/>
                <a:cs typeface="Arial"/>
              </a:defRPr>
            </a:defPPr>
            <a:lvl1pPr>
              <a:defRPr sz="2400" b="0">
                <a:solidFill>
                  <a:srgbClr val="142C45"/>
                </a:solidFill>
                <a:latin typeface="Arial"/>
                <a:ea typeface="Arial"/>
                <a:cs typeface="Arial"/>
              </a:defRPr>
            </a:lvl1pPr>
            <a:lvl2pPr>
              <a:defRPr sz="2400" b="0">
                <a:solidFill>
                  <a:srgbClr val="142C45"/>
                </a:solidFill>
                <a:latin typeface="Arial"/>
                <a:ea typeface="Arial"/>
                <a:cs typeface="Arial"/>
              </a:defRPr>
            </a:lvl2pPr>
            <a:lvl3pPr>
              <a:defRPr sz="2400" b="0">
                <a:solidFill>
                  <a:srgbClr val="142C45"/>
                </a:solidFill>
                <a:latin typeface="Arial"/>
                <a:ea typeface="Arial"/>
                <a:cs typeface="Arial"/>
              </a:defRPr>
            </a:lvl3pPr>
            <a:lvl4pPr>
              <a:defRPr sz="2400" b="0">
                <a:solidFill>
                  <a:srgbClr val="142C45"/>
                </a:solidFill>
                <a:latin typeface="Arial"/>
                <a:ea typeface="Arial"/>
                <a:cs typeface="Arial"/>
              </a:defRPr>
            </a:lvl4pPr>
            <a:lvl5pPr>
              <a:defRPr sz="2400" b="0">
                <a:solidFill>
                  <a:srgbClr val="142C45"/>
                </a:solidFill>
                <a:latin typeface="Arial"/>
                <a:ea typeface="Arial"/>
                <a:cs typeface="Arial"/>
              </a:defRPr>
            </a:lvl5pPr>
            <a:lvl6pPr>
              <a:defRPr sz="2400" b="0">
                <a:solidFill>
                  <a:srgbClr val="142C45"/>
                </a:solidFill>
                <a:latin typeface="Arial"/>
                <a:ea typeface="Arial"/>
                <a:cs typeface="Arial"/>
              </a:defRPr>
            </a:lvl6pPr>
            <a:lvl7pPr>
              <a:defRPr sz="2400" b="0">
                <a:solidFill>
                  <a:srgbClr val="142C45"/>
                </a:solidFill>
                <a:latin typeface="Arial"/>
                <a:ea typeface="Arial"/>
                <a:cs typeface="Arial"/>
              </a:defRPr>
            </a:lvl7pPr>
            <a:lvl8pPr>
              <a:defRPr sz="2400" b="0">
                <a:solidFill>
                  <a:srgbClr val="142C45"/>
                </a:solidFill>
                <a:latin typeface="Arial"/>
                <a:ea typeface="Arial"/>
                <a:cs typeface="Arial"/>
              </a:defRPr>
            </a:lvl8pPr>
            <a:lvl9pPr>
              <a:defRPr sz="2400" b="0">
                <a:solidFill>
                  <a:srgbClr val="142C45"/>
                </a:solidFill>
                <a:latin typeface="Arial"/>
                <a:ea typeface="Arial"/>
                <a:cs typeface="Arial"/>
              </a:defRPr>
            </a:lvl9pPr>
          </a:lstStyle>
          <a:p xmlns:a="http://schemas.openxmlformats.org/drawingml/2006/main">
            <a:pPr>
              <a:defRPr sz="2400" b="0">
                <a:solidFill>
                  <a:srgbClr val="142C45"/>
                </a:solidFill>
                <a:latin typeface="Arial"/>
                <a:ea typeface="Arial"/>
                <a:cs typeface="Arial"/>
              </a:defRPr>
            </a:pPr>
            <a:r>
              <a:rPr sz="2400" b="0">
                <a:solidFill>
                  <a:srgbClr val="142C45"/>
                </a:solidFill>
                <a:latin typeface="Arial"/>
                <a:ea typeface="Arial"/>
                <a:cs typeface="Arial"/>
              </a:rPr>
              <a:t>112,285 unique training texts after cleaning</a:t>
            </a:r>
          </a:p>
        </p:txBody>
      </p:sp>
      <p:graphicFrame>
        <p:nvGraphicFramePr>
          <p:cNvPr id="5" name="">
            <a:extLst xmlns:a="http://schemas.openxmlformats.org/drawingml/2006/main">
              <a:ext uri="{FF2B5EF4-FFF2-40B4-BE49-F238E27FC236}">
                <a16:creationId xmlns:a16="http://schemas.microsoft.com/office/drawing/2014/main" id="{938FB4CB-EB7B-4527-B57F-F6E7F2074BCB}"/>
              </a:ext>
            </a:extLst>
          </p:cNvPr>
          <p:cNvGraphicFramePr/>
          <p:nvPr/>
        </p:nvGraphicFramePr>
        <p:xfrm>
          <a:off xmlns:a="http://schemas.openxmlformats.org/drawingml/2006/main" x="647700" y="2476500"/>
          <a:ext xmlns:a="http://schemas.openxmlformats.org/drawingml/2006/main" cx="10896600" cy="2381250"/>
        </p:xfrm>
        <a:graphic xmlns:a="http://schemas.openxmlformats.org/drawingml/2006/main">
          <a:graphicData uri="http://schemas.openxmlformats.org/drawingml/2006/table">
            <a:tbl>
              <a:tblPr/>
              <a:tblGrid>
                <a:gridCol w="3524250"/>
                <a:gridCol w="1714500"/>
                <a:gridCol w="5657850"/>
              </a:tblGrid>
              <a:tr h="595313">
                <a:tc>
                  <a:txBody>
                    <a:bodyPr/>
                    <a:lstStyle/>
                    <a:p>
                      <a:r>
                        <a:rPr sz="1875" b="1">
                          <a:solidFill>
                            <a:srgbClr val="FFFFFF"/>
                          </a:solidFill>
                          <a:latin typeface="Arial"/>
                          <a:ea typeface="Arial"/>
                          <a:cs typeface="Arial"/>
                        </a:rPr>
                        <a:t>Experimental partition</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1875" b="1">
                          <a:solidFill>
                            <a:srgbClr val="FFFFFF"/>
                          </a:solidFill>
                          <a:latin typeface="Arial"/>
                          <a:ea typeface="Arial"/>
                          <a:cs typeface="Arial"/>
                        </a:rPr>
                        <a:t>Reviews</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1875" b="1">
                          <a:solidFill>
                            <a:srgbClr val="FFFFFF"/>
                          </a:solidFill>
                          <a:latin typeface="Arial"/>
                          <a:ea typeface="Arial"/>
                          <a:cs typeface="Arial"/>
                        </a:rPr>
                        <a:t>Purpose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595313">
                <a:tc>
                  <a:txBody>
                    <a:bodyPr/>
                    <a:lstStyle/>
                    <a:p>
                      <a:r>
                        <a:rPr sz="1875" b="0">
                          <a:solidFill>
                            <a:srgbClr val="142C45"/>
                          </a:solidFill>
                          <a:latin typeface="Arial"/>
                          <a:ea typeface="Arial"/>
                          <a:cs typeface="Arial"/>
                        </a:rPr>
                        <a:t>Training</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12,000</a:t>
                      </a:r>
                    </a:p>
                  </a:txBody>
                  <a:tcPr marL="91440" marR="91440" marT="45720" marB="45720">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Parameter updates</a:t>
                      </a:r>
                    </a:p>
                  </a:txBody>
                  <a:tcPr marL="91440" marR="91440" marT="45720" marB="45720">
                    <a:lnR w="5715">
                      <a:solidFill>
                        <a:srgbClr val="D9E3E9"/>
                      </a:solidFill>
                    </a:lnR>
                    <a:lnB w="5715">
                      <a:solidFill>
                        <a:srgbClr val="D9E3E9"/>
                      </a:solidFill>
                    </a:lnB>
                    <a:solidFill>
                      <a:srgbClr val="EDF3F6"/>
                    </a:solidFill>
                  </a:tcPr>
                </a:tc>
              </a:tr>
              <a:tr h="595313">
                <a:tc>
                  <a:txBody>
                    <a:bodyPr/>
                    <a:lstStyle/>
                    <a:p>
                      <a:r>
                        <a:rPr sz="1875" b="0">
                          <a:solidFill>
                            <a:srgbClr val="142C45"/>
                          </a:solidFill>
                          <a:latin typeface="Arial"/>
                          <a:ea typeface="Arial"/>
                          <a:cs typeface="Arial"/>
                        </a:rPr>
                        <a:t>Validation</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2,000</a:t>
                      </a:r>
                    </a:p>
                  </a:txBody>
                  <a:tcPr marL="91440" marR="91440" marT="45720" marB="45720">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Settings and checkpoint selection</a:t>
                      </a:r>
                    </a:p>
                  </a:txBody>
                  <a:tcPr marL="91440" marR="91440" marT="45720" marB="45720">
                    <a:lnR w="5715">
                      <a:solidFill>
                        <a:srgbClr val="D9E3E9"/>
                      </a:solidFill>
                    </a:lnR>
                    <a:lnB w="5715">
                      <a:solidFill>
                        <a:srgbClr val="D9E3E9"/>
                      </a:solidFill>
                    </a:lnB>
                    <a:solidFill>
                      <a:srgbClr val="FFFFFF"/>
                    </a:solidFill>
                  </a:tcPr>
                </a:tc>
              </a:tr>
              <a:tr h="595313">
                <a:tc>
                  <a:txBody>
                    <a:bodyPr/>
                    <a:lstStyle/>
                    <a:p>
                      <a:r>
                        <a:rPr sz="1875" b="0">
                          <a:solidFill>
                            <a:srgbClr val="142C45"/>
                          </a:solidFill>
                          <a:latin typeface="Arial"/>
                          <a:ea typeface="Arial"/>
                          <a:cs typeface="Arial"/>
                        </a:rPr>
                        <a:t>Test</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4,000</a:t>
                      </a:r>
                    </a:p>
                  </a:txBody>
                  <a:tcPr marL="91440" marR="91440" marT="45720" marB="45720">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Final comparison</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6" name="">
            <a:extLst xmlns:a="http://schemas.openxmlformats.org/drawingml/2006/main">
              <a:ext uri="{FF2B5EF4-FFF2-40B4-BE49-F238E27FC236}">
                <a16:creationId xmlns:a16="http://schemas.microsoft.com/office/drawing/2014/main" id="{A9930A59-5CED-40C7-B80E-A6AF14BB9D48}"/>
              </a:ext>
            </a:extLst>
          </p:cNvPr>
          <p:cNvSpPr>
            <a:spLocks xmlns:a="http://schemas.openxmlformats.org/drawingml/2006/main" noGrp="1"/>
          </p:cNvSpPr>
          <p:nvPr/>
        </p:nvSpPr>
        <p:spPr>
          <a:xfrm xmlns:a="http://schemas.openxmlformats.org/drawingml/2006/main">
            <a:off x="647700" y="5381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5"/>
                </a:solidFill>
                <a:latin typeface="Arial"/>
                <a:ea typeface="Arial"/>
                <a:cs typeface="Arial"/>
              </a:defRPr>
            </a:defPPr>
            <a:lvl1pPr>
              <a:defRPr sz="2025" b="0">
                <a:solidFill>
                  <a:srgbClr val="142C45"/>
                </a:solidFill>
                <a:latin typeface="Arial"/>
                <a:ea typeface="Arial"/>
                <a:cs typeface="Arial"/>
              </a:defRPr>
            </a:lvl1pPr>
            <a:lvl2pPr>
              <a:defRPr sz="2025" b="0">
                <a:solidFill>
                  <a:srgbClr val="142C45"/>
                </a:solidFill>
                <a:latin typeface="Arial"/>
                <a:ea typeface="Arial"/>
                <a:cs typeface="Arial"/>
              </a:defRPr>
            </a:lvl2pPr>
            <a:lvl3pPr>
              <a:defRPr sz="2025" b="0">
                <a:solidFill>
                  <a:srgbClr val="142C45"/>
                </a:solidFill>
                <a:latin typeface="Arial"/>
                <a:ea typeface="Arial"/>
                <a:cs typeface="Arial"/>
              </a:defRPr>
            </a:lvl3pPr>
            <a:lvl4pPr>
              <a:defRPr sz="2025" b="0">
                <a:solidFill>
                  <a:srgbClr val="142C45"/>
                </a:solidFill>
                <a:latin typeface="Arial"/>
                <a:ea typeface="Arial"/>
                <a:cs typeface="Arial"/>
              </a:defRPr>
            </a:lvl4pPr>
            <a:lvl5pPr>
              <a:defRPr sz="2025" b="0">
                <a:solidFill>
                  <a:srgbClr val="142C45"/>
                </a:solidFill>
                <a:latin typeface="Arial"/>
                <a:ea typeface="Arial"/>
                <a:cs typeface="Arial"/>
              </a:defRPr>
            </a:lvl5pPr>
            <a:lvl6pPr>
              <a:defRPr sz="2025" b="0">
                <a:solidFill>
                  <a:srgbClr val="142C45"/>
                </a:solidFill>
                <a:latin typeface="Arial"/>
                <a:ea typeface="Arial"/>
                <a:cs typeface="Arial"/>
              </a:defRPr>
            </a:lvl6pPr>
            <a:lvl7pPr>
              <a:defRPr sz="2025" b="0">
                <a:solidFill>
                  <a:srgbClr val="142C45"/>
                </a:solidFill>
                <a:latin typeface="Arial"/>
                <a:ea typeface="Arial"/>
                <a:cs typeface="Arial"/>
              </a:defRPr>
            </a:lvl7pPr>
            <a:lvl8pPr>
              <a:defRPr sz="2025" b="0">
                <a:solidFill>
                  <a:srgbClr val="142C45"/>
                </a:solidFill>
                <a:latin typeface="Arial"/>
                <a:ea typeface="Arial"/>
                <a:cs typeface="Arial"/>
              </a:defRPr>
            </a:lvl8pPr>
            <a:lvl9pPr>
              <a:defRPr sz="2025" b="0">
                <a:solidFill>
                  <a:srgbClr val="142C45"/>
                </a:solidFill>
                <a:latin typeface="Arial"/>
                <a:ea typeface="Arial"/>
                <a:cs typeface="Arial"/>
              </a:defRPr>
            </a:lvl9pPr>
          </a:lstStyle>
          <a:p xmlns:a="http://schemas.openxmlformats.org/drawingml/2006/main">
            <a:pPr>
              <a:defRPr sz="2025" b="0">
                <a:solidFill>
                  <a:srgbClr val="142C45"/>
                </a:solidFill>
                <a:latin typeface="Arial"/>
                <a:ea typeface="Arial"/>
                <a:cs typeface="Arial"/>
              </a:defRPr>
            </a:pPr>
            <a:r>
              <a:rPr sz="2025" b="0">
                <a:solidFill>
                  <a:srgbClr val="142C45"/>
                </a:solidFill>
                <a:latin typeface="Arial"/>
                <a:ea typeface="Arial"/>
                <a:cs typeface="Arial"/>
              </a:rPr>
              <a:t>Exact normalized text overlap between these partitions: zero</a:t>
            </a:r>
          </a:p>
        </p:txBody>
      </p:sp>
    </p:spTree>
    <p:extLst>
      <p:ext uri="{BB962C8B-B14F-4D97-AF65-F5344CB8AC3E}">
        <p14:creationId xmlns:p14="http://schemas.microsoft.com/office/powerpoint/2010/main" val="333900022"/>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38E1B87-B133-4A3F-AFD6-9D37813667A5}"/>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The cell memory and hidden state</a:t>
            </a:r>
          </a:p>
        </p:txBody>
      </p:sp>
      <p:sp>
        <p:nvSpPr>
          <p:cNvPr id="3" name="">
            <a:extLst xmlns:a="http://schemas.openxmlformats.org/drawingml/2006/main">
              <a:ext uri="{FF2B5EF4-FFF2-40B4-BE49-F238E27FC236}">
                <a16:creationId xmlns:a16="http://schemas.microsoft.com/office/drawing/2014/main" id="{6EBD3ACC-F8BB-4DB6-AF12-C1EB6EBA782E}"/>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E5177F27-4312-407C-87F5-FF780CFE713B}"/>
              </a:ext>
            </a:extLst>
          </p:cNvPr>
          <p:cNvSpPr>
            <a:spLocks xmlns:a="http://schemas.openxmlformats.org/drawingml/2006/main" noGrp="1"/>
          </p:cNvSpPr>
          <p:nvPr/>
        </p:nvSpPr>
        <p:spPr>
          <a:xfrm xmlns:a="http://schemas.openxmlformats.org/drawingml/2006/main">
            <a:off x="647700" y="1619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5"/>
                </a:solidFill>
                <a:latin typeface="Arial"/>
                <a:ea typeface="Arial"/>
                <a:cs typeface="Arial"/>
              </a:defRPr>
            </a:defPPr>
            <a:lvl1pPr>
              <a:defRPr sz="2325" b="0">
                <a:solidFill>
                  <a:srgbClr val="142C45"/>
                </a:solidFill>
                <a:latin typeface="Arial"/>
                <a:ea typeface="Arial"/>
                <a:cs typeface="Arial"/>
              </a:defRPr>
            </a:lvl1pPr>
            <a:lvl2pPr>
              <a:defRPr sz="2325" b="0">
                <a:solidFill>
                  <a:srgbClr val="142C45"/>
                </a:solidFill>
                <a:latin typeface="Arial"/>
                <a:ea typeface="Arial"/>
                <a:cs typeface="Arial"/>
              </a:defRPr>
            </a:lvl2pPr>
            <a:lvl3pPr>
              <a:defRPr sz="2325" b="0">
                <a:solidFill>
                  <a:srgbClr val="142C45"/>
                </a:solidFill>
                <a:latin typeface="Arial"/>
                <a:ea typeface="Arial"/>
                <a:cs typeface="Arial"/>
              </a:defRPr>
            </a:lvl3pPr>
            <a:lvl4pPr>
              <a:defRPr sz="2325" b="0">
                <a:solidFill>
                  <a:srgbClr val="142C45"/>
                </a:solidFill>
                <a:latin typeface="Arial"/>
                <a:ea typeface="Arial"/>
                <a:cs typeface="Arial"/>
              </a:defRPr>
            </a:lvl4pPr>
            <a:lvl5pPr>
              <a:defRPr sz="2325" b="0">
                <a:solidFill>
                  <a:srgbClr val="142C45"/>
                </a:solidFill>
                <a:latin typeface="Arial"/>
                <a:ea typeface="Arial"/>
                <a:cs typeface="Arial"/>
              </a:defRPr>
            </a:lvl5pPr>
            <a:lvl6pPr>
              <a:defRPr sz="2325" b="0">
                <a:solidFill>
                  <a:srgbClr val="142C45"/>
                </a:solidFill>
                <a:latin typeface="Arial"/>
                <a:ea typeface="Arial"/>
                <a:cs typeface="Arial"/>
              </a:defRPr>
            </a:lvl6pPr>
            <a:lvl7pPr>
              <a:defRPr sz="2325" b="0">
                <a:solidFill>
                  <a:srgbClr val="142C45"/>
                </a:solidFill>
                <a:latin typeface="Arial"/>
                <a:ea typeface="Arial"/>
                <a:cs typeface="Arial"/>
              </a:defRPr>
            </a:lvl7pPr>
            <a:lvl8pPr>
              <a:defRPr sz="2325" b="0">
                <a:solidFill>
                  <a:srgbClr val="142C45"/>
                </a:solidFill>
                <a:latin typeface="Arial"/>
                <a:ea typeface="Arial"/>
                <a:cs typeface="Arial"/>
              </a:defRPr>
            </a:lvl8pPr>
            <a:lvl9pPr>
              <a:defRPr sz="2325" b="0">
                <a:solidFill>
                  <a:srgbClr val="142C45"/>
                </a:solidFill>
                <a:latin typeface="Arial"/>
                <a:ea typeface="Arial"/>
                <a:cs typeface="Arial"/>
              </a:defRPr>
            </a:lvl9pPr>
          </a:lstStyle>
          <a:p xmlns:a="http://schemas.openxmlformats.org/drawingml/2006/main">
            <a:pPr>
              <a:defRPr sz="2325" b="0">
                <a:solidFill>
                  <a:srgbClr val="142C45"/>
                </a:solidFill>
                <a:latin typeface="Arial"/>
                <a:ea typeface="Arial"/>
                <a:cs typeface="Arial"/>
              </a:defRPr>
            </a:pPr>
            <a:r>
              <a:rPr sz="2325" b="0">
                <a:solidFill>
                  <a:srgbClr val="142C45"/>
                </a:solidFill>
                <a:latin typeface="Arial"/>
                <a:ea typeface="Arial"/>
                <a:cs typeface="Arial"/>
              </a:rPr>
              <a:t>c: internal memory updated by retention and new content</a:t>
            </a:r>
          </a:p>
        </p:txBody>
      </p:sp>
      <p:sp>
        <p:nvSpPr>
          <p:cNvPr id="5" name="">
            <a:extLst xmlns:a="http://schemas.openxmlformats.org/drawingml/2006/main">
              <a:ext uri="{FF2B5EF4-FFF2-40B4-BE49-F238E27FC236}">
                <a16:creationId xmlns:a16="http://schemas.microsoft.com/office/drawing/2014/main" id="{4D8F7DBD-88E2-447E-95FE-8DDD0BC15A23}"/>
              </a:ext>
            </a:extLst>
          </p:cNvPr>
          <p:cNvSpPr>
            <a:spLocks xmlns:a="http://schemas.openxmlformats.org/drawingml/2006/main" noGrp="1"/>
          </p:cNvSpPr>
          <p:nvPr/>
        </p:nvSpPr>
        <p:spPr>
          <a:xfrm xmlns:a="http://schemas.openxmlformats.org/drawingml/2006/main">
            <a:off x="647700" y="2428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C45"/>
                </a:solidFill>
                <a:latin typeface="Arial"/>
                <a:ea typeface="Arial"/>
                <a:cs typeface="Arial"/>
              </a:defRPr>
            </a:defPPr>
            <a:lvl1pPr>
              <a:defRPr sz="2325" b="0">
                <a:solidFill>
                  <a:srgbClr val="142C45"/>
                </a:solidFill>
                <a:latin typeface="Arial"/>
                <a:ea typeface="Arial"/>
                <a:cs typeface="Arial"/>
              </a:defRPr>
            </a:lvl1pPr>
            <a:lvl2pPr>
              <a:defRPr sz="2325" b="0">
                <a:solidFill>
                  <a:srgbClr val="142C45"/>
                </a:solidFill>
                <a:latin typeface="Arial"/>
                <a:ea typeface="Arial"/>
                <a:cs typeface="Arial"/>
              </a:defRPr>
            </a:lvl2pPr>
            <a:lvl3pPr>
              <a:defRPr sz="2325" b="0">
                <a:solidFill>
                  <a:srgbClr val="142C45"/>
                </a:solidFill>
                <a:latin typeface="Arial"/>
                <a:ea typeface="Arial"/>
                <a:cs typeface="Arial"/>
              </a:defRPr>
            </a:lvl3pPr>
            <a:lvl4pPr>
              <a:defRPr sz="2325" b="0">
                <a:solidFill>
                  <a:srgbClr val="142C45"/>
                </a:solidFill>
                <a:latin typeface="Arial"/>
                <a:ea typeface="Arial"/>
                <a:cs typeface="Arial"/>
              </a:defRPr>
            </a:lvl4pPr>
            <a:lvl5pPr>
              <a:defRPr sz="2325" b="0">
                <a:solidFill>
                  <a:srgbClr val="142C45"/>
                </a:solidFill>
                <a:latin typeface="Arial"/>
                <a:ea typeface="Arial"/>
                <a:cs typeface="Arial"/>
              </a:defRPr>
            </a:lvl5pPr>
            <a:lvl6pPr>
              <a:defRPr sz="2325" b="0">
                <a:solidFill>
                  <a:srgbClr val="142C45"/>
                </a:solidFill>
                <a:latin typeface="Arial"/>
                <a:ea typeface="Arial"/>
                <a:cs typeface="Arial"/>
              </a:defRPr>
            </a:lvl6pPr>
            <a:lvl7pPr>
              <a:defRPr sz="2325" b="0">
                <a:solidFill>
                  <a:srgbClr val="142C45"/>
                </a:solidFill>
                <a:latin typeface="Arial"/>
                <a:ea typeface="Arial"/>
                <a:cs typeface="Arial"/>
              </a:defRPr>
            </a:lvl7pPr>
            <a:lvl8pPr>
              <a:defRPr sz="2325" b="0">
                <a:solidFill>
                  <a:srgbClr val="142C45"/>
                </a:solidFill>
                <a:latin typeface="Arial"/>
                <a:ea typeface="Arial"/>
                <a:cs typeface="Arial"/>
              </a:defRPr>
            </a:lvl8pPr>
            <a:lvl9pPr>
              <a:defRPr sz="2325" b="0">
                <a:solidFill>
                  <a:srgbClr val="142C45"/>
                </a:solidFill>
                <a:latin typeface="Arial"/>
                <a:ea typeface="Arial"/>
                <a:cs typeface="Arial"/>
              </a:defRPr>
            </a:lvl9pPr>
          </a:lstStyle>
          <a:p xmlns:a="http://schemas.openxmlformats.org/drawingml/2006/main">
            <a:pPr>
              <a:defRPr sz="2325" b="0">
                <a:solidFill>
                  <a:srgbClr val="142C45"/>
                </a:solidFill>
                <a:latin typeface="Arial"/>
                <a:ea typeface="Arial"/>
                <a:cs typeface="Arial"/>
              </a:defRPr>
            </a:pPr>
            <a:r>
              <a:rPr sz="2325" b="0">
                <a:solidFill>
                  <a:srgbClr val="142C45"/>
                </a:solidFill>
                <a:latin typeface="Arial"/>
                <a:ea typeface="Arial"/>
                <a:cs typeface="Arial"/>
              </a:rPr>
              <a:t>h: information exposed from memory and passed forward</a:t>
            </a:r>
          </a:p>
        </p:txBody>
      </p:sp>
      <p:sp>
        <p:nvSpPr>
          <p:cNvPr id="6" name="">
            <a:extLst xmlns:a="http://schemas.openxmlformats.org/drawingml/2006/main">
              <a:ext uri="{FF2B5EF4-FFF2-40B4-BE49-F238E27FC236}">
                <a16:creationId xmlns:a16="http://schemas.microsoft.com/office/drawing/2014/main" id="{45C9C019-C0E5-4AF6-85E4-D9707686399A}"/>
              </a:ext>
            </a:extLst>
          </p:cNvPr>
          <p:cNvSpPr>
            <a:spLocks xmlns:a="http://schemas.openxmlformats.org/drawingml/2006/main" noGrp="1"/>
          </p:cNvSpPr>
          <p:nvPr/>
        </p:nvSpPr>
        <p:spPr>
          <a:xfrm xmlns:a="http://schemas.openxmlformats.org/drawingml/2006/main">
            <a:off x="647700" y="3476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42C45"/>
                </a:solidFill>
                <a:latin typeface="Arial"/>
                <a:ea typeface="Arial"/>
                <a:cs typeface="Arial"/>
              </a:defRPr>
            </a:defPPr>
            <a:lvl1pPr>
              <a:defRPr sz="2850" b="0">
                <a:solidFill>
                  <a:srgbClr val="142C45"/>
                </a:solidFill>
                <a:latin typeface="Arial"/>
                <a:ea typeface="Arial"/>
                <a:cs typeface="Arial"/>
              </a:defRPr>
            </a:lvl1pPr>
            <a:lvl2pPr>
              <a:defRPr sz="2850" b="0">
                <a:solidFill>
                  <a:srgbClr val="142C45"/>
                </a:solidFill>
                <a:latin typeface="Arial"/>
                <a:ea typeface="Arial"/>
                <a:cs typeface="Arial"/>
              </a:defRPr>
            </a:lvl2pPr>
            <a:lvl3pPr>
              <a:defRPr sz="2850" b="0">
                <a:solidFill>
                  <a:srgbClr val="142C45"/>
                </a:solidFill>
                <a:latin typeface="Arial"/>
                <a:ea typeface="Arial"/>
                <a:cs typeface="Arial"/>
              </a:defRPr>
            </a:lvl3pPr>
            <a:lvl4pPr>
              <a:defRPr sz="2850" b="0">
                <a:solidFill>
                  <a:srgbClr val="142C45"/>
                </a:solidFill>
                <a:latin typeface="Arial"/>
                <a:ea typeface="Arial"/>
                <a:cs typeface="Arial"/>
              </a:defRPr>
            </a:lvl4pPr>
            <a:lvl5pPr>
              <a:defRPr sz="2850" b="0">
                <a:solidFill>
                  <a:srgbClr val="142C45"/>
                </a:solidFill>
                <a:latin typeface="Arial"/>
                <a:ea typeface="Arial"/>
                <a:cs typeface="Arial"/>
              </a:defRPr>
            </a:lvl5pPr>
            <a:lvl6pPr>
              <a:defRPr sz="2850" b="0">
                <a:solidFill>
                  <a:srgbClr val="142C45"/>
                </a:solidFill>
                <a:latin typeface="Arial"/>
                <a:ea typeface="Arial"/>
                <a:cs typeface="Arial"/>
              </a:defRPr>
            </a:lvl6pPr>
            <a:lvl7pPr>
              <a:defRPr sz="2850" b="0">
                <a:solidFill>
                  <a:srgbClr val="142C45"/>
                </a:solidFill>
                <a:latin typeface="Arial"/>
                <a:ea typeface="Arial"/>
                <a:cs typeface="Arial"/>
              </a:defRPr>
            </a:lvl7pPr>
            <a:lvl8pPr>
              <a:defRPr sz="2850" b="0">
                <a:solidFill>
                  <a:srgbClr val="142C45"/>
                </a:solidFill>
                <a:latin typeface="Arial"/>
                <a:ea typeface="Arial"/>
                <a:cs typeface="Arial"/>
              </a:defRPr>
            </a:lvl8pPr>
            <a:lvl9pPr>
              <a:defRPr sz="2850" b="0">
                <a:solidFill>
                  <a:srgbClr val="142C45"/>
                </a:solidFill>
                <a:latin typeface="Arial"/>
                <a:ea typeface="Arial"/>
                <a:cs typeface="Arial"/>
              </a:defRPr>
            </a:lvl9pPr>
          </a:lstStyle>
          <a:p xmlns:a="http://schemas.openxmlformats.org/drawingml/2006/main">
            <a:pPr>
              <a:defRPr sz="2850" b="0">
                <a:solidFill>
                  <a:srgbClr val="142C45"/>
                </a:solidFill>
                <a:latin typeface="Arial"/>
                <a:ea typeface="Arial"/>
                <a:cs typeface="Arial"/>
              </a:defRPr>
            </a:pPr>
            <a:r>
              <a:rPr sz="2850" b="0">
                <a:solidFill>
                  <a:srgbClr val="142C45"/>
                </a:solidFill>
                <a:latin typeface="Arial"/>
                <a:ea typeface="Arial"/>
                <a:cs typeface="Arial"/>
              </a:rPr>
              <a:t>c = f * c_previous + i * g</a:t>
            </a:r>
          </a:p>
        </p:txBody>
      </p:sp>
      <p:sp>
        <p:nvSpPr>
          <p:cNvPr id="7" name="">
            <a:extLst xmlns:a="http://schemas.openxmlformats.org/drawingml/2006/main">
              <a:ext uri="{FF2B5EF4-FFF2-40B4-BE49-F238E27FC236}">
                <a16:creationId xmlns:a16="http://schemas.microsoft.com/office/drawing/2014/main" id="{3CAD0507-507C-4875-949B-6AC5E6D11EB5}"/>
              </a:ext>
            </a:extLst>
          </p:cNvPr>
          <p:cNvSpPr>
            <a:spLocks xmlns:a="http://schemas.openxmlformats.org/drawingml/2006/main" noGrp="1"/>
          </p:cNvSpPr>
          <p:nvPr/>
        </p:nvSpPr>
        <p:spPr>
          <a:xfrm xmlns:a="http://schemas.openxmlformats.org/drawingml/2006/main">
            <a:off x="647700" y="42862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142C45"/>
                </a:solidFill>
                <a:latin typeface="Arial"/>
                <a:ea typeface="Arial"/>
                <a:cs typeface="Arial"/>
              </a:defRPr>
            </a:defPPr>
            <a:lvl1pPr>
              <a:defRPr sz="2850" b="0">
                <a:solidFill>
                  <a:srgbClr val="142C45"/>
                </a:solidFill>
                <a:latin typeface="Arial"/>
                <a:ea typeface="Arial"/>
                <a:cs typeface="Arial"/>
              </a:defRPr>
            </a:lvl1pPr>
            <a:lvl2pPr>
              <a:defRPr sz="2850" b="0">
                <a:solidFill>
                  <a:srgbClr val="142C45"/>
                </a:solidFill>
                <a:latin typeface="Arial"/>
                <a:ea typeface="Arial"/>
                <a:cs typeface="Arial"/>
              </a:defRPr>
            </a:lvl2pPr>
            <a:lvl3pPr>
              <a:defRPr sz="2850" b="0">
                <a:solidFill>
                  <a:srgbClr val="142C45"/>
                </a:solidFill>
                <a:latin typeface="Arial"/>
                <a:ea typeface="Arial"/>
                <a:cs typeface="Arial"/>
              </a:defRPr>
            </a:lvl3pPr>
            <a:lvl4pPr>
              <a:defRPr sz="2850" b="0">
                <a:solidFill>
                  <a:srgbClr val="142C45"/>
                </a:solidFill>
                <a:latin typeface="Arial"/>
                <a:ea typeface="Arial"/>
                <a:cs typeface="Arial"/>
              </a:defRPr>
            </a:lvl4pPr>
            <a:lvl5pPr>
              <a:defRPr sz="2850" b="0">
                <a:solidFill>
                  <a:srgbClr val="142C45"/>
                </a:solidFill>
                <a:latin typeface="Arial"/>
                <a:ea typeface="Arial"/>
                <a:cs typeface="Arial"/>
              </a:defRPr>
            </a:lvl5pPr>
            <a:lvl6pPr>
              <a:defRPr sz="2850" b="0">
                <a:solidFill>
                  <a:srgbClr val="142C45"/>
                </a:solidFill>
                <a:latin typeface="Arial"/>
                <a:ea typeface="Arial"/>
                <a:cs typeface="Arial"/>
              </a:defRPr>
            </a:lvl6pPr>
            <a:lvl7pPr>
              <a:defRPr sz="2850" b="0">
                <a:solidFill>
                  <a:srgbClr val="142C45"/>
                </a:solidFill>
                <a:latin typeface="Arial"/>
                <a:ea typeface="Arial"/>
                <a:cs typeface="Arial"/>
              </a:defRPr>
            </a:lvl7pPr>
            <a:lvl8pPr>
              <a:defRPr sz="2850" b="0">
                <a:solidFill>
                  <a:srgbClr val="142C45"/>
                </a:solidFill>
                <a:latin typeface="Arial"/>
                <a:ea typeface="Arial"/>
                <a:cs typeface="Arial"/>
              </a:defRPr>
            </a:lvl8pPr>
            <a:lvl9pPr>
              <a:defRPr sz="2850" b="0">
                <a:solidFill>
                  <a:srgbClr val="142C45"/>
                </a:solidFill>
                <a:latin typeface="Arial"/>
                <a:ea typeface="Arial"/>
                <a:cs typeface="Arial"/>
              </a:defRPr>
            </a:lvl9pPr>
          </a:lstStyle>
          <a:p xmlns:a="http://schemas.openxmlformats.org/drawingml/2006/main">
            <a:pPr>
              <a:defRPr sz="2850" b="0">
                <a:solidFill>
                  <a:srgbClr val="142C45"/>
                </a:solidFill>
                <a:latin typeface="Arial"/>
                <a:ea typeface="Arial"/>
                <a:cs typeface="Arial"/>
              </a:defRPr>
            </a:pPr>
            <a:r>
              <a:rPr sz="2850" b="0">
                <a:solidFill>
                  <a:srgbClr val="142C45"/>
                </a:solidFill>
                <a:latin typeface="Arial"/>
                <a:ea typeface="Arial"/>
                <a:cs typeface="Arial"/>
              </a:rPr>
              <a:t>h = o * tanh(c)</a:t>
            </a:r>
          </a:p>
        </p:txBody>
      </p:sp>
      <p:sp>
        <p:nvSpPr>
          <p:cNvPr id="8" name="">
            <a:extLst xmlns:a="http://schemas.openxmlformats.org/drawingml/2006/main">
              <a:ext uri="{FF2B5EF4-FFF2-40B4-BE49-F238E27FC236}">
                <a16:creationId xmlns:a16="http://schemas.microsoft.com/office/drawing/2014/main" id="{FA8F7995-A33C-403F-B8FB-FC95DEC871A4}"/>
              </a:ext>
            </a:extLst>
          </p:cNvPr>
          <p:cNvSpPr>
            <a:spLocks xmlns:a="http://schemas.openxmlformats.org/drawingml/2006/main" noGrp="1"/>
          </p:cNvSpPr>
          <p:nvPr/>
        </p:nvSpPr>
        <p:spPr>
          <a:xfrm xmlns:a="http://schemas.openxmlformats.org/drawingml/2006/main">
            <a:off x="647700" y="538162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5"/>
                </a:solidFill>
                <a:latin typeface="Arial"/>
                <a:ea typeface="Arial"/>
                <a:cs typeface="Arial"/>
              </a:defRPr>
            </a:defPPr>
            <a:lvl1pPr>
              <a:defRPr sz="1875" b="0">
                <a:solidFill>
                  <a:srgbClr val="142C45"/>
                </a:solidFill>
                <a:latin typeface="Arial"/>
                <a:ea typeface="Arial"/>
                <a:cs typeface="Arial"/>
              </a:defRPr>
            </a:lvl1pPr>
            <a:lvl2pPr>
              <a:defRPr sz="1875" b="0">
                <a:solidFill>
                  <a:srgbClr val="142C45"/>
                </a:solidFill>
                <a:latin typeface="Arial"/>
                <a:ea typeface="Arial"/>
                <a:cs typeface="Arial"/>
              </a:defRPr>
            </a:lvl2pPr>
            <a:lvl3pPr>
              <a:defRPr sz="1875" b="0">
                <a:solidFill>
                  <a:srgbClr val="142C45"/>
                </a:solidFill>
                <a:latin typeface="Arial"/>
                <a:ea typeface="Arial"/>
                <a:cs typeface="Arial"/>
              </a:defRPr>
            </a:lvl3pPr>
            <a:lvl4pPr>
              <a:defRPr sz="1875" b="0">
                <a:solidFill>
                  <a:srgbClr val="142C45"/>
                </a:solidFill>
                <a:latin typeface="Arial"/>
                <a:ea typeface="Arial"/>
                <a:cs typeface="Arial"/>
              </a:defRPr>
            </a:lvl4pPr>
            <a:lvl5pPr>
              <a:defRPr sz="1875" b="0">
                <a:solidFill>
                  <a:srgbClr val="142C45"/>
                </a:solidFill>
                <a:latin typeface="Arial"/>
                <a:ea typeface="Arial"/>
                <a:cs typeface="Arial"/>
              </a:defRPr>
            </a:lvl5pPr>
            <a:lvl6pPr>
              <a:defRPr sz="1875" b="0">
                <a:solidFill>
                  <a:srgbClr val="142C45"/>
                </a:solidFill>
                <a:latin typeface="Arial"/>
                <a:ea typeface="Arial"/>
                <a:cs typeface="Arial"/>
              </a:defRPr>
            </a:lvl6pPr>
            <a:lvl7pPr>
              <a:defRPr sz="1875" b="0">
                <a:solidFill>
                  <a:srgbClr val="142C45"/>
                </a:solidFill>
                <a:latin typeface="Arial"/>
                <a:ea typeface="Arial"/>
                <a:cs typeface="Arial"/>
              </a:defRPr>
            </a:lvl7pPr>
            <a:lvl8pPr>
              <a:defRPr sz="1875" b="0">
                <a:solidFill>
                  <a:srgbClr val="142C45"/>
                </a:solidFill>
                <a:latin typeface="Arial"/>
                <a:ea typeface="Arial"/>
                <a:cs typeface="Arial"/>
              </a:defRPr>
            </a:lvl8pPr>
            <a:lvl9pPr>
              <a:defRPr sz="1875" b="0">
                <a:solidFill>
                  <a:srgbClr val="142C45"/>
                </a:solidFill>
                <a:latin typeface="Arial"/>
                <a:ea typeface="Arial"/>
                <a:cs typeface="Arial"/>
              </a:defRPr>
            </a:lvl9pPr>
          </a:lstStyle>
          <a:p xmlns:a="http://schemas.openxmlformats.org/drawingml/2006/main">
            <a:pPr>
              <a:defRPr sz="1875" b="0">
                <a:solidFill>
                  <a:srgbClr val="142C45"/>
                </a:solidFill>
                <a:latin typeface="Arial"/>
                <a:ea typeface="Arial"/>
                <a:cs typeface="Arial"/>
              </a:defRPr>
            </a:pPr>
            <a:r>
              <a:rPr sz="1875" b="0">
                <a:solidFill>
                  <a:srgbClr val="142C45"/>
                </a:solidFill>
                <a:latin typeface="Arial"/>
                <a:ea typeface="Arial"/>
                <a:cs typeface="Arial"/>
              </a:rPr>
              <a:t>Embedding: 64 values per token     Hidden state: 64 values</a:t>
            </a:r>
          </a:p>
          <a:p xmlns:a="http://schemas.openxmlformats.org/drawingml/2006/main">
            <a:pPr>
              <a:defRPr sz="1875" b="0">
                <a:solidFill>
                  <a:srgbClr val="142C45"/>
                </a:solidFill>
                <a:latin typeface="Arial"/>
                <a:ea typeface="Arial"/>
                <a:cs typeface="Arial"/>
              </a:defRPr>
            </a:pPr>
            <a:r>
              <a:rPr sz="1875" b="0">
                <a:solidFill>
                  <a:srgbClr val="142C45"/>
                </a:solidFill>
                <a:latin typeface="Arial"/>
                <a:ea typeface="Arial"/>
                <a:cs typeface="Arial"/>
              </a:rPr>
              <a:t>The last useful hidden state feeds the three-category classifier.</a:t>
            </a:r>
          </a:p>
        </p:txBody>
      </p:sp>
    </p:spTree>
    <p:extLst>
      <p:ext uri="{BB962C8B-B14F-4D97-AF65-F5344CB8AC3E}">
        <p14:creationId xmlns:p14="http://schemas.microsoft.com/office/powerpoint/2010/main" val="40473033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26293F1-5E8E-48F3-9389-E92D2E13AEBD}"/>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Manual recurrent cells</a:t>
            </a:r>
          </a:p>
        </p:txBody>
      </p:sp>
      <p:sp>
        <p:nvSpPr>
          <p:cNvPr id="3" name="">
            <a:extLst xmlns:a="http://schemas.openxmlformats.org/drawingml/2006/main">
              <a:ext uri="{FF2B5EF4-FFF2-40B4-BE49-F238E27FC236}">
                <a16:creationId xmlns:a16="http://schemas.microsoft.com/office/drawing/2014/main" id="{1CFB69A6-D688-4140-BD71-4EA5FAEDF87A}"/>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62BC21AB-683E-478F-8B03-2F6ADA48E7C7}"/>
              </a:ext>
            </a:extLst>
          </p:cNvPr>
          <p:cNvGraphicFramePr/>
          <p:nvPr/>
        </p:nvGraphicFramePr>
        <p:xfrm>
          <a:off xmlns:a="http://schemas.openxmlformats.org/drawingml/2006/main" x="647700" y="1809750"/>
          <a:ext xmlns:a="http://schemas.openxmlformats.org/drawingml/2006/main" cx="10896600" cy="2857500"/>
        </p:xfrm>
        <a:graphic xmlns:a="http://schemas.openxmlformats.org/drawingml/2006/main">
          <a:graphicData uri="http://schemas.openxmlformats.org/drawingml/2006/table">
            <a:tbl>
              <a:tblPr/>
              <a:tblGrid>
                <a:gridCol w="2190750"/>
                <a:gridCol w="6381750"/>
                <a:gridCol w="2324100"/>
              </a:tblGrid>
              <a:tr h="714375">
                <a:tc>
                  <a:txBody>
                    <a:bodyPr/>
                    <a:lstStyle/>
                    <a:p>
                      <a:r>
                        <a:rPr sz="1875" b="1">
                          <a:solidFill>
                            <a:srgbClr val="FFFFFF"/>
                          </a:solidFill>
                          <a:latin typeface="Arial"/>
                          <a:ea typeface="Arial"/>
                          <a:cs typeface="Arial"/>
                        </a:rPr>
                        <a:t>Architecture</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1875" b="1">
                          <a:solidFill>
                            <a:srgbClr val="FFFFFF"/>
                          </a:solidFill>
                          <a:latin typeface="Arial"/>
                          <a:ea typeface="Arial"/>
                          <a:cs typeface="Arial"/>
                        </a:rPr>
                        <a:t>Main change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1875" b="1">
                          <a:solidFill>
                            <a:srgbClr val="FFFFFF"/>
                          </a:solidFill>
                          <a:latin typeface="Arial"/>
                          <a:ea typeface="Arial"/>
                          <a:cs typeface="Arial"/>
                        </a:rPr>
                        <a:t>Parameters</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714375">
                <a:tc>
                  <a:txBody>
                    <a:bodyPr/>
                    <a:lstStyle/>
                    <a:p>
                      <a:r>
                        <a:rPr sz="1875" b="0">
                          <a:solidFill>
                            <a:srgbClr val="142C45"/>
                          </a:solidFill>
                          <a:latin typeface="Arial"/>
                          <a:ea typeface="Arial"/>
                          <a:cs typeface="Arial"/>
                        </a:rPr>
                        <a:t>Vanilla</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Independent gates</a:t>
                      </a:r>
                    </a:p>
                  </a:txBody>
                  <a:tcPr marL="91440" marR="91440" marT="45720" marB="45720">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801,219</a:t>
                      </a:r>
                    </a:p>
                  </a:txBody>
                  <a:tcPr marL="91440" marR="91440" marT="45720" marB="45720">
                    <a:lnR w="5715">
                      <a:solidFill>
                        <a:srgbClr val="D9E3E9"/>
                      </a:solidFill>
                    </a:lnR>
                    <a:lnB w="5715">
                      <a:solidFill>
                        <a:srgbClr val="D9E3E9"/>
                      </a:solidFill>
                    </a:lnB>
                    <a:solidFill>
                      <a:srgbClr val="EDF3F6"/>
                    </a:solidFill>
                  </a:tcPr>
                </a:tc>
              </a:tr>
              <a:tr h="714375">
                <a:tc>
                  <a:txBody>
                    <a:bodyPr/>
                    <a:lstStyle/>
                    <a:p>
                      <a:r>
                        <a:rPr sz="1875" b="0">
                          <a:solidFill>
                            <a:srgbClr val="142C45"/>
                          </a:solidFill>
                          <a:latin typeface="Arial"/>
                          <a:ea typeface="Arial"/>
                          <a:cs typeface="Arial"/>
                        </a:rPr>
                        <a:t>CIFG</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Input gate i = 1 - f</a:t>
                      </a:r>
                    </a:p>
                  </a:txBody>
                  <a:tcPr marL="91440" marR="91440" marT="45720" marB="45720">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792,963</a:t>
                      </a:r>
                    </a:p>
                  </a:txBody>
                  <a:tcPr marL="91440" marR="91440" marT="45720" marB="45720">
                    <a:lnR w="5715">
                      <a:solidFill>
                        <a:srgbClr val="D9E3E9"/>
                      </a:solidFill>
                    </a:lnR>
                    <a:lnB w="5715">
                      <a:solidFill>
                        <a:srgbClr val="D9E3E9"/>
                      </a:solidFill>
                    </a:lnB>
                    <a:solidFill>
                      <a:srgbClr val="FFFFFF"/>
                    </a:solidFill>
                  </a:tcPr>
                </a:tc>
              </a:tr>
              <a:tr h="714375">
                <a:tc>
                  <a:txBody>
                    <a:bodyPr/>
                    <a:lstStyle/>
                    <a:p>
                      <a:r>
                        <a:rPr sz="1875" b="0">
                          <a:solidFill>
                            <a:srgbClr val="142C45"/>
                          </a:solidFill>
                          <a:latin typeface="Arial"/>
                          <a:ea typeface="Arial"/>
                          <a:cs typeface="Arial"/>
                        </a:rPr>
                        <a:t>WMC</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Direct memory-to-gate connections</a:t>
                      </a:r>
                    </a:p>
                  </a:txBody>
                  <a:tcPr marL="91440" marR="91440" marT="45720" marB="45720">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813,507</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15CE3DB0-B3CC-4189-8DD6-022AFEDE95A9}"/>
              </a:ext>
            </a:extLst>
          </p:cNvPr>
          <p:cNvSpPr>
            <a:spLocks xmlns:a="http://schemas.openxmlformats.org/drawingml/2006/main" noGrp="1"/>
          </p:cNvSpPr>
          <p:nvPr/>
        </p:nvSpPr>
        <p:spPr>
          <a:xfrm xmlns:a="http://schemas.openxmlformats.org/drawingml/2006/main">
            <a:off x="647700" y="53340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C45"/>
                </a:solidFill>
                <a:latin typeface="Arial"/>
                <a:ea typeface="Arial"/>
                <a:cs typeface="Arial"/>
              </a:defRPr>
            </a:defPPr>
            <a:lvl1pPr>
              <a:defRPr sz="2025" b="0">
                <a:solidFill>
                  <a:srgbClr val="142C45"/>
                </a:solidFill>
                <a:latin typeface="Arial"/>
                <a:ea typeface="Arial"/>
                <a:cs typeface="Arial"/>
              </a:defRPr>
            </a:lvl1pPr>
            <a:lvl2pPr>
              <a:defRPr sz="2025" b="0">
                <a:solidFill>
                  <a:srgbClr val="142C45"/>
                </a:solidFill>
                <a:latin typeface="Arial"/>
                <a:ea typeface="Arial"/>
                <a:cs typeface="Arial"/>
              </a:defRPr>
            </a:lvl2pPr>
            <a:lvl3pPr>
              <a:defRPr sz="2025" b="0">
                <a:solidFill>
                  <a:srgbClr val="142C45"/>
                </a:solidFill>
                <a:latin typeface="Arial"/>
                <a:ea typeface="Arial"/>
                <a:cs typeface="Arial"/>
              </a:defRPr>
            </a:lvl3pPr>
            <a:lvl4pPr>
              <a:defRPr sz="2025" b="0">
                <a:solidFill>
                  <a:srgbClr val="142C45"/>
                </a:solidFill>
                <a:latin typeface="Arial"/>
                <a:ea typeface="Arial"/>
                <a:cs typeface="Arial"/>
              </a:defRPr>
            </a:lvl4pPr>
            <a:lvl5pPr>
              <a:defRPr sz="2025" b="0">
                <a:solidFill>
                  <a:srgbClr val="142C45"/>
                </a:solidFill>
                <a:latin typeface="Arial"/>
                <a:ea typeface="Arial"/>
                <a:cs typeface="Arial"/>
              </a:defRPr>
            </a:lvl5pPr>
            <a:lvl6pPr>
              <a:defRPr sz="2025" b="0">
                <a:solidFill>
                  <a:srgbClr val="142C45"/>
                </a:solidFill>
                <a:latin typeface="Arial"/>
                <a:ea typeface="Arial"/>
                <a:cs typeface="Arial"/>
              </a:defRPr>
            </a:lvl6pPr>
            <a:lvl7pPr>
              <a:defRPr sz="2025" b="0">
                <a:solidFill>
                  <a:srgbClr val="142C45"/>
                </a:solidFill>
                <a:latin typeface="Arial"/>
                <a:ea typeface="Arial"/>
                <a:cs typeface="Arial"/>
              </a:defRPr>
            </a:lvl7pPr>
            <a:lvl8pPr>
              <a:defRPr sz="2025" b="0">
                <a:solidFill>
                  <a:srgbClr val="142C45"/>
                </a:solidFill>
                <a:latin typeface="Arial"/>
                <a:ea typeface="Arial"/>
                <a:cs typeface="Arial"/>
              </a:defRPr>
            </a:lvl8pPr>
            <a:lvl9pPr>
              <a:defRPr sz="2025" b="0">
                <a:solidFill>
                  <a:srgbClr val="142C45"/>
                </a:solidFill>
                <a:latin typeface="Arial"/>
                <a:ea typeface="Arial"/>
                <a:cs typeface="Arial"/>
              </a:defRPr>
            </a:lvl9pPr>
          </a:lstStyle>
          <a:p xmlns:a="http://schemas.openxmlformats.org/drawingml/2006/main">
            <a:pPr>
              <a:defRPr sz="2025" b="0">
                <a:solidFill>
                  <a:srgbClr val="142C45"/>
                </a:solidFill>
                <a:latin typeface="Arial"/>
                <a:ea typeface="Arial"/>
                <a:cs typeface="Arial"/>
              </a:defRPr>
            </a:pPr>
            <a:r>
              <a:rPr sz="2025" b="0">
                <a:solidFill>
                  <a:srgbClr val="142C45"/>
                </a:solidFill>
                <a:latin typeface="Arial"/>
                <a:ea typeface="Arial"/>
                <a:cs typeface="Arial"/>
              </a:rPr>
              <a:t>The shared Embedding accounts for 768,000 stored values.</a:t>
            </a:r>
          </a:p>
        </p:txBody>
      </p:sp>
    </p:spTree>
    <p:extLst>
      <p:ext uri="{BB962C8B-B14F-4D97-AF65-F5344CB8AC3E}">
        <p14:creationId xmlns:p14="http://schemas.microsoft.com/office/powerpoint/2010/main" val="170258402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3EFBA2-776B-4EAF-B1F1-74DD635F9AF5}"/>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A shared training and evaluation protocol</a:t>
            </a:r>
          </a:p>
        </p:txBody>
      </p:sp>
      <p:sp>
        <p:nvSpPr>
          <p:cNvPr id="3" name="">
            <a:extLst xmlns:a="http://schemas.openxmlformats.org/drawingml/2006/main">
              <a:ext uri="{FF2B5EF4-FFF2-40B4-BE49-F238E27FC236}">
                <a16:creationId xmlns:a16="http://schemas.microsoft.com/office/drawing/2014/main" id="{F766446C-C6EF-4AA3-A585-7B53FC766133}"/>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A8D9AD30-2192-4321-9B42-982C61DEBEC9}"/>
              </a:ext>
            </a:extLst>
          </p:cNvPr>
          <p:cNvGraphicFramePr/>
          <p:nvPr/>
        </p:nvGraphicFramePr>
        <p:xfrm>
          <a:off xmlns:a="http://schemas.openxmlformats.org/drawingml/2006/main" x="647700" y="1571625"/>
          <a:ext xmlns:a="http://schemas.openxmlformats.org/drawingml/2006/main" cx="10896600" cy="3429000"/>
        </p:xfrm>
        <a:graphic xmlns:a="http://schemas.openxmlformats.org/drawingml/2006/main">
          <a:graphicData uri="http://schemas.openxmlformats.org/drawingml/2006/table">
            <a:tbl>
              <a:tblPr/>
              <a:tblGrid>
                <a:gridCol w="3905250"/>
                <a:gridCol w="6991350"/>
              </a:tblGrid>
              <a:tr h="571500">
                <a:tc>
                  <a:txBody>
                    <a:bodyPr/>
                    <a:lstStyle/>
                    <a:p>
                      <a:r>
                        <a:rPr sz="1875" b="1">
                          <a:solidFill>
                            <a:srgbClr val="FFFFFF"/>
                          </a:solidFill>
                          <a:latin typeface="Arial"/>
                          <a:ea typeface="Arial"/>
                          <a:cs typeface="Arial"/>
                        </a:rPr>
                        <a:t>Setting</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1875" b="1">
                          <a:solidFill>
                            <a:srgbClr val="FFFFFF"/>
                          </a:solidFill>
                          <a:latin typeface="Arial"/>
                          <a:ea typeface="Arial"/>
                          <a:cs typeface="Arial"/>
                        </a:rPr>
                        <a:t>Value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571500">
                <a:tc>
                  <a:txBody>
                    <a:bodyPr/>
                    <a:lstStyle/>
                    <a:p>
                      <a:r>
                        <a:rPr sz="1875" b="0">
                          <a:solidFill>
                            <a:srgbClr val="142C45"/>
                          </a:solidFill>
                          <a:latin typeface="Arial"/>
                          <a:ea typeface="Arial"/>
                          <a:cs typeface="Arial"/>
                        </a:rPr>
                        <a:t>Epochs / seed</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4 / 42</a:t>
                      </a:r>
                    </a:p>
                  </a:txBody>
                  <a:tcPr marL="91440" marR="91440" marT="45720" marB="45720">
                    <a:lnR w="5715">
                      <a:solidFill>
                        <a:srgbClr val="D9E3E9"/>
                      </a:solidFill>
                    </a:lnR>
                    <a:lnB w="5715">
                      <a:solidFill>
                        <a:srgbClr val="D9E3E9"/>
                      </a:solidFill>
                    </a:lnB>
                    <a:solidFill>
                      <a:srgbClr val="EDF3F6"/>
                    </a:solidFill>
                  </a:tcPr>
                </a:tc>
              </a:tr>
              <a:tr h="571500">
                <a:tc>
                  <a:txBody>
                    <a:bodyPr/>
                    <a:lstStyle/>
                    <a:p>
                      <a:r>
                        <a:rPr sz="1875" b="0">
                          <a:solidFill>
                            <a:srgbClr val="142C45"/>
                          </a:solidFill>
                          <a:latin typeface="Arial"/>
                          <a:ea typeface="Arial"/>
                          <a:cs typeface="Arial"/>
                        </a:rPr>
                        <a:t>Optimizer / loss</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Adam / weighted cross entropy</a:t>
                      </a:r>
                    </a:p>
                  </a:txBody>
                  <a:tcPr marL="91440" marR="91440" marT="45720" marB="45720">
                    <a:lnR w="5715">
                      <a:solidFill>
                        <a:srgbClr val="D9E3E9"/>
                      </a:solidFill>
                    </a:lnR>
                    <a:lnB w="5715">
                      <a:solidFill>
                        <a:srgbClr val="D9E3E9"/>
                      </a:solidFill>
                    </a:lnB>
                    <a:solidFill>
                      <a:srgbClr val="FFFFFF"/>
                    </a:solidFill>
                  </a:tcPr>
                </a:tc>
              </a:tr>
              <a:tr h="571500">
                <a:tc>
                  <a:txBody>
                    <a:bodyPr/>
                    <a:lstStyle/>
                    <a:p>
                      <a:r>
                        <a:rPr sz="1875" b="0">
                          <a:solidFill>
                            <a:srgbClr val="142C45"/>
                          </a:solidFill>
                          <a:latin typeface="Arial"/>
                          <a:ea typeface="Arial"/>
                          <a:cs typeface="Arial"/>
                        </a:rPr>
                        <a:t>Vocabulary / sequence limit</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12,000 / 128 tokens</a:t>
                      </a:r>
                    </a:p>
                  </a:txBody>
                  <a:tcPr marL="91440" marR="91440" marT="45720" marB="45720">
                    <a:lnR w="5715">
                      <a:solidFill>
                        <a:srgbClr val="D9E3E9"/>
                      </a:solidFill>
                    </a:lnR>
                    <a:lnB w="5715">
                      <a:solidFill>
                        <a:srgbClr val="D9E3E9"/>
                      </a:solidFill>
                    </a:lnB>
                    <a:solidFill>
                      <a:srgbClr val="EDF3F6"/>
                    </a:solidFill>
                  </a:tcPr>
                </a:tc>
              </a:tr>
              <a:tr h="571500">
                <a:tc>
                  <a:txBody>
                    <a:bodyPr/>
                    <a:lstStyle/>
                    <a:p>
                      <a:r>
                        <a:rPr sz="1875" b="0">
                          <a:solidFill>
                            <a:srgbClr val="142C45"/>
                          </a:solidFill>
                          <a:latin typeface="Arial"/>
                          <a:ea typeface="Arial"/>
                          <a:cs typeface="Arial"/>
                        </a:rPr>
                        <a:t>Learning rate and batch size</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875" b="0">
                          <a:solidFill>
                            <a:srgbClr val="142C45"/>
                          </a:solidFill>
                          <a:latin typeface="Arial"/>
                          <a:ea typeface="Arial"/>
                          <a:cs typeface="Arial"/>
                        </a:rPr>
                        <a:t>0.001 / 128, 0.003 / 128, 0.001 / 64</a:t>
                      </a:r>
                    </a:p>
                  </a:txBody>
                  <a:tcPr marL="91440" marR="91440" marT="45720" marB="45720">
                    <a:lnR w="5715">
                      <a:solidFill>
                        <a:srgbClr val="D9E3E9"/>
                      </a:solidFill>
                    </a:lnR>
                    <a:lnB w="5715">
                      <a:solidFill>
                        <a:srgbClr val="D9E3E9"/>
                      </a:solidFill>
                    </a:lnB>
                    <a:solidFill>
                      <a:srgbClr val="FFFFFF"/>
                    </a:solidFill>
                  </a:tcPr>
                </a:tc>
              </a:tr>
              <a:tr h="571500">
                <a:tc>
                  <a:txBody>
                    <a:bodyPr/>
                    <a:lstStyle/>
                    <a:p>
                      <a:r>
                        <a:rPr sz="1875" b="0">
                          <a:solidFill>
                            <a:srgbClr val="142C45"/>
                          </a:solidFill>
                          <a:latin typeface="Arial"/>
                          <a:ea typeface="Arial"/>
                          <a:cs typeface="Arial"/>
                        </a:rPr>
                        <a:t>Selection metric</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875" b="0">
                          <a:solidFill>
                            <a:srgbClr val="142C45"/>
                          </a:solidFill>
                          <a:latin typeface="Arial"/>
                          <a:ea typeface="Arial"/>
                          <a:cs typeface="Arial"/>
                        </a:rPr>
                        <a:t>Validation macro-F1</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A32445F2-13BD-418A-B7A8-6FFBD74404B8}"/>
              </a:ext>
            </a:extLst>
          </p:cNvPr>
          <p:cNvSpPr>
            <a:spLocks xmlns:a="http://schemas.openxmlformats.org/drawingml/2006/main" noGrp="1"/>
          </p:cNvSpPr>
          <p:nvPr/>
        </p:nvSpPr>
        <p:spPr>
          <a:xfrm xmlns:a="http://schemas.openxmlformats.org/drawingml/2006/main">
            <a:off x="647700" y="5476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C45"/>
                </a:solidFill>
                <a:latin typeface="Arial"/>
                <a:ea typeface="Arial"/>
                <a:cs typeface="Arial"/>
              </a:defRPr>
            </a:defPPr>
            <a:lvl1pPr>
              <a:defRPr sz="1875" b="0">
                <a:solidFill>
                  <a:srgbClr val="142C45"/>
                </a:solidFill>
                <a:latin typeface="Arial"/>
                <a:ea typeface="Arial"/>
                <a:cs typeface="Arial"/>
              </a:defRPr>
            </a:lvl1pPr>
            <a:lvl2pPr>
              <a:defRPr sz="1875" b="0">
                <a:solidFill>
                  <a:srgbClr val="142C45"/>
                </a:solidFill>
                <a:latin typeface="Arial"/>
                <a:ea typeface="Arial"/>
                <a:cs typeface="Arial"/>
              </a:defRPr>
            </a:lvl2pPr>
            <a:lvl3pPr>
              <a:defRPr sz="1875" b="0">
                <a:solidFill>
                  <a:srgbClr val="142C45"/>
                </a:solidFill>
                <a:latin typeface="Arial"/>
                <a:ea typeface="Arial"/>
                <a:cs typeface="Arial"/>
              </a:defRPr>
            </a:lvl3pPr>
            <a:lvl4pPr>
              <a:defRPr sz="1875" b="0">
                <a:solidFill>
                  <a:srgbClr val="142C45"/>
                </a:solidFill>
                <a:latin typeface="Arial"/>
                <a:ea typeface="Arial"/>
                <a:cs typeface="Arial"/>
              </a:defRPr>
            </a:lvl4pPr>
            <a:lvl5pPr>
              <a:defRPr sz="1875" b="0">
                <a:solidFill>
                  <a:srgbClr val="142C45"/>
                </a:solidFill>
                <a:latin typeface="Arial"/>
                <a:ea typeface="Arial"/>
                <a:cs typeface="Arial"/>
              </a:defRPr>
            </a:lvl5pPr>
            <a:lvl6pPr>
              <a:defRPr sz="1875" b="0">
                <a:solidFill>
                  <a:srgbClr val="142C45"/>
                </a:solidFill>
                <a:latin typeface="Arial"/>
                <a:ea typeface="Arial"/>
                <a:cs typeface="Arial"/>
              </a:defRPr>
            </a:lvl6pPr>
            <a:lvl7pPr>
              <a:defRPr sz="1875" b="0">
                <a:solidFill>
                  <a:srgbClr val="142C45"/>
                </a:solidFill>
                <a:latin typeface="Arial"/>
                <a:ea typeface="Arial"/>
                <a:cs typeface="Arial"/>
              </a:defRPr>
            </a:lvl7pPr>
            <a:lvl8pPr>
              <a:defRPr sz="1875" b="0">
                <a:solidFill>
                  <a:srgbClr val="142C45"/>
                </a:solidFill>
                <a:latin typeface="Arial"/>
                <a:ea typeface="Arial"/>
                <a:cs typeface="Arial"/>
              </a:defRPr>
            </a:lvl8pPr>
            <a:lvl9pPr>
              <a:defRPr sz="1875" b="0">
                <a:solidFill>
                  <a:srgbClr val="142C45"/>
                </a:solidFill>
                <a:latin typeface="Arial"/>
                <a:ea typeface="Arial"/>
                <a:cs typeface="Arial"/>
              </a:defRPr>
            </a:lvl9pPr>
          </a:lstStyle>
          <a:p xmlns:a="http://schemas.openxmlformats.org/drawingml/2006/main">
            <a:pPr>
              <a:defRPr sz="1875" b="0">
                <a:solidFill>
                  <a:srgbClr val="142C45"/>
                </a:solidFill>
                <a:latin typeface="Arial"/>
                <a:ea typeface="Arial"/>
                <a:cs typeface="Arial"/>
              </a:defRPr>
            </a:pPr>
            <a:r>
              <a:rPr sz="1875" b="0">
                <a:solidFill>
                  <a:srgbClr val="142C45"/>
                </a:solidFill>
                <a:latin typeface="Arial"/>
                <a:ea typeface="Arial"/>
                <a:cs typeface="Arial"/>
              </a:rPr>
              <a:t>33.36% of full training-pool reviews exceed the 128-token limit.</a:t>
            </a:r>
          </a:p>
        </p:txBody>
      </p:sp>
    </p:spTree>
    <p:extLst>
      <p:ext uri="{BB962C8B-B14F-4D97-AF65-F5344CB8AC3E}">
        <p14:creationId xmlns:p14="http://schemas.microsoft.com/office/powerpoint/2010/main" val="1180477045"/>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C66D61-4ECF-4799-B4CA-7F57FBF54938}"/>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Validation results across nine runs</a:t>
            </a:r>
          </a:p>
        </p:txBody>
      </p:sp>
      <p:sp>
        <p:nvSpPr>
          <p:cNvPr id="3" name="">
            <a:extLst xmlns:a="http://schemas.openxmlformats.org/drawingml/2006/main">
              <a:ext uri="{FF2B5EF4-FFF2-40B4-BE49-F238E27FC236}">
                <a16:creationId xmlns:a16="http://schemas.microsoft.com/office/drawing/2014/main" id="{F001C914-3C2E-4E24-BECA-7952F22F78E7}"/>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ACDA2C5F-20AE-4265-BBCF-C382AC8671FB}"/>
              </a:ext>
            </a:extLst>
          </p:cNvPr>
          <p:cNvGraphicFramePr/>
          <p:nvPr/>
        </p:nvGraphicFramePr>
        <p:xfrm>
          <a:off xmlns:a="http://schemas.openxmlformats.org/drawingml/2006/main" x="647700" y="1428750"/>
          <a:ext xmlns:a="http://schemas.openxmlformats.org/drawingml/2006/main" cx="10896600" cy="4191000"/>
        </p:xfrm>
        <a:graphic xmlns:a="http://schemas.openxmlformats.org/drawingml/2006/main">
          <a:graphicData uri="http://schemas.openxmlformats.org/drawingml/2006/table">
            <a:tbl>
              <a:tblPr/>
              <a:tblGrid>
                <a:gridCol w="2381250"/>
                <a:gridCol w="2286000"/>
                <a:gridCol w="1714500"/>
                <a:gridCol w="4514850"/>
              </a:tblGrid>
              <a:tr h="419100">
                <a:tc>
                  <a:txBody>
                    <a:bodyPr/>
                    <a:lstStyle/>
                    <a:p>
                      <a:r>
                        <a:rPr sz="1725" b="1">
                          <a:solidFill>
                            <a:srgbClr val="FFFFFF"/>
                          </a:solidFill>
                          <a:latin typeface="Arial"/>
                          <a:ea typeface="Arial"/>
                          <a:cs typeface="Arial"/>
                        </a:rPr>
                        <a:t>Cell</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1725" b="1">
                          <a:solidFill>
                            <a:srgbClr val="FFFFFF"/>
                          </a:solidFill>
                          <a:latin typeface="Arial"/>
                          <a:ea typeface="Arial"/>
                          <a:cs typeface="Arial"/>
                        </a:rPr>
                        <a:t>Learning rate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1725" b="1">
                          <a:solidFill>
                            <a:srgbClr val="FFFFFF"/>
                          </a:solidFill>
                          <a:latin typeface="Arial"/>
                          <a:ea typeface="Arial"/>
                          <a:cs typeface="Arial"/>
                        </a:rPr>
                        <a:t>Batch</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1725" b="1">
                          <a:solidFill>
                            <a:srgbClr val="FFFFFF"/>
                          </a:solidFill>
                          <a:latin typeface="Arial"/>
                          <a:ea typeface="Arial"/>
                          <a:cs typeface="Arial"/>
                        </a:rPr>
                        <a:t>Best validation F1</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419100">
                <a:tc>
                  <a:txBody>
                    <a:bodyPr/>
                    <a:lstStyle/>
                    <a:p>
                      <a:r>
                        <a:rPr sz="1725" b="0">
                          <a:solidFill>
                            <a:srgbClr val="142C45"/>
                          </a:solidFill>
                          <a:latin typeface="Arial"/>
                          <a:ea typeface="Arial"/>
                          <a:cs typeface="Arial"/>
                        </a:rPr>
                        <a:t>VANILLA</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0.4820</a:t>
                      </a:r>
                    </a:p>
                  </a:txBody>
                  <a:tcPr marL="91440" marR="91440" marT="45720" marB="45720">
                    <a:lnR w="5715">
                      <a:solidFill>
                        <a:srgbClr val="D9E3E9"/>
                      </a:solidFill>
                    </a:lnR>
                    <a:lnB w="5715">
                      <a:solidFill>
                        <a:srgbClr val="D9E3E9"/>
                      </a:solidFill>
                    </a:lnB>
                    <a:solidFill>
                      <a:srgbClr val="EDF3F6"/>
                    </a:solidFill>
                  </a:tcPr>
                </a:tc>
              </a:tr>
              <a:tr h="419100">
                <a:tc>
                  <a:txBody>
                    <a:bodyPr/>
                    <a:lstStyle/>
                    <a:p>
                      <a:r>
                        <a:rPr sz="1725" b="0">
                          <a:solidFill>
                            <a:srgbClr val="142C45"/>
                          </a:solidFill>
                          <a:latin typeface="Arial"/>
                          <a:ea typeface="Arial"/>
                          <a:cs typeface="Arial"/>
                        </a:rPr>
                        <a:t>VANILLA</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0.003</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0.5050</a:t>
                      </a:r>
                    </a:p>
                  </a:txBody>
                  <a:tcPr marL="91440" marR="91440" marT="45720" marB="45720">
                    <a:lnR w="5715">
                      <a:solidFill>
                        <a:srgbClr val="D9E3E9"/>
                      </a:solidFill>
                    </a:lnR>
                    <a:lnB w="5715">
                      <a:solidFill>
                        <a:srgbClr val="D9E3E9"/>
                      </a:solidFill>
                    </a:lnB>
                    <a:solidFill>
                      <a:srgbClr val="FFFFFF"/>
                    </a:solidFill>
                  </a:tcPr>
                </a:tc>
              </a:tr>
              <a:tr h="419100">
                <a:tc>
                  <a:txBody>
                    <a:bodyPr/>
                    <a:lstStyle/>
                    <a:p>
                      <a:r>
                        <a:rPr sz="1725" b="0">
                          <a:solidFill>
                            <a:srgbClr val="142C45"/>
                          </a:solidFill>
                          <a:latin typeface="Arial"/>
                          <a:ea typeface="Arial"/>
                          <a:cs typeface="Arial"/>
                        </a:rPr>
                        <a:t>VANILLA</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64</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0.4817</a:t>
                      </a:r>
                    </a:p>
                  </a:txBody>
                  <a:tcPr marL="91440" marR="91440" marT="45720" marB="45720">
                    <a:lnR w="5715">
                      <a:solidFill>
                        <a:srgbClr val="D9E3E9"/>
                      </a:solidFill>
                    </a:lnR>
                    <a:lnB w="5715">
                      <a:solidFill>
                        <a:srgbClr val="D9E3E9"/>
                      </a:solidFill>
                    </a:lnB>
                    <a:solidFill>
                      <a:srgbClr val="EDF3F6"/>
                    </a:solidFill>
                  </a:tcPr>
                </a:tc>
              </a:tr>
              <a:tr h="419100">
                <a:tc>
                  <a:txBody>
                    <a:bodyPr/>
                    <a:lstStyle/>
                    <a:p>
                      <a:r>
                        <a:rPr sz="1725" b="0">
                          <a:solidFill>
                            <a:srgbClr val="142C45"/>
                          </a:solidFill>
                          <a:latin typeface="Arial"/>
                          <a:ea typeface="Arial"/>
                          <a:cs typeface="Arial"/>
                        </a:rPr>
                        <a:t>CIFG</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0.4763</a:t>
                      </a:r>
                    </a:p>
                  </a:txBody>
                  <a:tcPr marL="91440" marR="91440" marT="45720" marB="45720">
                    <a:lnR w="5715">
                      <a:solidFill>
                        <a:srgbClr val="D9E3E9"/>
                      </a:solidFill>
                    </a:lnR>
                    <a:lnB w="5715">
                      <a:solidFill>
                        <a:srgbClr val="D9E3E9"/>
                      </a:solidFill>
                    </a:lnB>
                    <a:solidFill>
                      <a:srgbClr val="FFFFFF"/>
                    </a:solidFill>
                  </a:tcPr>
                </a:tc>
              </a:tr>
              <a:tr h="419100">
                <a:tc>
                  <a:txBody>
                    <a:bodyPr/>
                    <a:lstStyle/>
                    <a:p>
                      <a:r>
                        <a:rPr sz="1725" b="0">
                          <a:solidFill>
                            <a:srgbClr val="142C45"/>
                          </a:solidFill>
                          <a:latin typeface="Arial"/>
                          <a:ea typeface="Arial"/>
                          <a:cs typeface="Arial"/>
                        </a:rPr>
                        <a:t>CIFG</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0.003</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0.5246</a:t>
                      </a:r>
                    </a:p>
                  </a:txBody>
                  <a:tcPr marL="91440" marR="91440" marT="45720" marB="45720">
                    <a:lnR w="5715">
                      <a:solidFill>
                        <a:srgbClr val="D9E3E9"/>
                      </a:solidFill>
                    </a:lnR>
                    <a:lnB w="5715">
                      <a:solidFill>
                        <a:srgbClr val="D9E3E9"/>
                      </a:solidFill>
                    </a:lnB>
                    <a:solidFill>
                      <a:srgbClr val="EDF3F6"/>
                    </a:solidFill>
                  </a:tcPr>
                </a:tc>
              </a:tr>
              <a:tr h="419100">
                <a:tc>
                  <a:txBody>
                    <a:bodyPr/>
                    <a:lstStyle/>
                    <a:p>
                      <a:r>
                        <a:rPr sz="1725" b="0">
                          <a:solidFill>
                            <a:srgbClr val="142C45"/>
                          </a:solidFill>
                          <a:latin typeface="Arial"/>
                          <a:ea typeface="Arial"/>
                          <a:cs typeface="Arial"/>
                        </a:rPr>
                        <a:t>CIFG</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64</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0.4868</a:t>
                      </a:r>
                    </a:p>
                  </a:txBody>
                  <a:tcPr marL="91440" marR="91440" marT="45720" marB="45720">
                    <a:lnR w="5715">
                      <a:solidFill>
                        <a:srgbClr val="D9E3E9"/>
                      </a:solidFill>
                    </a:lnR>
                    <a:lnB w="5715">
                      <a:solidFill>
                        <a:srgbClr val="D9E3E9"/>
                      </a:solidFill>
                    </a:lnB>
                    <a:solidFill>
                      <a:srgbClr val="FFFFFF"/>
                    </a:solidFill>
                  </a:tcPr>
                </a:tc>
              </a:tr>
              <a:tr h="419100">
                <a:tc>
                  <a:txBody>
                    <a:bodyPr/>
                    <a:lstStyle/>
                    <a:p>
                      <a:r>
                        <a:rPr sz="1725" b="0">
                          <a:solidFill>
                            <a:srgbClr val="142C45"/>
                          </a:solidFill>
                          <a:latin typeface="Arial"/>
                          <a:ea typeface="Arial"/>
                          <a:cs typeface="Arial"/>
                        </a:rPr>
                        <a:t>WMC</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0.4934</a:t>
                      </a:r>
                    </a:p>
                  </a:txBody>
                  <a:tcPr marL="91440" marR="91440" marT="45720" marB="45720">
                    <a:lnR w="5715">
                      <a:solidFill>
                        <a:srgbClr val="D9E3E9"/>
                      </a:solidFill>
                    </a:lnR>
                    <a:lnB w="5715">
                      <a:solidFill>
                        <a:srgbClr val="D9E3E9"/>
                      </a:solidFill>
                    </a:lnB>
                    <a:solidFill>
                      <a:srgbClr val="EDF3F6"/>
                    </a:solidFill>
                  </a:tcPr>
                </a:tc>
              </a:tr>
              <a:tr h="419100">
                <a:tc>
                  <a:txBody>
                    <a:bodyPr/>
                    <a:lstStyle/>
                    <a:p>
                      <a:r>
                        <a:rPr sz="1725" b="0">
                          <a:solidFill>
                            <a:srgbClr val="142C45"/>
                          </a:solidFill>
                          <a:latin typeface="Arial"/>
                          <a:ea typeface="Arial"/>
                          <a:cs typeface="Arial"/>
                        </a:rPr>
                        <a:t>WMC</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0.003</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FFFFFF"/>
                    </a:solidFill>
                  </a:tcPr>
                </a:tc>
                <a:tc>
                  <a:txBody>
                    <a:bodyPr/>
                    <a:lstStyle/>
                    <a:p>
                      <a:r>
                        <a:rPr sz="1725" b="0">
                          <a:solidFill>
                            <a:srgbClr val="142C45"/>
                          </a:solidFill>
                          <a:latin typeface="Arial"/>
                          <a:ea typeface="Arial"/>
                          <a:cs typeface="Arial"/>
                        </a:rPr>
                        <a:t>0.4843</a:t>
                      </a:r>
                    </a:p>
                  </a:txBody>
                  <a:tcPr marL="91440" marR="91440" marT="45720" marB="45720">
                    <a:lnR w="5715">
                      <a:solidFill>
                        <a:srgbClr val="D9E3E9"/>
                      </a:solidFill>
                    </a:lnR>
                    <a:lnB w="5715">
                      <a:solidFill>
                        <a:srgbClr val="D9E3E9"/>
                      </a:solidFill>
                    </a:lnB>
                    <a:solidFill>
                      <a:srgbClr val="FFFFFF"/>
                    </a:solidFill>
                  </a:tcPr>
                </a:tc>
              </a:tr>
              <a:tr h="419100">
                <a:tc>
                  <a:txBody>
                    <a:bodyPr/>
                    <a:lstStyle/>
                    <a:p>
                      <a:r>
                        <a:rPr sz="1725" b="0">
                          <a:solidFill>
                            <a:srgbClr val="142C45"/>
                          </a:solidFill>
                          <a:latin typeface="Arial"/>
                          <a:ea typeface="Arial"/>
                          <a:cs typeface="Arial"/>
                        </a:rPr>
                        <a:t>WMC</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0.001</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64</a:t>
                      </a:r>
                    </a:p>
                  </a:txBody>
                  <a:tcPr marL="91440" marR="91440" marT="45720" marB="45720">
                    <a:lnR w="5715">
                      <a:solidFill>
                        <a:srgbClr val="D9E3E9"/>
                      </a:solidFill>
                    </a:lnR>
                    <a:lnB w="5715">
                      <a:solidFill>
                        <a:srgbClr val="D9E3E9"/>
                      </a:solidFill>
                    </a:lnB>
                    <a:solidFill>
                      <a:srgbClr val="EDF3F6"/>
                    </a:solidFill>
                  </a:tcPr>
                </a:tc>
                <a:tc>
                  <a:txBody>
                    <a:bodyPr/>
                    <a:lstStyle/>
                    <a:p>
                      <a:r>
                        <a:rPr sz="1725" b="0">
                          <a:solidFill>
                            <a:srgbClr val="142C45"/>
                          </a:solidFill>
                          <a:latin typeface="Arial"/>
                          <a:ea typeface="Arial"/>
                          <a:cs typeface="Arial"/>
                        </a:rPr>
                        <a:t>0.4904</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C05A2A22-828D-43AC-BAF9-E06EEB1E1885}"/>
              </a:ext>
            </a:extLst>
          </p:cNvPr>
          <p:cNvSpPr>
            <a:spLocks xmlns:a="http://schemas.openxmlformats.org/drawingml/2006/main" noGrp="1"/>
          </p:cNvSpPr>
          <p:nvPr/>
        </p:nvSpPr>
        <p:spPr>
          <a:xfrm xmlns:a="http://schemas.openxmlformats.org/drawingml/2006/main">
            <a:off x="647700" y="5857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5"/>
                </a:solidFill>
                <a:latin typeface="Arial"/>
                <a:ea typeface="Arial"/>
                <a:cs typeface="Arial"/>
              </a:defRPr>
            </a:defPPr>
            <a:lvl1pPr>
              <a:defRPr sz="1950" b="0">
                <a:solidFill>
                  <a:srgbClr val="142C45"/>
                </a:solidFill>
                <a:latin typeface="Arial"/>
                <a:ea typeface="Arial"/>
                <a:cs typeface="Arial"/>
              </a:defRPr>
            </a:lvl1pPr>
            <a:lvl2pPr>
              <a:defRPr sz="1950" b="0">
                <a:solidFill>
                  <a:srgbClr val="142C45"/>
                </a:solidFill>
                <a:latin typeface="Arial"/>
                <a:ea typeface="Arial"/>
                <a:cs typeface="Arial"/>
              </a:defRPr>
            </a:lvl2pPr>
            <a:lvl3pPr>
              <a:defRPr sz="1950" b="0">
                <a:solidFill>
                  <a:srgbClr val="142C45"/>
                </a:solidFill>
                <a:latin typeface="Arial"/>
                <a:ea typeface="Arial"/>
                <a:cs typeface="Arial"/>
              </a:defRPr>
            </a:lvl3pPr>
            <a:lvl4pPr>
              <a:defRPr sz="1950" b="0">
                <a:solidFill>
                  <a:srgbClr val="142C45"/>
                </a:solidFill>
                <a:latin typeface="Arial"/>
                <a:ea typeface="Arial"/>
                <a:cs typeface="Arial"/>
              </a:defRPr>
            </a:lvl4pPr>
            <a:lvl5pPr>
              <a:defRPr sz="1950" b="0">
                <a:solidFill>
                  <a:srgbClr val="142C45"/>
                </a:solidFill>
                <a:latin typeface="Arial"/>
                <a:ea typeface="Arial"/>
                <a:cs typeface="Arial"/>
              </a:defRPr>
            </a:lvl5pPr>
            <a:lvl6pPr>
              <a:defRPr sz="1950" b="0">
                <a:solidFill>
                  <a:srgbClr val="142C45"/>
                </a:solidFill>
                <a:latin typeface="Arial"/>
                <a:ea typeface="Arial"/>
                <a:cs typeface="Arial"/>
              </a:defRPr>
            </a:lvl6pPr>
            <a:lvl7pPr>
              <a:defRPr sz="1950" b="0">
                <a:solidFill>
                  <a:srgbClr val="142C45"/>
                </a:solidFill>
                <a:latin typeface="Arial"/>
                <a:ea typeface="Arial"/>
                <a:cs typeface="Arial"/>
              </a:defRPr>
            </a:lvl7pPr>
            <a:lvl8pPr>
              <a:defRPr sz="1950" b="0">
                <a:solidFill>
                  <a:srgbClr val="142C45"/>
                </a:solidFill>
                <a:latin typeface="Arial"/>
                <a:ea typeface="Arial"/>
                <a:cs typeface="Arial"/>
              </a:defRPr>
            </a:lvl8pPr>
            <a:lvl9pPr>
              <a:defRPr sz="1950" b="0">
                <a:solidFill>
                  <a:srgbClr val="142C45"/>
                </a:solidFill>
                <a:latin typeface="Arial"/>
                <a:ea typeface="Arial"/>
                <a:cs typeface="Arial"/>
              </a:defRPr>
            </a:lvl9pPr>
          </a:lstStyle>
          <a:p xmlns:a="http://schemas.openxmlformats.org/drawingml/2006/main">
            <a:pPr>
              <a:defRPr sz="1950" b="0">
                <a:solidFill>
                  <a:srgbClr val="142C45"/>
                </a:solidFill>
                <a:latin typeface="Arial"/>
                <a:ea typeface="Arial"/>
                <a:cs typeface="Arial"/>
              </a:defRPr>
            </a:pPr>
            <a:r>
              <a:rPr sz="1950" b="0">
                <a:solidFill>
                  <a:srgbClr val="142C45"/>
                </a:solidFill>
                <a:latin typeface="Arial"/>
                <a:ea typeface="Arial"/>
                <a:cs typeface="Arial"/>
              </a:rPr>
              <a:t>CIFG leads validation with macro-F1 0.5246</a:t>
            </a:r>
          </a:p>
        </p:txBody>
      </p:sp>
    </p:spTree>
    <p:extLst>
      <p:ext uri="{BB962C8B-B14F-4D97-AF65-F5344CB8AC3E}">
        <p14:creationId xmlns:p14="http://schemas.microsoft.com/office/powerpoint/2010/main" val="446612083"/>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924D286-447D-4781-8391-1C90B46ED92B}"/>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Held-out test macro-F1</a:t>
            </a:r>
          </a:p>
        </p:txBody>
      </p:sp>
      <p:sp>
        <p:nvSpPr>
          <p:cNvPr id="3" name="">
            <a:extLst xmlns:a="http://schemas.openxmlformats.org/drawingml/2006/main">
              <a:ext uri="{FF2B5EF4-FFF2-40B4-BE49-F238E27FC236}">
                <a16:creationId xmlns:a16="http://schemas.microsoft.com/office/drawing/2014/main" id="{28631A37-F236-4115-BD1D-06B46C5A3B10}"/>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8CAC4773-7AF5-4361-AB81-38E26E2989EF}"/>
              </a:ext>
            </a:extLst>
          </p:cNvPr>
          <p:cNvGraphicFramePr/>
          <p:nvPr/>
        </p:nvGraphicFramePr>
        <p:xfrm>
          <a:off xmlns:a="http://schemas.openxmlformats.org/drawingml/2006/main" x="647700" y="1619250"/>
          <a:ext xmlns:a="http://schemas.openxmlformats.org/drawingml/2006/main" cx="10896600" cy="3714750"/>
        </p:xfrm>
        <a:graphic xmlns:a="http://schemas.openxmlformats.org/drawingml/2006/main">
          <a:graphicData uri="http://schemas.openxmlformats.org/drawingml/2006/chart">
            <c:chart xmlns:r="http://schemas.openxmlformats.org/officeDocument/2006/relationships" xmlns:c="http://schemas.openxmlformats.org/drawingml/2006/chart" r:id="Recd664aa4bd34703"/>
          </a:graphicData>
        </a:graphic>
      </p:graphicFrame>
      <p:sp>
        <p:nvSpPr>
          <p:cNvPr id="5" name="">
            <a:extLst xmlns:a="http://schemas.openxmlformats.org/drawingml/2006/main">
              <a:ext uri="{FF2B5EF4-FFF2-40B4-BE49-F238E27FC236}">
                <a16:creationId xmlns:a16="http://schemas.microsoft.com/office/drawing/2014/main" id="{1ED6E6B9-C6F4-431F-AD20-99461C10031C}"/>
              </a:ext>
            </a:extLst>
          </p:cNvPr>
          <p:cNvSpPr>
            <a:spLocks xmlns:a="http://schemas.openxmlformats.org/drawingml/2006/main" noGrp="1"/>
          </p:cNvSpPr>
          <p:nvPr/>
        </p:nvSpPr>
        <p:spPr>
          <a:xfrm xmlns:a="http://schemas.openxmlformats.org/drawingml/2006/main">
            <a:off x="647700" y="55245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C45"/>
                </a:solidFill>
                <a:latin typeface="Arial"/>
                <a:ea typeface="Arial"/>
                <a:cs typeface="Arial"/>
              </a:defRPr>
            </a:defPPr>
            <a:lvl1pPr>
              <a:defRPr sz="1800" b="0">
                <a:solidFill>
                  <a:srgbClr val="142C45"/>
                </a:solidFill>
                <a:latin typeface="Arial"/>
                <a:ea typeface="Arial"/>
                <a:cs typeface="Arial"/>
              </a:defRPr>
            </a:lvl1pPr>
            <a:lvl2pPr>
              <a:defRPr sz="1800" b="0">
                <a:solidFill>
                  <a:srgbClr val="142C45"/>
                </a:solidFill>
                <a:latin typeface="Arial"/>
                <a:ea typeface="Arial"/>
                <a:cs typeface="Arial"/>
              </a:defRPr>
            </a:lvl2pPr>
            <a:lvl3pPr>
              <a:defRPr sz="1800" b="0">
                <a:solidFill>
                  <a:srgbClr val="142C45"/>
                </a:solidFill>
                <a:latin typeface="Arial"/>
                <a:ea typeface="Arial"/>
                <a:cs typeface="Arial"/>
              </a:defRPr>
            </a:lvl3pPr>
            <a:lvl4pPr>
              <a:defRPr sz="1800" b="0">
                <a:solidFill>
                  <a:srgbClr val="142C45"/>
                </a:solidFill>
                <a:latin typeface="Arial"/>
                <a:ea typeface="Arial"/>
                <a:cs typeface="Arial"/>
              </a:defRPr>
            </a:lvl4pPr>
            <a:lvl5pPr>
              <a:defRPr sz="1800" b="0">
                <a:solidFill>
                  <a:srgbClr val="142C45"/>
                </a:solidFill>
                <a:latin typeface="Arial"/>
                <a:ea typeface="Arial"/>
                <a:cs typeface="Arial"/>
              </a:defRPr>
            </a:lvl5pPr>
            <a:lvl6pPr>
              <a:defRPr sz="1800" b="0">
                <a:solidFill>
                  <a:srgbClr val="142C45"/>
                </a:solidFill>
                <a:latin typeface="Arial"/>
                <a:ea typeface="Arial"/>
                <a:cs typeface="Arial"/>
              </a:defRPr>
            </a:lvl6pPr>
            <a:lvl7pPr>
              <a:defRPr sz="1800" b="0">
                <a:solidFill>
                  <a:srgbClr val="142C45"/>
                </a:solidFill>
                <a:latin typeface="Arial"/>
                <a:ea typeface="Arial"/>
                <a:cs typeface="Arial"/>
              </a:defRPr>
            </a:lvl7pPr>
            <a:lvl8pPr>
              <a:defRPr sz="1800" b="0">
                <a:solidFill>
                  <a:srgbClr val="142C45"/>
                </a:solidFill>
                <a:latin typeface="Arial"/>
                <a:ea typeface="Arial"/>
                <a:cs typeface="Arial"/>
              </a:defRPr>
            </a:lvl8pPr>
            <a:lvl9pPr>
              <a:defRPr sz="1800" b="0">
                <a:solidFill>
                  <a:srgbClr val="142C45"/>
                </a:solidFill>
                <a:latin typeface="Arial"/>
                <a:ea typeface="Arial"/>
                <a:cs typeface="Arial"/>
              </a:defRPr>
            </a:lvl9pPr>
          </a:lstStyle>
          <a:p xmlns:a="http://schemas.openxmlformats.org/drawingml/2006/main">
            <a:pPr>
              <a:defRPr sz="1800" b="0">
                <a:solidFill>
                  <a:srgbClr val="142C45"/>
                </a:solidFill>
                <a:latin typeface="Arial"/>
                <a:ea typeface="Arial"/>
                <a:cs typeface="Arial"/>
              </a:defRPr>
            </a:pPr>
            <a:r>
              <a:rPr sz="1800" b="0">
                <a:solidFill>
                  <a:srgbClr val="142C45"/>
                </a:solidFill>
                <a:latin typeface="Arial"/>
                <a:ea typeface="Arial"/>
                <a:cs typeface="Arial"/>
              </a:rPr>
              <a:t>VANILLA accuracy 63.27%     CIFG accuracy 63.78%     WMC accuracy 62.75%</a:t>
            </a:r>
          </a:p>
        </p:txBody>
      </p:sp>
      <p:sp>
        <p:nvSpPr>
          <p:cNvPr id="6" name="">
            <a:extLst xmlns:a="http://schemas.openxmlformats.org/drawingml/2006/main">
              <a:ext uri="{FF2B5EF4-FFF2-40B4-BE49-F238E27FC236}">
                <a16:creationId xmlns:a16="http://schemas.microsoft.com/office/drawing/2014/main" id="{29EB32E5-6CF7-4875-BCCE-1D78AE3E63DC}"/>
              </a:ext>
            </a:extLst>
          </p:cNvPr>
          <p:cNvSpPr>
            <a:spLocks xmlns:a="http://schemas.openxmlformats.org/drawingml/2006/main" noGrp="1"/>
          </p:cNvSpPr>
          <p:nvPr/>
        </p:nvSpPr>
        <p:spPr>
          <a:xfrm xmlns:a="http://schemas.openxmlformats.org/drawingml/2006/main">
            <a:off x="6477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C45"/>
                </a:solidFill>
                <a:latin typeface="Arial"/>
                <a:ea typeface="Arial"/>
                <a:cs typeface="Arial"/>
              </a:defRPr>
            </a:defPPr>
            <a:lvl1pPr>
              <a:defRPr sz="1800" b="0">
                <a:solidFill>
                  <a:srgbClr val="142C45"/>
                </a:solidFill>
                <a:latin typeface="Arial"/>
                <a:ea typeface="Arial"/>
                <a:cs typeface="Arial"/>
              </a:defRPr>
            </a:lvl1pPr>
            <a:lvl2pPr>
              <a:defRPr sz="1800" b="0">
                <a:solidFill>
                  <a:srgbClr val="142C45"/>
                </a:solidFill>
                <a:latin typeface="Arial"/>
                <a:ea typeface="Arial"/>
                <a:cs typeface="Arial"/>
              </a:defRPr>
            </a:lvl2pPr>
            <a:lvl3pPr>
              <a:defRPr sz="1800" b="0">
                <a:solidFill>
                  <a:srgbClr val="142C45"/>
                </a:solidFill>
                <a:latin typeface="Arial"/>
                <a:ea typeface="Arial"/>
                <a:cs typeface="Arial"/>
              </a:defRPr>
            </a:lvl3pPr>
            <a:lvl4pPr>
              <a:defRPr sz="1800" b="0">
                <a:solidFill>
                  <a:srgbClr val="142C45"/>
                </a:solidFill>
                <a:latin typeface="Arial"/>
                <a:ea typeface="Arial"/>
                <a:cs typeface="Arial"/>
              </a:defRPr>
            </a:lvl4pPr>
            <a:lvl5pPr>
              <a:defRPr sz="1800" b="0">
                <a:solidFill>
                  <a:srgbClr val="142C45"/>
                </a:solidFill>
                <a:latin typeface="Arial"/>
                <a:ea typeface="Arial"/>
                <a:cs typeface="Arial"/>
              </a:defRPr>
            </a:lvl5pPr>
            <a:lvl6pPr>
              <a:defRPr sz="1800" b="0">
                <a:solidFill>
                  <a:srgbClr val="142C45"/>
                </a:solidFill>
                <a:latin typeface="Arial"/>
                <a:ea typeface="Arial"/>
                <a:cs typeface="Arial"/>
              </a:defRPr>
            </a:lvl6pPr>
            <a:lvl7pPr>
              <a:defRPr sz="1800" b="0">
                <a:solidFill>
                  <a:srgbClr val="142C45"/>
                </a:solidFill>
                <a:latin typeface="Arial"/>
                <a:ea typeface="Arial"/>
                <a:cs typeface="Arial"/>
              </a:defRPr>
            </a:lvl7pPr>
            <a:lvl8pPr>
              <a:defRPr sz="1800" b="0">
                <a:solidFill>
                  <a:srgbClr val="142C45"/>
                </a:solidFill>
                <a:latin typeface="Arial"/>
                <a:ea typeface="Arial"/>
                <a:cs typeface="Arial"/>
              </a:defRPr>
            </a:lvl8pPr>
            <a:lvl9pPr>
              <a:defRPr sz="1800" b="0">
                <a:solidFill>
                  <a:srgbClr val="142C45"/>
                </a:solidFill>
                <a:latin typeface="Arial"/>
                <a:ea typeface="Arial"/>
                <a:cs typeface="Arial"/>
              </a:defRPr>
            </a:lvl9pPr>
          </a:lstStyle>
          <a:p xmlns:a="http://schemas.openxmlformats.org/drawingml/2006/main">
            <a:pPr>
              <a:defRPr sz="1800" b="0">
                <a:solidFill>
                  <a:srgbClr val="142C45"/>
                </a:solidFill>
                <a:latin typeface="Arial"/>
                <a:ea typeface="Arial"/>
                <a:cs typeface="Arial"/>
              </a:defRPr>
            </a:pPr>
            <a:r>
              <a:rPr sz="1800" b="0">
                <a:solidFill>
                  <a:srgbClr val="142C45"/>
                </a:solidFill>
                <a:latin typeface="Arial"/>
                <a:ea typeface="Arial"/>
                <a:cs typeface="Arial"/>
              </a:rPr>
              <a:t>Always-positive accuracy: 66.40%</a:t>
            </a:r>
          </a:p>
        </p:txBody>
      </p:sp>
    </p:spTree>
    <p:extLst>
      <p:ext uri="{BB962C8B-B14F-4D97-AF65-F5344CB8AC3E}">
        <p14:creationId xmlns:p14="http://schemas.microsoft.com/office/powerpoint/2010/main" val="151668071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DC35F7-DE5B-4D45-BC4A-3DA35FFFDAB9}"/>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Errors of the validation-selected CIFG model</a:t>
            </a:r>
          </a:p>
        </p:txBody>
      </p:sp>
      <p:sp>
        <p:nvSpPr>
          <p:cNvPr id="3" name="">
            <a:extLst xmlns:a="http://schemas.openxmlformats.org/drawingml/2006/main">
              <a:ext uri="{FF2B5EF4-FFF2-40B4-BE49-F238E27FC236}">
                <a16:creationId xmlns:a16="http://schemas.microsoft.com/office/drawing/2014/main" id="{1B10689F-DECB-4B3B-A630-A631919C14AC}"/>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23455E78-1B70-40D2-AD34-E321EB984163}"/>
              </a:ext>
            </a:extLst>
          </p:cNvPr>
          <p:cNvGraphicFramePr/>
          <p:nvPr/>
        </p:nvGraphicFramePr>
        <p:xfrm>
          <a:off xmlns:a="http://schemas.openxmlformats.org/drawingml/2006/main" x="647700" y="1905000"/>
          <a:ext xmlns:a="http://schemas.openxmlformats.org/drawingml/2006/main" cx="10896600" cy="2667000"/>
        </p:xfrm>
        <a:graphic xmlns:a="http://schemas.openxmlformats.org/drawingml/2006/main">
          <a:graphicData uri="http://schemas.openxmlformats.org/drawingml/2006/table">
            <a:tbl>
              <a:tblPr/>
              <a:tblGrid>
                <a:gridCol w="4095750"/>
                <a:gridCol w="2266950"/>
                <a:gridCol w="2266950"/>
                <a:gridCol w="2266950"/>
              </a:tblGrid>
              <a:tr h="666750">
                <a:tc>
                  <a:txBody>
                    <a:bodyPr/>
                    <a:lstStyle/>
                    <a:p>
                      <a:r>
                        <a:rPr sz="2100" b="1">
                          <a:solidFill>
                            <a:srgbClr val="FFFFFF"/>
                          </a:solidFill>
                          <a:latin typeface="Arial"/>
                          <a:ea typeface="Arial"/>
                          <a:cs typeface="Arial"/>
                        </a:rPr>
                        <a:t>Actual / predicted</a:t>
                      </a:r>
                    </a:p>
                  </a:txBody>
                  <a:tcPr marL="91440" marR="91440" marT="45720" marB="45720">
                    <a:lnL w="5715">
                      <a:solidFill>
                        <a:srgbClr val="D9E3E9"/>
                      </a:solidFill>
                    </a:lnL>
                    <a:lnR w="5715">
                      <a:solidFill>
                        <a:srgbClr val="D9E3E9"/>
                      </a:solidFill>
                    </a:lnR>
                    <a:lnT w="5715">
                      <a:solidFill>
                        <a:srgbClr val="D9E3E9"/>
                      </a:solidFill>
                    </a:lnT>
                    <a:lnB w="5715">
                      <a:solidFill>
                        <a:srgbClr val="D9E3E9"/>
                      </a:solidFill>
                    </a:lnB>
                    <a:solidFill>
                      <a:srgbClr val="142C45"/>
                    </a:solidFill>
                  </a:tcPr>
                </a:tc>
                <a:tc>
                  <a:txBody>
                    <a:bodyPr/>
                    <a:lstStyle/>
                    <a:p>
                      <a:r>
                        <a:rPr sz="2100" b="1">
                          <a:solidFill>
                            <a:srgbClr val="FFFFFF"/>
                          </a:solidFill>
                          <a:latin typeface="Arial"/>
                          <a:ea typeface="Arial"/>
                          <a:cs typeface="Arial"/>
                        </a:rPr>
                        <a:t>Negative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2100" b="1">
                          <a:solidFill>
                            <a:srgbClr val="FFFFFF"/>
                          </a:solidFill>
                          <a:latin typeface="Arial"/>
                          <a:ea typeface="Arial"/>
                          <a:cs typeface="Arial"/>
                        </a:rPr>
                        <a:t>Neutral</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c>
                  <a:txBody>
                    <a:bodyPr/>
                    <a:lstStyle/>
                    <a:p>
                      <a:r>
                        <a:rPr sz="2100" b="1">
                          <a:solidFill>
                            <a:srgbClr val="FFFFFF"/>
                          </a:solidFill>
                          <a:latin typeface="Arial"/>
                          <a:ea typeface="Arial"/>
                          <a:cs typeface="Arial"/>
                        </a:rPr>
                        <a:t>Positive</a:t>
                      </a:r>
                    </a:p>
                  </a:txBody>
                  <a:tcPr marL="91440" marR="91440" marT="45720" marB="45720">
                    <a:lnR w="5715">
                      <a:solidFill>
                        <a:srgbClr val="D9E3E9"/>
                      </a:solidFill>
                    </a:lnR>
                    <a:lnT w="5715">
                      <a:solidFill>
                        <a:srgbClr val="D9E3E9"/>
                      </a:solidFill>
                    </a:lnT>
                    <a:lnB w="5715">
                      <a:solidFill>
                        <a:srgbClr val="D9E3E9"/>
                      </a:solidFill>
                    </a:lnB>
                    <a:solidFill>
                      <a:srgbClr val="142C45"/>
                    </a:solidFill>
                  </a:tcPr>
                </a:tc>
              </a:tr>
              <a:tr h="666750">
                <a:tc>
                  <a:txBody>
                    <a:bodyPr/>
                    <a:lstStyle/>
                    <a:p>
                      <a:r>
                        <a:rPr sz="2100" b="0">
                          <a:solidFill>
                            <a:srgbClr val="142C45"/>
                          </a:solidFill>
                          <a:latin typeface="Arial"/>
                          <a:ea typeface="Arial"/>
                          <a:cs typeface="Arial"/>
                        </a:rPr>
                        <a:t>Negative</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630</a:t>
                      </a:r>
                    </a:p>
                  </a:txBody>
                  <a:tcPr marL="91440" marR="91440" marT="45720" marB="45720">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175</a:t>
                      </a:r>
                    </a:p>
                  </a:txBody>
                  <a:tcPr marL="91440" marR="91440" marT="45720" marB="45720">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183</a:t>
                      </a:r>
                    </a:p>
                  </a:txBody>
                  <a:tcPr marL="91440" marR="91440" marT="45720" marB="45720">
                    <a:lnR w="5715">
                      <a:solidFill>
                        <a:srgbClr val="D9E3E9"/>
                      </a:solidFill>
                    </a:lnR>
                    <a:lnB w="5715">
                      <a:solidFill>
                        <a:srgbClr val="D9E3E9"/>
                      </a:solidFill>
                    </a:lnB>
                    <a:solidFill>
                      <a:srgbClr val="EDF3F6"/>
                    </a:solidFill>
                  </a:tcPr>
                </a:tc>
              </a:tr>
              <a:tr h="666750">
                <a:tc>
                  <a:txBody>
                    <a:bodyPr/>
                    <a:lstStyle/>
                    <a:p>
                      <a:r>
                        <a:rPr sz="2100" b="0">
                          <a:solidFill>
                            <a:srgbClr val="142C45"/>
                          </a:solidFill>
                          <a:latin typeface="Arial"/>
                          <a:ea typeface="Arial"/>
                          <a:cs typeface="Arial"/>
                        </a:rPr>
                        <a:t>Neutral</a:t>
                      </a:r>
                    </a:p>
                  </a:txBody>
                  <a:tcPr marL="91440" marR="91440" marT="45720" marB="45720">
                    <a:lnL w="5715">
                      <a:solidFill>
                        <a:srgbClr val="D9E3E9"/>
                      </a:solidFill>
                    </a:lnL>
                    <a:lnR w="5715">
                      <a:solidFill>
                        <a:srgbClr val="D9E3E9"/>
                      </a:solidFill>
                    </a:lnR>
                    <a:lnB w="5715">
                      <a:solidFill>
                        <a:srgbClr val="D9E3E9"/>
                      </a:solidFill>
                    </a:lnB>
                    <a:solidFill>
                      <a:srgbClr val="FFFFFF"/>
                    </a:solidFill>
                  </a:tcPr>
                </a:tc>
                <a:tc>
                  <a:txBody>
                    <a:bodyPr/>
                    <a:lstStyle/>
                    <a:p>
                      <a:r>
                        <a:rPr sz="2100" b="0">
                          <a:solidFill>
                            <a:srgbClr val="142C45"/>
                          </a:solidFill>
                          <a:latin typeface="Arial"/>
                          <a:ea typeface="Arial"/>
                          <a:cs typeface="Arial"/>
                        </a:rPr>
                        <a:t>128</a:t>
                      </a:r>
                    </a:p>
                  </a:txBody>
                  <a:tcPr marL="91440" marR="91440" marT="45720" marB="45720">
                    <a:lnR w="5715">
                      <a:solidFill>
                        <a:srgbClr val="D9E3E9"/>
                      </a:solidFill>
                    </a:lnR>
                    <a:lnB w="5715">
                      <a:solidFill>
                        <a:srgbClr val="D9E3E9"/>
                      </a:solidFill>
                    </a:lnB>
                    <a:solidFill>
                      <a:srgbClr val="FFFFFF"/>
                    </a:solidFill>
                  </a:tcPr>
                </a:tc>
                <a:tc>
                  <a:txBody>
                    <a:bodyPr/>
                    <a:lstStyle/>
                    <a:p>
                      <a:r>
                        <a:rPr sz="2100" b="0">
                          <a:solidFill>
                            <a:srgbClr val="142C45"/>
                          </a:solidFill>
                          <a:latin typeface="Arial"/>
                          <a:ea typeface="Arial"/>
                          <a:cs typeface="Arial"/>
                        </a:rPr>
                        <a:t>92</a:t>
                      </a:r>
                    </a:p>
                  </a:txBody>
                  <a:tcPr marL="91440" marR="91440" marT="45720" marB="45720">
                    <a:lnR w="5715">
                      <a:solidFill>
                        <a:srgbClr val="D9E3E9"/>
                      </a:solidFill>
                    </a:lnR>
                    <a:lnB w="5715">
                      <a:solidFill>
                        <a:srgbClr val="D9E3E9"/>
                      </a:solidFill>
                    </a:lnB>
                    <a:solidFill>
                      <a:srgbClr val="FFFFFF"/>
                    </a:solidFill>
                  </a:tcPr>
                </a:tc>
                <a:tc>
                  <a:txBody>
                    <a:bodyPr/>
                    <a:lstStyle/>
                    <a:p>
                      <a:r>
                        <a:rPr sz="2100" b="0">
                          <a:solidFill>
                            <a:srgbClr val="142C45"/>
                          </a:solidFill>
                          <a:latin typeface="Arial"/>
                          <a:ea typeface="Arial"/>
                          <a:cs typeface="Arial"/>
                        </a:rPr>
                        <a:t>136</a:t>
                      </a:r>
                    </a:p>
                  </a:txBody>
                  <a:tcPr marL="91440" marR="91440" marT="45720" marB="45720">
                    <a:lnR w="5715">
                      <a:solidFill>
                        <a:srgbClr val="D9E3E9"/>
                      </a:solidFill>
                    </a:lnR>
                    <a:lnB w="5715">
                      <a:solidFill>
                        <a:srgbClr val="D9E3E9"/>
                      </a:solidFill>
                    </a:lnB>
                    <a:solidFill>
                      <a:srgbClr val="FFFFFF"/>
                    </a:solidFill>
                  </a:tcPr>
                </a:tc>
              </a:tr>
              <a:tr h="666750">
                <a:tc>
                  <a:txBody>
                    <a:bodyPr/>
                    <a:lstStyle/>
                    <a:p>
                      <a:r>
                        <a:rPr sz="2100" b="0">
                          <a:solidFill>
                            <a:srgbClr val="142C45"/>
                          </a:solidFill>
                          <a:latin typeface="Arial"/>
                          <a:ea typeface="Arial"/>
                          <a:cs typeface="Arial"/>
                        </a:rPr>
                        <a:t>Positive</a:t>
                      </a:r>
                    </a:p>
                  </a:txBody>
                  <a:tcPr marL="91440" marR="91440" marT="45720" marB="45720">
                    <a:lnL w="5715">
                      <a:solidFill>
                        <a:srgbClr val="D9E3E9"/>
                      </a:solidFill>
                    </a:lnL>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366</a:t>
                      </a:r>
                    </a:p>
                  </a:txBody>
                  <a:tcPr marL="91440" marR="91440" marT="45720" marB="45720">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461</a:t>
                      </a:r>
                    </a:p>
                  </a:txBody>
                  <a:tcPr marL="91440" marR="91440" marT="45720" marB="45720">
                    <a:lnR w="5715">
                      <a:solidFill>
                        <a:srgbClr val="D9E3E9"/>
                      </a:solidFill>
                    </a:lnR>
                    <a:lnB w="5715">
                      <a:solidFill>
                        <a:srgbClr val="D9E3E9"/>
                      </a:solidFill>
                    </a:lnB>
                    <a:solidFill>
                      <a:srgbClr val="EDF3F6"/>
                    </a:solidFill>
                  </a:tcPr>
                </a:tc>
                <a:tc>
                  <a:txBody>
                    <a:bodyPr/>
                    <a:lstStyle/>
                    <a:p>
                      <a:r>
                        <a:rPr sz="2100" b="0">
                          <a:solidFill>
                            <a:srgbClr val="142C45"/>
                          </a:solidFill>
                          <a:latin typeface="Arial"/>
                          <a:ea typeface="Arial"/>
                          <a:cs typeface="Arial"/>
                        </a:rPr>
                        <a:t>1829</a:t>
                      </a:r>
                    </a:p>
                  </a:txBody>
                  <a:tcPr marL="91440" marR="91440" marT="45720" marB="45720">
                    <a:lnR w="5715">
                      <a:solidFill>
                        <a:srgbClr val="D9E3E9"/>
                      </a:solidFill>
                    </a:lnR>
                    <a:lnB w="5715">
                      <a:solidFill>
                        <a:srgbClr val="D9E3E9"/>
                      </a:solidFill>
                    </a:lnB>
                    <a:solidFill>
                      <a:srgbClr val="EDF3F6"/>
                    </a:solidFill>
                  </a:tcPr>
                </a:tc>
              </a:tr>
            </a:tbl>
          </a:graphicData>
        </a:graphic>
      </p:graphicFrame>
      <p:sp>
        <p:nvSpPr>
          <p:cNvPr id="5" name="">
            <a:extLst xmlns:a="http://schemas.openxmlformats.org/drawingml/2006/main">
              <a:ext uri="{FF2B5EF4-FFF2-40B4-BE49-F238E27FC236}">
                <a16:creationId xmlns:a16="http://schemas.microsoft.com/office/drawing/2014/main" id="{014CFE3F-ABFF-4B6E-8ECE-E7ED72DC74F1}"/>
              </a:ext>
            </a:extLst>
          </p:cNvPr>
          <p:cNvSpPr>
            <a:spLocks xmlns:a="http://schemas.openxmlformats.org/drawingml/2006/main" noGrp="1"/>
          </p:cNvSpPr>
          <p:nvPr/>
        </p:nvSpPr>
        <p:spPr>
          <a:xfrm xmlns:a="http://schemas.openxmlformats.org/drawingml/2006/main">
            <a:off x="647700" y="523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5"/>
                </a:solidFill>
                <a:latin typeface="Arial"/>
                <a:ea typeface="Arial"/>
                <a:cs typeface="Arial"/>
              </a:defRPr>
            </a:defPPr>
            <a:lvl1pPr>
              <a:defRPr sz="2250" b="0">
                <a:solidFill>
                  <a:srgbClr val="142C45"/>
                </a:solidFill>
                <a:latin typeface="Arial"/>
                <a:ea typeface="Arial"/>
                <a:cs typeface="Arial"/>
              </a:defRPr>
            </a:lvl1pPr>
            <a:lvl2pPr>
              <a:defRPr sz="2250" b="0">
                <a:solidFill>
                  <a:srgbClr val="142C45"/>
                </a:solidFill>
                <a:latin typeface="Arial"/>
                <a:ea typeface="Arial"/>
                <a:cs typeface="Arial"/>
              </a:defRPr>
            </a:lvl2pPr>
            <a:lvl3pPr>
              <a:defRPr sz="2250" b="0">
                <a:solidFill>
                  <a:srgbClr val="142C45"/>
                </a:solidFill>
                <a:latin typeface="Arial"/>
                <a:ea typeface="Arial"/>
                <a:cs typeface="Arial"/>
              </a:defRPr>
            </a:lvl3pPr>
            <a:lvl4pPr>
              <a:defRPr sz="2250" b="0">
                <a:solidFill>
                  <a:srgbClr val="142C45"/>
                </a:solidFill>
                <a:latin typeface="Arial"/>
                <a:ea typeface="Arial"/>
                <a:cs typeface="Arial"/>
              </a:defRPr>
            </a:lvl4pPr>
            <a:lvl5pPr>
              <a:defRPr sz="2250" b="0">
                <a:solidFill>
                  <a:srgbClr val="142C45"/>
                </a:solidFill>
                <a:latin typeface="Arial"/>
                <a:ea typeface="Arial"/>
                <a:cs typeface="Arial"/>
              </a:defRPr>
            </a:lvl5pPr>
            <a:lvl6pPr>
              <a:defRPr sz="2250" b="0">
                <a:solidFill>
                  <a:srgbClr val="142C45"/>
                </a:solidFill>
                <a:latin typeface="Arial"/>
                <a:ea typeface="Arial"/>
                <a:cs typeface="Arial"/>
              </a:defRPr>
            </a:lvl6pPr>
            <a:lvl7pPr>
              <a:defRPr sz="2250" b="0">
                <a:solidFill>
                  <a:srgbClr val="142C45"/>
                </a:solidFill>
                <a:latin typeface="Arial"/>
                <a:ea typeface="Arial"/>
                <a:cs typeface="Arial"/>
              </a:defRPr>
            </a:lvl7pPr>
            <a:lvl8pPr>
              <a:defRPr sz="2250" b="0">
                <a:solidFill>
                  <a:srgbClr val="142C45"/>
                </a:solidFill>
                <a:latin typeface="Arial"/>
                <a:ea typeface="Arial"/>
                <a:cs typeface="Arial"/>
              </a:defRPr>
            </a:lvl8pPr>
            <a:lvl9pPr>
              <a:defRPr sz="2250" b="0">
                <a:solidFill>
                  <a:srgbClr val="142C45"/>
                </a:solidFill>
                <a:latin typeface="Arial"/>
                <a:ea typeface="Arial"/>
                <a:cs typeface="Arial"/>
              </a:defRPr>
            </a:lvl9pPr>
          </a:lstStyle>
          <a:p xmlns:a="http://schemas.openxmlformats.org/drawingml/2006/main">
            <a:pPr>
              <a:defRPr sz="2250" b="0">
                <a:solidFill>
                  <a:srgbClr val="142C45"/>
                </a:solidFill>
                <a:latin typeface="Arial"/>
                <a:ea typeface="Arial"/>
                <a:cs typeface="Arial"/>
              </a:defRPr>
            </a:pPr>
            <a:r>
              <a:rPr sz="2250" b="0">
                <a:solidFill>
                  <a:srgbClr val="142C45"/>
                </a:solidFill>
                <a:latin typeface="Arial"/>
                <a:ea typeface="Arial"/>
                <a:cs typeface="Arial"/>
              </a:rPr>
              <a:t>Test accuracy 63.78%     Macro-F1 0.5093</a:t>
            </a:r>
          </a:p>
        </p:txBody>
      </p:sp>
    </p:spTree>
    <p:extLst>
      <p:ext uri="{BB962C8B-B14F-4D97-AF65-F5344CB8AC3E}">
        <p14:creationId xmlns:p14="http://schemas.microsoft.com/office/powerpoint/2010/main" val="566202562"/>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E813E0-FDF4-4B4A-936C-E3193B17C2F1}"/>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Limitations and next experiments</a:t>
            </a:r>
          </a:p>
        </p:txBody>
      </p:sp>
      <p:sp>
        <p:nvSpPr>
          <p:cNvPr id="3" name="">
            <a:extLst xmlns:a="http://schemas.openxmlformats.org/drawingml/2006/main">
              <a:ext uri="{FF2B5EF4-FFF2-40B4-BE49-F238E27FC236}">
                <a16:creationId xmlns:a16="http://schemas.microsoft.com/office/drawing/2014/main" id="{7C90B573-D3F2-422A-A631-C81B565698E8}"/>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F9FCF465-EA59-479B-8441-F0D83D194476}"/>
              </a:ext>
            </a:extLst>
          </p:cNvPr>
          <p:cNvSpPr>
            <a:spLocks xmlns:a="http://schemas.openxmlformats.org/drawingml/2006/main" noGrp="1"/>
          </p:cNvSpPr>
          <p:nvPr/>
        </p:nvSpPr>
        <p:spPr>
          <a:xfrm xmlns:a="http://schemas.openxmlformats.org/drawingml/2006/main">
            <a:off x="647700" y="1666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C45"/>
                </a:solidFill>
                <a:latin typeface="Arial"/>
                <a:ea typeface="Arial"/>
                <a:cs typeface="Arial"/>
              </a:defRPr>
            </a:defPPr>
            <a:lvl1pPr>
              <a:defRPr sz="2400" b="0">
                <a:solidFill>
                  <a:srgbClr val="142C45"/>
                </a:solidFill>
                <a:latin typeface="Arial"/>
                <a:ea typeface="Arial"/>
                <a:cs typeface="Arial"/>
              </a:defRPr>
            </a:lvl1pPr>
            <a:lvl2pPr>
              <a:defRPr sz="2400" b="0">
                <a:solidFill>
                  <a:srgbClr val="142C45"/>
                </a:solidFill>
                <a:latin typeface="Arial"/>
                <a:ea typeface="Arial"/>
                <a:cs typeface="Arial"/>
              </a:defRPr>
            </a:lvl2pPr>
            <a:lvl3pPr>
              <a:defRPr sz="2400" b="0">
                <a:solidFill>
                  <a:srgbClr val="142C45"/>
                </a:solidFill>
                <a:latin typeface="Arial"/>
                <a:ea typeface="Arial"/>
                <a:cs typeface="Arial"/>
              </a:defRPr>
            </a:lvl3pPr>
            <a:lvl4pPr>
              <a:defRPr sz="2400" b="0">
                <a:solidFill>
                  <a:srgbClr val="142C45"/>
                </a:solidFill>
                <a:latin typeface="Arial"/>
                <a:ea typeface="Arial"/>
                <a:cs typeface="Arial"/>
              </a:defRPr>
            </a:lvl4pPr>
            <a:lvl5pPr>
              <a:defRPr sz="2400" b="0">
                <a:solidFill>
                  <a:srgbClr val="142C45"/>
                </a:solidFill>
                <a:latin typeface="Arial"/>
                <a:ea typeface="Arial"/>
                <a:cs typeface="Arial"/>
              </a:defRPr>
            </a:lvl5pPr>
            <a:lvl6pPr>
              <a:defRPr sz="2400" b="0">
                <a:solidFill>
                  <a:srgbClr val="142C45"/>
                </a:solidFill>
                <a:latin typeface="Arial"/>
                <a:ea typeface="Arial"/>
                <a:cs typeface="Arial"/>
              </a:defRPr>
            </a:lvl6pPr>
            <a:lvl7pPr>
              <a:defRPr sz="2400" b="0">
                <a:solidFill>
                  <a:srgbClr val="142C45"/>
                </a:solidFill>
                <a:latin typeface="Arial"/>
                <a:ea typeface="Arial"/>
                <a:cs typeface="Arial"/>
              </a:defRPr>
            </a:lvl7pPr>
            <a:lvl8pPr>
              <a:defRPr sz="2400" b="0">
                <a:solidFill>
                  <a:srgbClr val="142C45"/>
                </a:solidFill>
                <a:latin typeface="Arial"/>
                <a:ea typeface="Arial"/>
                <a:cs typeface="Arial"/>
              </a:defRPr>
            </a:lvl8pPr>
            <a:lvl9pPr>
              <a:defRPr sz="2400" b="0">
                <a:solidFill>
                  <a:srgbClr val="142C45"/>
                </a:solidFill>
                <a:latin typeface="Arial"/>
                <a:ea typeface="Arial"/>
                <a:cs typeface="Arial"/>
              </a:defRPr>
            </a:lvl9pPr>
          </a:lstStyle>
          <a:p xmlns:a="http://schemas.openxmlformats.org/drawingml/2006/main">
            <a:pPr>
              <a:defRPr sz="2400" b="0">
                <a:solidFill>
                  <a:srgbClr val="142C45"/>
                </a:solidFill>
                <a:latin typeface="Arial"/>
                <a:ea typeface="Arial"/>
                <a:cs typeface="Arial"/>
              </a:defRPr>
            </a:pPr>
            <a:r>
              <a:rPr sz="2400" b="0">
                <a:solidFill>
                  <a:srgbClr val="142C45"/>
                </a:solidFill>
                <a:latin typeface="Arial"/>
                <a:ea typeface="Arial"/>
                <a:cs typeface="Arial"/>
              </a:rPr>
              <a:t>Single seed and restricted training budget</a:t>
            </a:r>
          </a:p>
        </p:txBody>
      </p:sp>
      <p:sp>
        <p:nvSpPr>
          <p:cNvPr id="5" name="">
            <a:extLst xmlns:a="http://schemas.openxmlformats.org/drawingml/2006/main">
              <a:ext uri="{FF2B5EF4-FFF2-40B4-BE49-F238E27FC236}">
                <a16:creationId xmlns:a16="http://schemas.microsoft.com/office/drawing/2014/main" id="{873316EC-8488-4629-B342-0B50E4893874}"/>
              </a:ext>
            </a:extLst>
          </p:cNvPr>
          <p:cNvSpPr>
            <a:spLocks xmlns:a="http://schemas.openxmlformats.org/drawingml/2006/main" noGrp="1"/>
          </p:cNvSpPr>
          <p:nvPr/>
        </p:nvSpPr>
        <p:spPr>
          <a:xfrm xmlns:a="http://schemas.openxmlformats.org/drawingml/2006/main">
            <a:off x="647700" y="2524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5"/>
                </a:solidFill>
                <a:latin typeface="Arial"/>
                <a:ea typeface="Arial"/>
                <a:cs typeface="Arial"/>
              </a:defRPr>
            </a:defPPr>
            <a:lvl1pPr>
              <a:defRPr sz="2250" b="0">
                <a:solidFill>
                  <a:srgbClr val="142C45"/>
                </a:solidFill>
                <a:latin typeface="Arial"/>
                <a:ea typeface="Arial"/>
                <a:cs typeface="Arial"/>
              </a:defRPr>
            </a:lvl1pPr>
            <a:lvl2pPr>
              <a:defRPr sz="2250" b="0">
                <a:solidFill>
                  <a:srgbClr val="142C45"/>
                </a:solidFill>
                <a:latin typeface="Arial"/>
                <a:ea typeface="Arial"/>
                <a:cs typeface="Arial"/>
              </a:defRPr>
            </a:lvl2pPr>
            <a:lvl3pPr>
              <a:defRPr sz="2250" b="0">
                <a:solidFill>
                  <a:srgbClr val="142C45"/>
                </a:solidFill>
                <a:latin typeface="Arial"/>
                <a:ea typeface="Arial"/>
                <a:cs typeface="Arial"/>
              </a:defRPr>
            </a:lvl3pPr>
            <a:lvl4pPr>
              <a:defRPr sz="2250" b="0">
                <a:solidFill>
                  <a:srgbClr val="142C45"/>
                </a:solidFill>
                <a:latin typeface="Arial"/>
                <a:ea typeface="Arial"/>
                <a:cs typeface="Arial"/>
              </a:defRPr>
            </a:lvl4pPr>
            <a:lvl5pPr>
              <a:defRPr sz="2250" b="0">
                <a:solidFill>
                  <a:srgbClr val="142C45"/>
                </a:solidFill>
                <a:latin typeface="Arial"/>
                <a:ea typeface="Arial"/>
                <a:cs typeface="Arial"/>
              </a:defRPr>
            </a:lvl5pPr>
            <a:lvl6pPr>
              <a:defRPr sz="2250" b="0">
                <a:solidFill>
                  <a:srgbClr val="142C45"/>
                </a:solidFill>
                <a:latin typeface="Arial"/>
                <a:ea typeface="Arial"/>
                <a:cs typeface="Arial"/>
              </a:defRPr>
            </a:lvl6pPr>
            <a:lvl7pPr>
              <a:defRPr sz="2250" b="0">
                <a:solidFill>
                  <a:srgbClr val="142C45"/>
                </a:solidFill>
                <a:latin typeface="Arial"/>
                <a:ea typeface="Arial"/>
                <a:cs typeface="Arial"/>
              </a:defRPr>
            </a:lvl7pPr>
            <a:lvl8pPr>
              <a:defRPr sz="2250" b="0">
                <a:solidFill>
                  <a:srgbClr val="142C45"/>
                </a:solidFill>
                <a:latin typeface="Arial"/>
                <a:ea typeface="Arial"/>
                <a:cs typeface="Arial"/>
              </a:defRPr>
            </a:lvl8pPr>
            <a:lvl9pPr>
              <a:defRPr sz="2250" b="0">
                <a:solidFill>
                  <a:srgbClr val="142C45"/>
                </a:solidFill>
                <a:latin typeface="Arial"/>
                <a:ea typeface="Arial"/>
                <a:cs typeface="Arial"/>
              </a:defRPr>
            </a:lvl9pPr>
          </a:lstStyle>
          <a:p xmlns:a="http://schemas.openxmlformats.org/drawingml/2006/main">
            <a:pPr>
              <a:defRPr sz="2250" b="0">
                <a:solidFill>
                  <a:srgbClr val="142C45"/>
                </a:solidFill>
                <a:latin typeface="Arial"/>
                <a:ea typeface="Arial"/>
                <a:cs typeface="Arial"/>
              </a:defRPr>
            </a:pPr>
            <a:r>
              <a:rPr sz="2250" b="0">
                <a:solidFill>
                  <a:srgbClr val="142C45"/>
                </a:solidFill>
                <a:latin typeface="Arial"/>
                <a:ea typeface="Arial"/>
                <a:cs typeface="Arial"/>
              </a:rPr>
              <a:t>Rating-derived labels and minority neutral examples</a:t>
            </a:r>
          </a:p>
        </p:txBody>
      </p:sp>
      <p:sp>
        <p:nvSpPr>
          <p:cNvPr id="6" name="">
            <a:extLst xmlns:a="http://schemas.openxmlformats.org/drawingml/2006/main">
              <a:ext uri="{FF2B5EF4-FFF2-40B4-BE49-F238E27FC236}">
                <a16:creationId xmlns:a16="http://schemas.microsoft.com/office/drawing/2014/main" id="{F22F39A5-61B8-4FFF-A2BC-4CEF30DCC183}"/>
              </a:ext>
            </a:extLst>
          </p:cNvPr>
          <p:cNvSpPr>
            <a:spLocks xmlns:a="http://schemas.openxmlformats.org/drawingml/2006/main" noGrp="1"/>
          </p:cNvSpPr>
          <p:nvPr/>
        </p:nvSpPr>
        <p:spPr>
          <a:xfrm xmlns:a="http://schemas.openxmlformats.org/drawingml/2006/main">
            <a:off x="647700" y="33813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C45"/>
                </a:solidFill>
                <a:latin typeface="Arial"/>
                <a:ea typeface="Arial"/>
                <a:cs typeface="Arial"/>
              </a:defRPr>
            </a:defPPr>
            <a:lvl1pPr>
              <a:defRPr sz="2250" b="0">
                <a:solidFill>
                  <a:srgbClr val="142C45"/>
                </a:solidFill>
                <a:latin typeface="Arial"/>
                <a:ea typeface="Arial"/>
                <a:cs typeface="Arial"/>
              </a:defRPr>
            </a:lvl1pPr>
            <a:lvl2pPr>
              <a:defRPr sz="2250" b="0">
                <a:solidFill>
                  <a:srgbClr val="142C45"/>
                </a:solidFill>
                <a:latin typeface="Arial"/>
                <a:ea typeface="Arial"/>
                <a:cs typeface="Arial"/>
              </a:defRPr>
            </a:lvl2pPr>
            <a:lvl3pPr>
              <a:defRPr sz="2250" b="0">
                <a:solidFill>
                  <a:srgbClr val="142C45"/>
                </a:solidFill>
                <a:latin typeface="Arial"/>
                <a:ea typeface="Arial"/>
                <a:cs typeface="Arial"/>
              </a:defRPr>
            </a:lvl3pPr>
            <a:lvl4pPr>
              <a:defRPr sz="2250" b="0">
                <a:solidFill>
                  <a:srgbClr val="142C45"/>
                </a:solidFill>
                <a:latin typeface="Arial"/>
                <a:ea typeface="Arial"/>
                <a:cs typeface="Arial"/>
              </a:defRPr>
            </a:lvl4pPr>
            <a:lvl5pPr>
              <a:defRPr sz="2250" b="0">
                <a:solidFill>
                  <a:srgbClr val="142C45"/>
                </a:solidFill>
                <a:latin typeface="Arial"/>
                <a:ea typeface="Arial"/>
                <a:cs typeface="Arial"/>
              </a:defRPr>
            </a:lvl5pPr>
            <a:lvl6pPr>
              <a:defRPr sz="2250" b="0">
                <a:solidFill>
                  <a:srgbClr val="142C45"/>
                </a:solidFill>
                <a:latin typeface="Arial"/>
                <a:ea typeface="Arial"/>
                <a:cs typeface="Arial"/>
              </a:defRPr>
            </a:lvl6pPr>
            <a:lvl7pPr>
              <a:defRPr sz="2250" b="0">
                <a:solidFill>
                  <a:srgbClr val="142C45"/>
                </a:solidFill>
                <a:latin typeface="Arial"/>
                <a:ea typeface="Arial"/>
                <a:cs typeface="Arial"/>
              </a:defRPr>
            </a:lvl7pPr>
            <a:lvl8pPr>
              <a:defRPr sz="2250" b="0">
                <a:solidFill>
                  <a:srgbClr val="142C45"/>
                </a:solidFill>
                <a:latin typeface="Arial"/>
                <a:ea typeface="Arial"/>
                <a:cs typeface="Arial"/>
              </a:defRPr>
            </a:lvl8pPr>
            <a:lvl9pPr>
              <a:defRPr sz="2250" b="0">
                <a:solidFill>
                  <a:srgbClr val="142C45"/>
                </a:solidFill>
                <a:latin typeface="Arial"/>
                <a:ea typeface="Arial"/>
                <a:cs typeface="Arial"/>
              </a:defRPr>
            </a:lvl9pPr>
          </a:lstStyle>
          <a:p xmlns:a="http://schemas.openxmlformats.org/drawingml/2006/main">
            <a:pPr>
              <a:defRPr sz="2250" b="0">
                <a:solidFill>
                  <a:srgbClr val="142C45"/>
                </a:solidFill>
                <a:latin typeface="Arial"/>
                <a:ea typeface="Arial"/>
                <a:cs typeface="Arial"/>
              </a:defRPr>
            </a:pPr>
            <a:r>
              <a:rPr sz="2250" b="0">
                <a:solidFill>
                  <a:srgbClr val="142C45"/>
                </a:solidFill>
                <a:latin typeface="Arial"/>
                <a:ea typeface="Arial"/>
                <a:cs typeface="Arial"/>
              </a:rPr>
              <a:t>Long-review truncation and remaining near-duplicates</a:t>
            </a:r>
          </a:p>
        </p:txBody>
      </p:sp>
      <p:sp>
        <p:nvSpPr>
          <p:cNvPr id="7" name="">
            <a:extLst xmlns:a="http://schemas.openxmlformats.org/drawingml/2006/main">
              <a:ext uri="{FF2B5EF4-FFF2-40B4-BE49-F238E27FC236}">
                <a16:creationId xmlns:a16="http://schemas.microsoft.com/office/drawing/2014/main" id="{976FD010-B078-49B6-BC75-2571450D07F5}"/>
              </a:ext>
            </a:extLst>
          </p:cNvPr>
          <p:cNvSpPr>
            <a:spLocks xmlns:a="http://schemas.openxmlformats.org/drawingml/2006/main" noGrp="1"/>
          </p:cNvSpPr>
          <p:nvPr/>
        </p:nvSpPr>
        <p:spPr>
          <a:xfrm xmlns:a="http://schemas.openxmlformats.org/drawingml/2006/main">
            <a:off x="647700" y="461962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5"/>
                </a:solidFill>
                <a:latin typeface="Arial"/>
                <a:ea typeface="Arial"/>
                <a:cs typeface="Arial"/>
              </a:defRPr>
            </a:defPPr>
            <a:lvl1pPr>
              <a:defRPr sz="2175" b="0">
                <a:solidFill>
                  <a:srgbClr val="142C45"/>
                </a:solidFill>
                <a:latin typeface="Arial"/>
                <a:ea typeface="Arial"/>
                <a:cs typeface="Arial"/>
              </a:defRPr>
            </a:lvl1pPr>
            <a:lvl2pPr>
              <a:defRPr sz="2175" b="0">
                <a:solidFill>
                  <a:srgbClr val="142C45"/>
                </a:solidFill>
                <a:latin typeface="Arial"/>
                <a:ea typeface="Arial"/>
                <a:cs typeface="Arial"/>
              </a:defRPr>
            </a:lvl2pPr>
            <a:lvl3pPr>
              <a:defRPr sz="2175" b="0">
                <a:solidFill>
                  <a:srgbClr val="142C45"/>
                </a:solidFill>
                <a:latin typeface="Arial"/>
                <a:ea typeface="Arial"/>
                <a:cs typeface="Arial"/>
              </a:defRPr>
            </a:lvl3pPr>
            <a:lvl4pPr>
              <a:defRPr sz="2175" b="0">
                <a:solidFill>
                  <a:srgbClr val="142C45"/>
                </a:solidFill>
                <a:latin typeface="Arial"/>
                <a:ea typeface="Arial"/>
                <a:cs typeface="Arial"/>
              </a:defRPr>
            </a:lvl4pPr>
            <a:lvl5pPr>
              <a:defRPr sz="2175" b="0">
                <a:solidFill>
                  <a:srgbClr val="142C45"/>
                </a:solidFill>
                <a:latin typeface="Arial"/>
                <a:ea typeface="Arial"/>
                <a:cs typeface="Arial"/>
              </a:defRPr>
            </a:lvl5pPr>
            <a:lvl6pPr>
              <a:defRPr sz="2175" b="0">
                <a:solidFill>
                  <a:srgbClr val="142C45"/>
                </a:solidFill>
                <a:latin typeface="Arial"/>
                <a:ea typeface="Arial"/>
                <a:cs typeface="Arial"/>
              </a:defRPr>
            </a:lvl6pPr>
            <a:lvl7pPr>
              <a:defRPr sz="2175" b="0">
                <a:solidFill>
                  <a:srgbClr val="142C45"/>
                </a:solidFill>
                <a:latin typeface="Arial"/>
                <a:ea typeface="Arial"/>
                <a:cs typeface="Arial"/>
              </a:defRPr>
            </a:lvl7pPr>
            <a:lvl8pPr>
              <a:defRPr sz="2175" b="0">
                <a:solidFill>
                  <a:srgbClr val="142C45"/>
                </a:solidFill>
                <a:latin typeface="Arial"/>
                <a:ea typeface="Arial"/>
                <a:cs typeface="Arial"/>
              </a:defRPr>
            </a:lvl8pPr>
            <a:lvl9pPr>
              <a:defRPr sz="2175" b="0">
                <a:solidFill>
                  <a:srgbClr val="142C45"/>
                </a:solidFill>
                <a:latin typeface="Arial"/>
                <a:ea typeface="Arial"/>
                <a:cs typeface="Arial"/>
              </a:defRPr>
            </a:lvl9pPr>
          </a:lstStyle>
          <a:p xmlns:a="http://schemas.openxmlformats.org/drawingml/2006/main">
            <a:pPr>
              <a:defRPr sz="2175" b="0">
                <a:solidFill>
                  <a:srgbClr val="142C45"/>
                </a:solidFill>
                <a:latin typeface="Arial"/>
                <a:ea typeface="Arial"/>
                <a:cs typeface="Arial"/>
              </a:defRPr>
            </a:pPr>
            <a:r>
              <a:rPr sz="2175" b="0">
                <a:solidFill>
                  <a:srgbClr val="142C45"/>
                </a:solidFill>
                <a:latin typeface="Arial"/>
                <a:ea typeface="Arial"/>
                <a:cs typeface="Arial"/>
              </a:rPr>
              <a:t>Next: repeated seeds, longer sequences, pretrained embeddings</a:t>
            </a:r>
          </a:p>
          <a:p xmlns:a="http://schemas.openxmlformats.org/drawingml/2006/main">
            <a:pPr>
              <a:defRPr sz="2175" b="0">
                <a:solidFill>
                  <a:srgbClr val="142C45"/>
                </a:solidFill>
                <a:latin typeface="Arial"/>
                <a:ea typeface="Arial"/>
                <a:cs typeface="Arial"/>
              </a:defRPr>
            </a:pPr>
            <a:r>
              <a:rPr sz="2175" b="0">
                <a:solidFill>
                  <a:srgbClr val="142C45"/>
                </a:solidFill>
                <a:latin typeface="Arial"/>
                <a:ea typeface="Arial"/>
                <a:cs typeface="Arial"/>
              </a:rPr>
              <a:t>and evaluation grouped by drug</a:t>
            </a:r>
          </a:p>
        </p:txBody>
      </p:sp>
    </p:spTree>
    <p:extLst>
      <p:ext uri="{BB962C8B-B14F-4D97-AF65-F5344CB8AC3E}">
        <p14:creationId xmlns:p14="http://schemas.microsoft.com/office/powerpoint/2010/main" val="1510267715"/>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5B95BA2-5D13-41D0-A99E-C15C64424B20}"/>
              </a:ext>
            </a:extLst>
          </p:cNvPr>
          <p:cNvSpPr>
            <a:spLocks xmlns:a="http://schemas.openxmlformats.org/drawingml/2006/main" noGrp="1"/>
          </p:cNvSpPr>
          <p:nvPr/>
        </p:nvSpPr>
        <p:spPr>
          <a:xfrm xmlns:a="http://schemas.openxmlformats.org/drawingml/2006/main">
            <a:off x="609600" y="4572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C45"/>
                </a:solidFill>
                <a:latin typeface="Arial"/>
                <a:ea typeface="Arial"/>
                <a:cs typeface="Arial"/>
              </a:defRPr>
            </a:defPPr>
            <a:lvl1pPr>
              <a:defRPr sz="3300" b="1">
                <a:solidFill>
                  <a:srgbClr val="142C45"/>
                </a:solidFill>
                <a:latin typeface="Arial"/>
                <a:ea typeface="Arial"/>
                <a:cs typeface="Arial"/>
              </a:defRPr>
            </a:lvl1pPr>
            <a:lvl2pPr>
              <a:defRPr sz="3300" b="1">
                <a:solidFill>
                  <a:srgbClr val="142C45"/>
                </a:solidFill>
                <a:latin typeface="Arial"/>
                <a:ea typeface="Arial"/>
                <a:cs typeface="Arial"/>
              </a:defRPr>
            </a:lvl2pPr>
            <a:lvl3pPr>
              <a:defRPr sz="3300" b="1">
                <a:solidFill>
                  <a:srgbClr val="142C45"/>
                </a:solidFill>
                <a:latin typeface="Arial"/>
                <a:ea typeface="Arial"/>
                <a:cs typeface="Arial"/>
              </a:defRPr>
            </a:lvl3pPr>
            <a:lvl4pPr>
              <a:defRPr sz="3300" b="1">
                <a:solidFill>
                  <a:srgbClr val="142C45"/>
                </a:solidFill>
                <a:latin typeface="Arial"/>
                <a:ea typeface="Arial"/>
                <a:cs typeface="Arial"/>
              </a:defRPr>
            </a:lvl4pPr>
            <a:lvl5pPr>
              <a:defRPr sz="3300" b="1">
                <a:solidFill>
                  <a:srgbClr val="142C45"/>
                </a:solidFill>
                <a:latin typeface="Arial"/>
                <a:ea typeface="Arial"/>
                <a:cs typeface="Arial"/>
              </a:defRPr>
            </a:lvl5pPr>
            <a:lvl6pPr>
              <a:defRPr sz="3300" b="1">
                <a:solidFill>
                  <a:srgbClr val="142C45"/>
                </a:solidFill>
                <a:latin typeface="Arial"/>
                <a:ea typeface="Arial"/>
                <a:cs typeface="Arial"/>
              </a:defRPr>
            </a:lvl6pPr>
            <a:lvl7pPr>
              <a:defRPr sz="3300" b="1">
                <a:solidFill>
                  <a:srgbClr val="142C45"/>
                </a:solidFill>
                <a:latin typeface="Arial"/>
                <a:ea typeface="Arial"/>
                <a:cs typeface="Arial"/>
              </a:defRPr>
            </a:lvl7pPr>
            <a:lvl8pPr>
              <a:defRPr sz="3300" b="1">
                <a:solidFill>
                  <a:srgbClr val="142C45"/>
                </a:solidFill>
                <a:latin typeface="Arial"/>
                <a:ea typeface="Arial"/>
                <a:cs typeface="Arial"/>
              </a:defRPr>
            </a:lvl8pPr>
            <a:lvl9pPr>
              <a:defRPr sz="3300" b="1">
                <a:solidFill>
                  <a:srgbClr val="142C45"/>
                </a:solidFill>
                <a:latin typeface="Arial"/>
                <a:ea typeface="Arial"/>
                <a:cs typeface="Arial"/>
              </a:defRPr>
            </a:lvl9pPr>
          </a:lstStyle>
          <a:p xmlns:a="http://schemas.openxmlformats.org/drawingml/2006/main">
            <a:pPr>
              <a:defRPr sz="3300" b="1">
                <a:solidFill>
                  <a:srgbClr val="142C45"/>
                </a:solidFill>
                <a:latin typeface="Arial"/>
                <a:ea typeface="Arial"/>
                <a:cs typeface="Arial"/>
              </a:defRPr>
            </a:pPr>
            <a:r>
              <a:rPr sz="3300" b="1">
                <a:solidFill>
                  <a:srgbClr val="142C45"/>
                </a:solidFill>
                <a:latin typeface="Arial"/>
                <a:ea typeface="Arial"/>
                <a:cs typeface="Arial"/>
              </a:rPr>
              <a:t>Conclusion and reproducible code</a:t>
            </a:r>
          </a:p>
        </p:txBody>
      </p:sp>
      <p:sp>
        <p:nvSpPr>
          <p:cNvPr id="3" name="">
            <a:extLst xmlns:a="http://schemas.openxmlformats.org/drawingml/2006/main">
              <a:ext uri="{FF2B5EF4-FFF2-40B4-BE49-F238E27FC236}">
                <a16:creationId xmlns:a16="http://schemas.microsoft.com/office/drawing/2014/main" id="{1AA789ED-6DD9-4F74-AF4B-5B8835E9DD4B}"/>
              </a:ext>
            </a:extLst>
          </p:cNvPr>
          <p:cNvSpPr>
            <a:spLocks xmlns:a="http://schemas.openxmlformats.org/drawingml/2006/main" noGrp="1"/>
          </p:cNvSpPr>
          <p:nvPr/>
        </p:nvSpPr>
        <p:spPr>
          <a:xfrm xmlns:a="http://schemas.openxmlformats.org/drawingml/2006/main">
            <a:off x="11049000" y="636270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579"/>
                </a:solidFill>
                <a:latin typeface="Arial"/>
                <a:ea typeface="Arial"/>
                <a:cs typeface="Arial"/>
              </a:defRPr>
            </a:defPPr>
            <a:lvl1pPr>
              <a:defRPr sz="1275" b="0">
                <a:solidFill>
                  <a:srgbClr val="526579"/>
                </a:solidFill>
                <a:latin typeface="Arial"/>
                <a:ea typeface="Arial"/>
                <a:cs typeface="Arial"/>
              </a:defRPr>
            </a:lvl1pPr>
            <a:lvl2pPr>
              <a:defRPr sz="1275" b="0">
                <a:solidFill>
                  <a:srgbClr val="526579"/>
                </a:solidFill>
                <a:latin typeface="Arial"/>
                <a:ea typeface="Arial"/>
                <a:cs typeface="Arial"/>
              </a:defRPr>
            </a:lvl2pPr>
            <a:lvl3pPr>
              <a:defRPr sz="1275" b="0">
                <a:solidFill>
                  <a:srgbClr val="526579"/>
                </a:solidFill>
                <a:latin typeface="Arial"/>
                <a:ea typeface="Arial"/>
                <a:cs typeface="Arial"/>
              </a:defRPr>
            </a:lvl3pPr>
            <a:lvl4pPr>
              <a:defRPr sz="1275" b="0">
                <a:solidFill>
                  <a:srgbClr val="526579"/>
                </a:solidFill>
                <a:latin typeface="Arial"/>
                <a:ea typeface="Arial"/>
                <a:cs typeface="Arial"/>
              </a:defRPr>
            </a:lvl4pPr>
            <a:lvl5pPr>
              <a:defRPr sz="1275" b="0">
                <a:solidFill>
                  <a:srgbClr val="526579"/>
                </a:solidFill>
                <a:latin typeface="Arial"/>
                <a:ea typeface="Arial"/>
                <a:cs typeface="Arial"/>
              </a:defRPr>
            </a:lvl5pPr>
            <a:lvl6pPr>
              <a:defRPr sz="1275" b="0">
                <a:solidFill>
                  <a:srgbClr val="526579"/>
                </a:solidFill>
                <a:latin typeface="Arial"/>
                <a:ea typeface="Arial"/>
                <a:cs typeface="Arial"/>
              </a:defRPr>
            </a:lvl6pPr>
            <a:lvl7pPr>
              <a:defRPr sz="1275" b="0">
                <a:solidFill>
                  <a:srgbClr val="526579"/>
                </a:solidFill>
                <a:latin typeface="Arial"/>
                <a:ea typeface="Arial"/>
                <a:cs typeface="Arial"/>
              </a:defRPr>
            </a:lvl7pPr>
            <a:lvl8pPr>
              <a:defRPr sz="1275" b="0">
                <a:solidFill>
                  <a:srgbClr val="526579"/>
                </a:solidFill>
                <a:latin typeface="Arial"/>
                <a:ea typeface="Arial"/>
                <a:cs typeface="Arial"/>
              </a:defRPr>
            </a:lvl8pPr>
            <a:lvl9pPr>
              <a:defRPr sz="1275" b="0">
                <a:solidFill>
                  <a:srgbClr val="526579"/>
                </a:solidFill>
                <a:latin typeface="Arial"/>
                <a:ea typeface="Arial"/>
                <a:cs typeface="Arial"/>
              </a:defRPr>
            </a:lvl9pPr>
          </a:lstStyle>
          <a:p xmlns:a="http://schemas.openxmlformats.org/drawingml/2006/main">
            <a:pPr>
              <a:defRPr sz="1275" b="0">
                <a:solidFill>
                  <a:srgbClr val="526579"/>
                </a:solidFill>
                <a:latin typeface="Arial"/>
                <a:ea typeface="Arial"/>
                <a:cs typeface="Arial"/>
              </a:defRPr>
            </a:pPr>
            <a:r>
              <a:rPr sz="1275" b="0">
                <a:solidFill>
                  <a:srgbClr val="526579"/>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F940236C-D4AF-47CB-B18B-C94D9838AB71}"/>
              </a:ext>
            </a:extLst>
          </p:cNvPr>
          <p:cNvSpPr>
            <a:spLocks xmlns:a="http://schemas.openxmlformats.org/drawingml/2006/main" noGrp="1"/>
          </p:cNvSpPr>
          <p:nvPr/>
        </p:nvSpPr>
        <p:spPr>
          <a:xfrm xmlns:a="http://schemas.openxmlformats.org/drawingml/2006/main">
            <a:off x="647700" y="16668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C45"/>
                </a:solidFill>
                <a:latin typeface="Arial"/>
                <a:ea typeface="Arial"/>
                <a:cs typeface="Arial"/>
              </a:defRPr>
            </a:defPPr>
            <a:lvl1pPr>
              <a:defRPr sz="2550" b="0">
                <a:solidFill>
                  <a:srgbClr val="142C45"/>
                </a:solidFill>
                <a:latin typeface="Arial"/>
                <a:ea typeface="Arial"/>
                <a:cs typeface="Arial"/>
              </a:defRPr>
            </a:lvl1pPr>
            <a:lvl2pPr>
              <a:defRPr sz="2550" b="0">
                <a:solidFill>
                  <a:srgbClr val="142C45"/>
                </a:solidFill>
                <a:latin typeface="Arial"/>
                <a:ea typeface="Arial"/>
                <a:cs typeface="Arial"/>
              </a:defRPr>
            </a:lvl2pPr>
            <a:lvl3pPr>
              <a:defRPr sz="2550" b="0">
                <a:solidFill>
                  <a:srgbClr val="142C45"/>
                </a:solidFill>
                <a:latin typeface="Arial"/>
                <a:ea typeface="Arial"/>
                <a:cs typeface="Arial"/>
              </a:defRPr>
            </a:lvl3pPr>
            <a:lvl4pPr>
              <a:defRPr sz="2550" b="0">
                <a:solidFill>
                  <a:srgbClr val="142C45"/>
                </a:solidFill>
                <a:latin typeface="Arial"/>
                <a:ea typeface="Arial"/>
                <a:cs typeface="Arial"/>
              </a:defRPr>
            </a:lvl4pPr>
            <a:lvl5pPr>
              <a:defRPr sz="2550" b="0">
                <a:solidFill>
                  <a:srgbClr val="142C45"/>
                </a:solidFill>
                <a:latin typeface="Arial"/>
                <a:ea typeface="Arial"/>
                <a:cs typeface="Arial"/>
              </a:defRPr>
            </a:lvl5pPr>
            <a:lvl6pPr>
              <a:defRPr sz="2550" b="0">
                <a:solidFill>
                  <a:srgbClr val="142C45"/>
                </a:solidFill>
                <a:latin typeface="Arial"/>
                <a:ea typeface="Arial"/>
                <a:cs typeface="Arial"/>
              </a:defRPr>
            </a:lvl6pPr>
            <a:lvl7pPr>
              <a:defRPr sz="2550" b="0">
                <a:solidFill>
                  <a:srgbClr val="142C45"/>
                </a:solidFill>
                <a:latin typeface="Arial"/>
                <a:ea typeface="Arial"/>
                <a:cs typeface="Arial"/>
              </a:defRPr>
            </a:lvl7pPr>
            <a:lvl8pPr>
              <a:defRPr sz="2550" b="0">
                <a:solidFill>
                  <a:srgbClr val="142C45"/>
                </a:solidFill>
                <a:latin typeface="Arial"/>
                <a:ea typeface="Arial"/>
                <a:cs typeface="Arial"/>
              </a:defRPr>
            </a:lvl8pPr>
            <a:lvl9pPr>
              <a:defRPr sz="2550" b="0">
                <a:solidFill>
                  <a:srgbClr val="142C45"/>
                </a:solidFill>
                <a:latin typeface="Arial"/>
                <a:ea typeface="Arial"/>
                <a:cs typeface="Arial"/>
              </a:defRPr>
            </a:lvl9pPr>
          </a:lstStyle>
          <a:p xmlns:a="http://schemas.openxmlformats.org/drawingml/2006/main">
            <a:pPr>
              <a:defRPr sz="2550" b="0">
                <a:solidFill>
                  <a:srgbClr val="142C45"/>
                </a:solidFill>
                <a:latin typeface="Arial"/>
                <a:ea typeface="Arial"/>
                <a:cs typeface="Arial"/>
              </a:defRPr>
            </a:pPr>
            <a:r>
              <a:rPr sz="2550" b="0">
                <a:solidFill>
                  <a:srgbClr val="142C45"/>
                </a:solidFill>
                <a:latin typeface="Arial"/>
                <a:ea typeface="Arial"/>
                <a:cs typeface="Arial"/>
              </a:rPr>
              <a:t>CIFG: best validation macro-F1 0.5246</a:t>
            </a:r>
          </a:p>
        </p:txBody>
      </p:sp>
      <p:sp>
        <p:nvSpPr>
          <p:cNvPr id="5" name="">
            <a:extLst xmlns:a="http://schemas.openxmlformats.org/drawingml/2006/main">
              <a:ext uri="{FF2B5EF4-FFF2-40B4-BE49-F238E27FC236}">
                <a16:creationId xmlns:a16="http://schemas.microsoft.com/office/drawing/2014/main" id="{D78AF74C-CB9A-4687-A0A4-9CA625BF1555}"/>
              </a:ext>
            </a:extLst>
          </p:cNvPr>
          <p:cNvSpPr>
            <a:spLocks xmlns:a="http://schemas.openxmlformats.org/drawingml/2006/main" noGrp="1"/>
          </p:cNvSpPr>
          <p:nvPr/>
        </p:nvSpPr>
        <p:spPr>
          <a:xfrm xmlns:a="http://schemas.openxmlformats.org/drawingml/2006/main">
            <a:off x="647700" y="2571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2C45"/>
                </a:solidFill>
                <a:latin typeface="Arial"/>
                <a:ea typeface="Arial"/>
                <a:cs typeface="Arial"/>
              </a:defRPr>
            </a:defPPr>
            <a:lvl1pPr>
              <a:defRPr sz="2550" b="0">
                <a:solidFill>
                  <a:srgbClr val="142C45"/>
                </a:solidFill>
                <a:latin typeface="Arial"/>
                <a:ea typeface="Arial"/>
                <a:cs typeface="Arial"/>
              </a:defRPr>
            </a:lvl1pPr>
            <a:lvl2pPr>
              <a:defRPr sz="2550" b="0">
                <a:solidFill>
                  <a:srgbClr val="142C45"/>
                </a:solidFill>
                <a:latin typeface="Arial"/>
                <a:ea typeface="Arial"/>
                <a:cs typeface="Arial"/>
              </a:defRPr>
            </a:lvl2pPr>
            <a:lvl3pPr>
              <a:defRPr sz="2550" b="0">
                <a:solidFill>
                  <a:srgbClr val="142C45"/>
                </a:solidFill>
                <a:latin typeface="Arial"/>
                <a:ea typeface="Arial"/>
                <a:cs typeface="Arial"/>
              </a:defRPr>
            </a:lvl3pPr>
            <a:lvl4pPr>
              <a:defRPr sz="2550" b="0">
                <a:solidFill>
                  <a:srgbClr val="142C45"/>
                </a:solidFill>
                <a:latin typeface="Arial"/>
                <a:ea typeface="Arial"/>
                <a:cs typeface="Arial"/>
              </a:defRPr>
            </a:lvl4pPr>
            <a:lvl5pPr>
              <a:defRPr sz="2550" b="0">
                <a:solidFill>
                  <a:srgbClr val="142C45"/>
                </a:solidFill>
                <a:latin typeface="Arial"/>
                <a:ea typeface="Arial"/>
                <a:cs typeface="Arial"/>
              </a:defRPr>
            </a:lvl5pPr>
            <a:lvl6pPr>
              <a:defRPr sz="2550" b="0">
                <a:solidFill>
                  <a:srgbClr val="142C45"/>
                </a:solidFill>
                <a:latin typeface="Arial"/>
                <a:ea typeface="Arial"/>
                <a:cs typeface="Arial"/>
              </a:defRPr>
            </a:lvl6pPr>
            <a:lvl7pPr>
              <a:defRPr sz="2550" b="0">
                <a:solidFill>
                  <a:srgbClr val="142C45"/>
                </a:solidFill>
                <a:latin typeface="Arial"/>
                <a:ea typeface="Arial"/>
                <a:cs typeface="Arial"/>
              </a:defRPr>
            </a:lvl7pPr>
            <a:lvl8pPr>
              <a:defRPr sz="2550" b="0">
                <a:solidFill>
                  <a:srgbClr val="142C45"/>
                </a:solidFill>
                <a:latin typeface="Arial"/>
                <a:ea typeface="Arial"/>
                <a:cs typeface="Arial"/>
              </a:defRPr>
            </a:lvl8pPr>
            <a:lvl9pPr>
              <a:defRPr sz="2550" b="0">
                <a:solidFill>
                  <a:srgbClr val="142C45"/>
                </a:solidFill>
                <a:latin typeface="Arial"/>
                <a:ea typeface="Arial"/>
                <a:cs typeface="Arial"/>
              </a:defRPr>
            </a:lvl9pPr>
          </a:lstStyle>
          <a:p xmlns:a="http://schemas.openxmlformats.org/drawingml/2006/main">
            <a:pPr>
              <a:defRPr sz="2550" b="0">
                <a:solidFill>
                  <a:srgbClr val="142C45"/>
                </a:solidFill>
                <a:latin typeface="Arial"/>
                <a:ea typeface="Arial"/>
                <a:cs typeface="Arial"/>
              </a:defRPr>
            </a:pPr>
            <a:r>
              <a:rPr sz="2550" b="0">
                <a:solidFill>
                  <a:srgbClr val="142C45"/>
                </a:solidFill>
                <a:latin typeface="Arial"/>
                <a:ea typeface="Arial"/>
                <a:cs typeface="Arial"/>
              </a:rPr>
              <a:t>Held-out test macro-F1: 0.5093</a:t>
            </a:r>
          </a:p>
        </p:txBody>
      </p:sp>
      <p:sp>
        <p:nvSpPr>
          <p:cNvPr id="6" name="">
            <a:extLst xmlns:a="http://schemas.openxmlformats.org/drawingml/2006/main">
              <a:ext uri="{FF2B5EF4-FFF2-40B4-BE49-F238E27FC236}">
                <a16:creationId xmlns:a16="http://schemas.microsoft.com/office/drawing/2014/main" id="{79624064-0076-4DDC-A8E1-DF5C26502B1C}"/>
              </a:ext>
            </a:extLst>
          </p:cNvPr>
          <p:cNvSpPr>
            <a:spLocks xmlns:a="http://schemas.openxmlformats.org/drawingml/2006/main" noGrp="1"/>
          </p:cNvSpPr>
          <p:nvPr/>
        </p:nvSpPr>
        <p:spPr>
          <a:xfrm xmlns:a="http://schemas.openxmlformats.org/drawingml/2006/main">
            <a:off x="647700" y="3667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C45"/>
                </a:solidFill>
                <a:latin typeface="Arial"/>
                <a:ea typeface="Arial"/>
                <a:cs typeface="Arial"/>
              </a:defRPr>
            </a:defPPr>
            <a:lvl1pPr>
              <a:defRPr sz="2175" b="0">
                <a:solidFill>
                  <a:srgbClr val="142C45"/>
                </a:solidFill>
                <a:latin typeface="Arial"/>
                <a:ea typeface="Arial"/>
                <a:cs typeface="Arial"/>
              </a:defRPr>
            </a:lvl1pPr>
            <a:lvl2pPr>
              <a:defRPr sz="2175" b="0">
                <a:solidFill>
                  <a:srgbClr val="142C45"/>
                </a:solidFill>
                <a:latin typeface="Arial"/>
                <a:ea typeface="Arial"/>
                <a:cs typeface="Arial"/>
              </a:defRPr>
            </a:lvl2pPr>
            <a:lvl3pPr>
              <a:defRPr sz="2175" b="0">
                <a:solidFill>
                  <a:srgbClr val="142C45"/>
                </a:solidFill>
                <a:latin typeface="Arial"/>
                <a:ea typeface="Arial"/>
                <a:cs typeface="Arial"/>
              </a:defRPr>
            </a:lvl3pPr>
            <a:lvl4pPr>
              <a:defRPr sz="2175" b="0">
                <a:solidFill>
                  <a:srgbClr val="142C45"/>
                </a:solidFill>
                <a:latin typeface="Arial"/>
                <a:ea typeface="Arial"/>
                <a:cs typeface="Arial"/>
              </a:defRPr>
            </a:lvl4pPr>
            <a:lvl5pPr>
              <a:defRPr sz="2175" b="0">
                <a:solidFill>
                  <a:srgbClr val="142C45"/>
                </a:solidFill>
                <a:latin typeface="Arial"/>
                <a:ea typeface="Arial"/>
                <a:cs typeface="Arial"/>
              </a:defRPr>
            </a:lvl5pPr>
            <a:lvl6pPr>
              <a:defRPr sz="2175" b="0">
                <a:solidFill>
                  <a:srgbClr val="142C45"/>
                </a:solidFill>
                <a:latin typeface="Arial"/>
                <a:ea typeface="Arial"/>
                <a:cs typeface="Arial"/>
              </a:defRPr>
            </a:lvl6pPr>
            <a:lvl7pPr>
              <a:defRPr sz="2175" b="0">
                <a:solidFill>
                  <a:srgbClr val="142C45"/>
                </a:solidFill>
                <a:latin typeface="Arial"/>
                <a:ea typeface="Arial"/>
                <a:cs typeface="Arial"/>
              </a:defRPr>
            </a:lvl7pPr>
            <a:lvl8pPr>
              <a:defRPr sz="2175" b="0">
                <a:solidFill>
                  <a:srgbClr val="142C45"/>
                </a:solidFill>
                <a:latin typeface="Arial"/>
                <a:ea typeface="Arial"/>
                <a:cs typeface="Arial"/>
              </a:defRPr>
            </a:lvl8pPr>
            <a:lvl9pPr>
              <a:defRPr sz="2175" b="0">
                <a:solidFill>
                  <a:srgbClr val="142C45"/>
                </a:solidFill>
                <a:latin typeface="Arial"/>
                <a:ea typeface="Arial"/>
                <a:cs typeface="Arial"/>
              </a:defRPr>
            </a:lvl9pPr>
          </a:lstStyle>
          <a:p xmlns:a="http://schemas.openxmlformats.org/drawingml/2006/main">
            <a:pPr>
              <a:defRPr sz="2175" b="0">
                <a:solidFill>
                  <a:srgbClr val="142C45"/>
                </a:solidFill>
                <a:latin typeface="Arial"/>
                <a:ea typeface="Arial"/>
                <a:cs typeface="Arial"/>
              </a:defRPr>
            </a:pPr>
            <a:r>
              <a:rPr sz="2175" b="0">
                <a:solidFill>
                  <a:srgbClr val="142C45"/>
                </a:solidFill>
                <a:latin typeface="Arial"/>
                <a:ea typeface="Arial"/>
                <a:cs typeface="Arial"/>
              </a:rPr>
              <a:t>Manual cells, identical partitions and measured results</a:t>
            </a:r>
          </a:p>
        </p:txBody>
      </p:sp>
      <p:sp>
        <p:nvSpPr>
          <p:cNvPr id="7" name="">
            <a:extLst xmlns:a="http://schemas.openxmlformats.org/drawingml/2006/main">
              <a:ext uri="{FF2B5EF4-FFF2-40B4-BE49-F238E27FC236}">
                <a16:creationId xmlns:a16="http://schemas.microsoft.com/office/drawing/2014/main" id="{8C2FF61A-D7C8-4EF9-B8A2-39FD7A127DDF}"/>
              </a:ext>
            </a:extLst>
          </p:cNvPr>
          <p:cNvSpPr>
            <a:spLocks xmlns:a="http://schemas.openxmlformats.org/drawingml/2006/main" noGrp="1"/>
          </p:cNvSpPr>
          <p:nvPr/>
        </p:nvSpPr>
        <p:spPr>
          <a:xfrm xmlns:a="http://schemas.openxmlformats.org/drawingml/2006/main">
            <a:off x="647700" y="47148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C45"/>
                </a:solidFill>
                <a:latin typeface="Arial"/>
                <a:ea typeface="Arial"/>
                <a:cs typeface="Arial"/>
              </a:defRPr>
            </a:defPPr>
            <a:lvl1pPr>
              <a:defRPr sz="1950" b="0">
                <a:solidFill>
                  <a:srgbClr val="142C45"/>
                </a:solidFill>
                <a:latin typeface="Arial"/>
                <a:ea typeface="Arial"/>
                <a:cs typeface="Arial"/>
              </a:defRPr>
            </a:lvl1pPr>
            <a:lvl2pPr>
              <a:defRPr sz="1950" b="0">
                <a:solidFill>
                  <a:srgbClr val="142C45"/>
                </a:solidFill>
                <a:latin typeface="Arial"/>
                <a:ea typeface="Arial"/>
                <a:cs typeface="Arial"/>
              </a:defRPr>
            </a:lvl2pPr>
            <a:lvl3pPr>
              <a:defRPr sz="1950" b="0">
                <a:solidFill>
                  <a:srgbClr val="142C45"/>
                </a:solidFill>
                <a:latin typeface="Arial"/>
                <a:ea typeface="Arial"/>
                <a:cs typeface="Arial"/>
              </a:defRPr>
            </a:lvl3pPr>
            <a:lvl4pPr>
              <a:defRPr sz="1950" b="0">
                <a:solidFill>
                  <a:srgbClr val="142C45"/>
                </a:solidFill>
                <a:latin typeface="Arial"/>
                <a:ea typeface="Arial"/>
                <a:cs typeface="Arial"/>
              </a:defRPr>
            </a:lvl4pPr>
            <a:lvl5pPr>
              <a:defRPr sz="1950" b="0">
                <a:solidFill>
                  <a:srgbClr val="142C45"/>
                </a:solidFill>
                <a:latin typeface="Arial"/>
                <a:ea typeface="Arial"/>
                <a:cs typeface="Arial"/>
              </a:defRPr>
            </a:lvl5pPr>
            <a:lvl6pPr>
              <a:defRPr sz="1950" b="0">
                <a:solidFill>
                  <a:srgbClr val="142C45"/>
                </a:solidFill>
                <a:latin typeface="Arial"/>
                <a:ea typeface="Arial"/>
                <a:cs typeface="Arial"/>
              </a:defRPr>
            </a:lvl6pPr>
            <a:lvl7pPr>
              <a:defRPr sz="1950" b="0">
                <a:solidFill>
                  <a:srgbClr val="142C45"/>
                </a:solidFill>
                <a:latin typeface="Arial"/>
                <a:ea typeface="Arial"/>
                <a:cs typeface="Arial"/>
              </a:defRPr>
            </a:lvl7pPr>
            <a:lvl8pPr>
              <a:defRPr sz="1950" b="0">
                <a:solidFill>
                  <a:srgbClr val="142C45"/>
                </a:solidFill>
                <a:latin typeface="Arial"/>
                <a:ea typeface="Arial"/>
                <a:cs typeface="Arial"/>
              </a:defRPr>
            </a:lvl8pPr>
            <a:lvl9pPr>
              <a:defRPr sz="1950" b="0">
                <a:solidFill>
                  <a:srgbClr val="142C45"/>
                </a:solidFill>
                <a:latin typeface="Arial"/>
                <a:ea typeface="Arial"/>
                <a:cs typeface="Arial"/>
              </a:defRPr>
            </a:lvl9pPr>
          </a:lstStyle>
          <a:p xmlns:a="http://schemas.openxmlformats.org/drawingml/2006/main">
            <a:pPr>
              <a:defRPr sz="1950" b="0">
                <a:solidFill>
                  <a:srgbClr val="142C45"/>
                </a:solidFill>
                <a:latin typeface="Arial"/>
                <a:ea typeface="Arial"/>
                <a:cs typeface="Arial"/>
              </a:defRPr>
            </a:pPr>
            <a:r>
              <a:rPr sz="1950" b="0">
                <a:solidFill>
                  <a:srgbClr val="142C45"/>
                </a:solidFill>
                <a:latin typeface="Arial"/>
                <a:ea typeface="Arial"/>
                <a:cs typeface="Arial"/>
              </a:rPr>
              <a:t>github.com/baalasara7-max/rnn-drug-review-lstm-2026</a:t>
            </a:r>
          </a:p>
        </p:txBody>
      </p:sp>
      <p:sp>
        <p:nvSpPr>
          <p:cNvPr id="8" name="">
            <a:extLst xmlns:a="http://schemas.openxmlformats.org/drawingml/2006/main">
              <a:ext uri="{FF2B5EF4-FFF2-40B4-BE49-F238E27FC236}">
                <a16:creationId xmlns:a16="http://schemas.microsoft.com/office/drawing/2014/main" id="{13730C33-A440-4381-9FE4-0F96BA037925}"/>
              </a:ext>
            </a:extLst>
          </p:cNvPr>
          <p:cNvSpPr>
            <a:spLocks xmlns:a="http://schemas.openxmlformats.org/drawingml/2006/main" noGrp="1"/>
          </p:cNvSpPr>
          <p:nvPr/>
        </p:nvSpPr>
        <p:spPr>
          <a:xfrm xmlns:a="http://schemas.openxmlformats.org/drawingml/2006/main">
            <a:off x="647700" y="5715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42C45"/>
                </a:solidFill>
                <a:latin typeface="Arial"/>
                <a:ea typeface="Arial"/>
                <a:cs typeface="Arial"/>
              </a:defRPr>
            </a:defPPr>
            <a:lvl1pPr>
              <a:defRPr sz="1650" b="0">
                <a:solidFill>
                  <a:srgbClr val="142C45"/>
                </a:solidFill>
                <a:latin typeface="Arial"/>
                <a:ea typeface="Arial"/>
                <a:cs typeface="Arial"/>
              </a:defRPr>
            </a:lvl1pPr>
            <a:lvl2pPr>
              <a:defRPr sz="1650" b="0">
                <a:solidFill>
                  <a:srgbClr val="142C45"/>
                </a:solidFill>
                <a:latin typeface="Arial"/>
                <a:ea typeface="Arial"/>
                <a:cs typeface="Arial"/>
              </a:defRPr>
            </a:lvl2pPr>
            <a:lvl3pPr>
              <a:defRPr sz="1650" b="0">
                <a:solidFill>
                  <a:srgbClr val="142C45"/>
                </a:solidFill>
                <a:latin typeface="Arial"/>
                <a:ea typeface="Arial"/>
                <a:cs typeface="Arial"/>
              </a:defRPr>
            </a:lvl3pPr>
            <a:lvl4pPr>
              <a:defRPr sz="1650" b="0">
                <a:solidFill>
                  <a:srgbClr val="142C45"/>
                </a:solidFill>
                <a:latin typeface="Arial"/>
                <a:ea typeface="Arial"/>
                <a:cs typeface="Arial"/>
              </a:defRPr>
            </a:lvl4pPr>
            <a:lvl5pPr>
              <a:defRPr sz="1650" b="0">
                <a:solidFill>
                  <a:srgbClr val="142C45"/>
                </a:solidFill>
                <a:latin typeface="Arial"/>
                <a:ea typeface="Arial"/>
                <a:cs typeface="Arial"/>
              </a:defRPr>
            </a:lvl5pPr>
            <a:lvl6pPr>
              <a:defRPr sz="1650" b="0">
                <a:solidFill>
                  <a:srgbClr val="142C45"/>
                </a:solidFill>
                <a:latin typeface="Arial"/>
                <a:ea typeface="Arial"/>
                <a:cs typeface="Arial"/>
              </a:defRPr>
            </a:lvl6pPr>
            <a:lvl7pPr>
              <a:defRPr sz="1650" b="0">
                <a:solidFill>
                  <a:srgbClr val="142C45"/>
                </a:solidFill>
                <a:latin typeface="Arial"/>
                <a:ea typeface="Arial"/>
                <a:cs typeface="Arial"/>
              </a:defRPr>
            </a:lvl7pPr>
            <a:lvl8pPr>
              <a:defRPr sz="1650" b="0">
                <a:solidFill>
                  <a:srgbClr val="142C45"/>
                </a:solidFill>
                <a:latin typeface="Arial"/>
                <a:ea typeface="Arial"/>
                <a:cs typeface="Arial"/>
              </a:defRPr>
            </a:lvl8pPr>
            <a:lvl9pPr>
              <a:defRPr sz="1650" b="0">
                <a:solidFill>
                  <a:srgbClr val="142C45"/>
                </a:solidFill>
                <a:latin typeface="Arial"/>
                <a:ea typeface="Arial"/>
                <a:cs typeface="Arial"/>
              </a:defRPr>
            </a:lvl9pPr>
          </a:lstStyle>
          <a:p xmlns:a="http://schemas.openxmlformats.org/drawingml/2006/main">
            <a:pPr>
              <a:defRPr sz="1650" b="0">
                <a:solidFill>
                  <a:srgbClr val="142C45"/>
                </a:solidFill>
                <a:latin typeface="Arial"/>
                <a:ea typeface="Arial"/>
                <a:cs typeface="Arial"/>
              </a:defRPr>
            </a:pPr>
            <a:r>
              <a:rPr sz="1650" b="0">
                <a:solidFill>
                  <a:srgbClr val="142C45"/>
                </a:solidFill>
                <a:latin typeface="Arial"/>
                <a:ea typeface="Arial"/>
                <a:cs typeface="Arial"/>
              </a:rPr>
              <a:t>Dataset: UCI Drugs.com, with the cited GitHub TSV mirror</a:t>
            </a:r>
          </a:p>
          <a:p xmlns:a="http://schemas.openxmlformats.org/drawingml/2006/main">
            <a:pPr>
              <a:defRPr sz="1650" b="0">
                <a:solidFill>
                  <a:srgbClr val="142C45"/>
                </a:solidFill>
                <a:latin typeface="Arial"/>
                <a:ea typeface="Arial"/>
                <a:cs typeface="Arial"/>
              </a:defRPr>
            </a:pPr>
            <a:r>
              <a:rPr sz="1650" b="0">
                <a:solidFill>
                  <a:srgbClr val="142C45"/>
                </a:solidFill>
                <a:latin typeface="Arial"/>
                <a:ea typeface="Arial"/>
                <a:cs typeface="Arial"/>
              </a:rPr>
              <a:t>Full equations and references in the report and speaker notes</a:t>
            </a:r>
          </a:p>
        </p:txBody>
      </p:sp>
    </p:spTree>
    <p:extLst>
      <p:ext uri="{BB962C8B-B14F-4D97-AF65-F5344CB8AC3E}">
        <p14:creationId xmlns:p14="http://schemas.microsoft.com/office/powerpoint/2010/main" val="1946721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2026-10-25T01:07:00.4380000Z</dcterms:created>
  <dcterms:modified xsi:type="dcterms:W3CDTF">2026-10-25T01:07:00.4380000Z</dcterms:modified>
</coreProperties>
</file>