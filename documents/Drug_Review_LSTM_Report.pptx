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514b5ff-76d8-dec8-ba8a-20fe99ac24fd}">
          <p14:sldIdLst>
            <p14:sldId id="256"/>
          </p14:sldIdLst>
        </p14:section>
        <p14:section name="Data" id="{9ef6ac01-b43e-9855-8b5c-8a27eb5f719b}">
          <p14:sldIdLst>
            <p14:sldId id="257"/>
            <p14:sldId id="258"/>
            <p14:sldId id="259"/>
          </p14:sldIdLst>
        </p14:section>
        <p14:section name="Models" id="{cbb70b2d-fe98-1680-842d-fc44500de0b4}">
          <p14:sldIdLst>
            <p14:sldId id="260"/>
            <p14:sldId id="261"/>
            <p14:sldId id="262"/>
          </p14:sldIdLst>
        </p14:section>
        <p14:section name="Experiments" id="{866d35e3-7eb3-804f-6920-7102b38ddfb3}">
          <p14:sldIdLst>
            <p14:sldId id="263"/>
            <p14:sldId id="264"/>
            <p14:sldId id="265"/>
            <p14:sldId id="266"/>
          </p14:sldIdLst>
        </p14:section>
        <p14:section name="Conclusion" id="{73f18bb6-9d51-c216-ea8d-415be3a43e0c}">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2A33"/>
                </a:solidFill>
                <a:latin typeface="+mn-lt"/>
              </a:defRPr>
            </a:pPr>
            <a:r>
              <a:rPr sz="1400" b="0" i="0" u="none" strike="noStrike">
                <a:solidFill>
                  <a:srgbClr val="0F2A33"/>
                </a:solidFill>
                <a:latin typeface="+mn-lt"/>
              </a:rPr>
              <a:t>Raw training class proportions (%)</a:t>
            </a:r>
          </a:p>
        </c:rich>
      </c:tx>
      <c:layout/>
      <c:overlay val="0"/>
    </c:title>
    <c:autoTitleDeleted val="0"/>
    <c:plotArea>
      <c:layout/>
      <c:barChart>
        <c:barDir val="col"/>
        <c:grouping val="clustered"/>
        <c:varyColors val="0"/>
        <c:ser>
          <c:idx val="0"/>
          <c:order val="0"/>
          <c:tx>
            <c:strRef>
              <c:f>Sheet1!$B$1</c:f>
              <c:strCache>
                <c:ptCount val="1"/>
                <c:pt idx="0">
                  <c:v>Share of raw training reviews</c:v>
                </c:pt>
              </c:strCache>
            </c:strRef>
          </c:tx>
          <c:spPr>
            <a:solidFill>
              <a:srgbClr val="F26B5B"/>
            </a:solidFill>
            <a:effectLst/>
          </c:spPr>
          <c:invertIfNegative val="0"/>
          <c:dLbls>
            <c:numFmt formatCode="0.00" sourceLinked="0"/>
            <c:txPr>
              <a:bodyPr/>
              <a:lstStyle/>
              <a:p>
                <a:pPr>
                  <a:defRPr b="0" i="0" strike="noStrike" sz="1400" u="none">
                    <a:solidFill>
                      <a:srgbClr val="0F2A33"/>
                    </a:solidFill>
                    <a:latin typeface="+mn-lt"/>
                  </a:defRPr>
                </a:pPr>
              </a:p>
            </c:txPr>
            <c:showLegendKey val="0"/>
            <c:showVal val="1"/>
            <c:showCatName val="0"/>
            <c:showSerName val="0"/>
            <c:showPercent val="0"/>
            <c:showBubbleSize val="0"/>
            <c:showLeaderLines val="0"/>
          </c:dLbls>
          <c:dPt>
            <c:idx val="0"/>
            <c:invertIfNegative val="0"/>
            <c:bubble3D val="0"/>
            <c:spPr>
              <a:solidFill>
                <a:srgbClr val="F26B5B"/>
              </a:solidFill>
              <a:effectLst/>
            </c:spPr>
          </c:dPt>
          <c:dPt>
            <c:idx val="1"/>
            <c:invertIfNegative val="0"/>
            <c:bubble3D val="0"/>
            <c:spPr>
              <a:solidFill>
                <a:srgbClr val="F2B84B"/>
              </a:solidFill>
              <a:effectLst/>
            </c:spPr>
          </c:dPt>
          <c:dPt>
            <c:idx val="2"/>
            <c:invertIfNegative val="0"/>
            <c:bubble3D val="0"/>
            <c:spPr>
              <a:solidFill>
                <a:srgbClr val="0E7C86"/>
              </a:solidFill>
              <a:effectLst/>
            </c:spPr>
          </c:dPt>
          <c:cat>
            <c:multiLvlStrRef>
              <c:f>Sheet1!$A$2:$A$4</c:f>
              <c:multiLvlStrCache>
                <c:ptCount val="3"/>
                <c:lvl>
                  <c:pt idx="0">
                    <c:v>Negative (40,075)</c:v>
                  </c:pt>
                  <c:pt idx="1">
                    <c:v>Neutral (14,356)</c:v>
                  </c:pt>
                  <c:pt idx="2">
                    <c:v>Positive (106,866)</c:v>
                  </c:pt>
                </c:lvl>
              </c:multiLvlStrCache>
            </c:multiLvlStrRef>
          </c:cat>
          <c:val>
            <c:numRef>
              <c:f>Sheet1!$B$2:$B$4</c:f>
              <c:numCache>
                <c:formatCode>General</c:formatCode>
                <c:ptCount val="3"/>
                <c:pt idx="0">
                  <c:v>24.85</c:v>
                </c:pt>
                <c:pt idx="1">
                  <c:v>8.9</c:v>
                </c:pt>
                <c:pt idx="2">
                  <c:v>66.25</c:v>
                </c:pt>
              </c:numCache>
            </c:numRef>
          </c:val>
        </c:ser>
        <c:dLbls>
          <c:numFmt formatCode="0.00" sourceLinked="0"/>
          <c:txPr>
            <a:bodyPr/>
            <a:lstStyle/>
            <a:p>
              <a:pPr>
                <a:defRPr b="0" i="0" strike="noStrike" sz="1400" u="none">
                  <a:solidFill>
                    <a:srgbClr val="0F2A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F2A33"/>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9525" cap="flat">
              <a:solidFill>
                <a:srgbClr val="DCE6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FA9A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2A33"/>
                </a:solidFill>
                <a:latin typeface="+mn-lt"/>
              </a:defRPr>
            </a:pPr>
            <a:r>
              <a:rPr sz="1400" b="0" i="0" u="none" strike="noStrike">
                <a:solidFill>
                  <a:srgbClr val="0F2A33"/>
                </a:solidFill>
                <a:latin typeface="+mn-lt"/>
              </a:rPr>
              <a:t>Test macro-F1 on the same 4,000 reviews</a:t>
            </a:r>
          </a:p>
        </c:rich>
      </c:tx>
      <c:layout/>
      <c:overlay val="0"/>
    </c:title>
    <c:autoTitleDeleted val="0"/>
    <c:plotArea>
      <c:layout/>
      <c:barChart>
        <c:barDir val="col"/>
        <c:grouping val="clustered"/>
        <c:varyColors val="0"/>
        <c:ser>
          <c:idx val="0"/>
          <c:order val="0"/>
          <c:tx>
            <c:strRef>
              <c:f>Sheet1!$B$1</c:f>
              <c:strCache>
                <c:ptCount val="1"/>
                <c:pt idx="0">
                  <c:v>Test macro-F1</c:v>
                </c:pt>
              </c:strCache>
            </c:strRef>
          </c:tx>
          <c:spPr>
            <a:solidFill>
              <a:srgbClr val="5B7C99"/>
            </a:solidFill>
            <a:effectLst/>
          </c:spPr>
          <c:invertIfNegative val="0"/>
          <c:dLbls>
            <c:numFmt formatCode="0.0000" sourceLinked="0"/>
            <c:txPr>
              <a:bodyPr/>
              <a:lstStyle/>
              <a:p>
                <a:pPr>
                  <a:defRPr b="0" i="0" strike="noStrike" sz="1400" u="none">
                    <a:solidFill>
                      <a:srgbClr val="0F2A33"/>
                    </a:solidFill>
                    <a:latin typeface="+mn-lt"/>
                  </a:defRPr>
                </a:pPr>
              </a:p>
            </c:txPr>
            <c:showLegendKey val="0"/>
            <c:showVal val="1"/>
            <c:showCatName val="0"/>
            <c:showSerName val="0"/>
            <c:showPercent val="0"/>
            <c:showBubbleSize val="0"/>
            <c:showLeaderLines val="0"/>
          </c:dLbls>
          <c:dPt>
            <c:idx val="0"/>
            <c:invertIfNegative val="0"/>
            <c:bubble3D val="0"/>
            <c:spPr>
              <a:solidFill>
                <a:srgbClr val="5B7C99"/>
              </a:solidFill>
              <a:effectLst/>
            </c:spPr>
          </c:dPt>
          <c:dPt>
            <c:idx val="1"/>
            <c:invertIfNegative val="0"/>
            <c:bubble3D val="0"/>
            <c:spPr>
              <a:solidFill>
                <a:srgbClr val="0E7C86"/>
              </a:solidFill>
              <a:effectLst/>
            </c:spPr>
          </c:dPt>
          <c:dPt>
            <c:idx val="2"/>
            <c:invertIfNegative val="0"/>
            <c:bubble3D val="0"/>
            <c:spPr>
              <a:solidFill>
                <a:srgbClr val="F26B5B"/>
              </a:solidFill>
              <a:effectLst/>
            </c:spPr>
          </c:dPt>
          <c:dPt>
            <c:idx val="3"/>
            <c:invertIfNegative val="0"/>
            <c:bubble3D val="0"/>
            <c:spPr>
              <a:solidFill>
                <a:srgbClr val="B8C6C5"/>
              </a:solidFill>
              <a:effectLst/>
            </c:spPr>
          </c:dPt>
          <c:cat>
            <c:multiLvlStrRef>
              <c:f>Sheet1!$A$2:$A$5</c:f>
              <c:multiLvlStrCache>
                <c:ptCount val="4"/>
                <c:lvl>
                  <c:pt idx="0">
                    <c:v>Vanilla</c:v>
                  </c:pt>
                  <c:pt idx="1">
                    <c:v>CIFG</c:v>
                  </c:pt>
                  <c:pt idx="2">
                    <c:v>WMC</c:v>
                  </c:pt>
                  <c:pt idx="3">
                    <c:v>Always positive</c:v>
                  </c:pt>
                </c:lvl>
              </c:multiLvlStrCache>
            </c:multiLvlStrRef>
          </c:cat>
          <c:val>
            <c:numRef>
              <c:f>Sheet1!$B$2:$B$5</c:f>
              <c:numCache>
                <c:formatCode>General</c:formatCode>
                <c:ptCount val="4"/>
                <c:pt idx="0">
                  <c:v>0.5052</c:v>
                </c:pt>
                <c:pt idx="1">
                  <c:v>0.5093</c:v>
                </c:pt>
                <c:pt idx="2">
                  <c:v>0.4858</c:v>
                </c:pt>
                <c:pt idx="3">
                  <c:v>0.266</c:v>
                </c:pt>
              </c:numCache>
            </c:numRef>
          </c:val>
        </c:ser>
        <c:dLbls>
          <c:numFmt formatCode="0.0000" sourceLinked="0"/>
          <c:txPr>
            <a:bodyPr/>
            <a:lstStyle/>
            <a:p>
              <a:pPr>
                <a:defRPr b="0" i="0" strike="noStrike" sz="1400" u="none">
                  <a:solidFill>
                    <a:srgbClr val="0F2A33"/>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F2A33"/>
                </a:solidFill>
                <a:latin typeface="+mn-lt"/>
              </a:defRPr>
            </a:pPr>
            <a:endParaRPr lang="en-US"/>
          </a:p>
        </c:txPr>
        <c:crossAx val="2094734552"/>
        <c:crosses val="autoZero"/>
        <c:auto val="1"/>
        <c:lblAlgn val="ctr"/>
        <c:noMultiLvlLbl val="1"/>
      </c:catAx>
      <c:valAx>
        <c:axId val="2094734552"/>
        <c:scaling>
          <c:orientation val="minMax"/>
          <c:max val="0.7"/>
          <c:min val="0"/>
        </c:scaling>
        <c:delete val="0"/>
        <c:axPos val="l"/>
        <c:majorGridlines>
          <c:spPr>
            <a:ln w="9525" cap="flat">
              <a:solidFill>
                <a:srgbClr val="DCE6E5"/>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FA9A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project for Advanced NLP. We predict negative, neutral or positive sentiment from English patient reviews and compare three manually implemented LSTM cells: Vanilla, CIFG and WMC.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Ratings 1-4 are negative, 5-6 neutral and 7-10 positive. These thresholds are a modeling choice and provide proxy sentiment labels. The model receives review text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training set: 40,075 negative, 14,356 neutral and 106,866 positive reviews. The test file has 295 missing condition values but no missing review or rating values; missing conditions do not affect this text-only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deduplication does not eliminate near-duplicates. Subsampling preserves category proportions for the CPU training budget. Test preparation also excluded 15 conflicting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Tokenization preserves internal apostrophes and separates punctuation. The vocabulary fits the full 95,443-review training pool; optimization later uses the fixed 12,000-review subset.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Sigmoid gates lie between 0 and 1. The tanh candidate g proposes new memory content. The symbol ⊙ denotes elementwise multiplication in the memory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CIFG sets i = 1 − f. WMC adds tanh-transformed full-matrix memory connections to the input and forget gates from c_previous; its output gate reads the newly updated c, following the appendix order. Four tests verify the explicit equations, numerical gradients, finite backward gradients, PAD invariance and parameter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weights are computed on training data only. Environment: Python 3.12.14, PyTorch 2.14.1+cpu, four PyTorch threads, default initialization fixed by seed. Architecture selection accounts for differing parameter counts. All other representation and evaluation settings are shared.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Highlighted cell: the best validation macro-F1 overall (CIFG, 0.5246). Each run keeps the epoch with the highest validation macro-F1, and each architecture then selects its best configuration. Macro-F1 gives the three categories equal importance, whereas accuracy counts all reviews equally.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results did not influence configuration selection. The majority baseline reveals whether the models recognize minority categories beyond class frequency. CIFG reaches 63.78% accuracy and 0.5093 macro-F1, the strongest observed test macro-F1.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Confusion matrix of the validation-selected CIFG model; rows are actual categories and columns are predictions. Mixed sentiment, rating ambiguity and truncated context are plausible explanations to investigate, not proven causes of every error. Prediction CSVs allow individual error inspection in the same order as test_experience.tsv.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experiment has one random seed, four epochs, a restricted optimization subset and no confidence intervals. Exact deduplication does not guarantee independence of near-duplicates or of reviews of the same drug. All final scores come from stage 10 of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828800"/>
            <a:ext cx="7863840" cy="192024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3" name="Text 0"/>
          <p:cNvSpPr/>
          <p:nvPr>
            <p:ph idx="101" type="body" hasCustomPrompt="1"/>
          </p:nvPr>
        </p:nvSpPr>
        <p:spPr>
          <a:xfrm>
            <a:off x="822960" y="3977640"/>
            <a:ext cx="7315200" cy="109728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1828800"/>
            <a:ext cx="7863840" cy="1920240"/>
          </a:xfrm>
          <a:prstGeom prst="rect">
            <a:avLst/>
          </a:prstGeom>
          <a:noFill/>
          <a:ln/>
        </p:spPr>
        <p:txBody>
          <a:bodyPr wrap="square" lIns="0" tIns="0" rIns="0" bIns="0" rtlCol="0" anchor="b"/>
          <a:lstStyle/>
          <a:p>
            <a:pPr algn="l" indent="0" marL="0">
              <a:buNone/>
            </a:pPr>
            <a:r>
              <a:rPr lang="en-US" sz="4600" b="1" dirty="0">
                <a:solidFill>
                  <a:schemeClr val="bg1"/>
                </a:solidFill>
              </a:rPr>
              <a:t>Drug Review Sentiment</a:t>
            </a:r>
            <a:endParaRPr lang="en-US" sz="4600" dirty="0"/>
          </a:p>
        </p:txBody>
      </p:sp>
      <p:sp>
        <p:nvSpPr>
          <p:cNvPr id="3" name="Text 0"/>
          <p:cNvSpPr/>
          <p:nvPr>
            <p:ph idx="101" type="body" hasCustomPrompt="1"/>
          </p:nvPr>
        </p:nvSpPr>
        <p:spPr>
          <a:xfrm>
            <a:off x="822960" y="3977640"/>
            <a:ext cx="7315200" cy="1097280"/>
          </a:xfrm>
          <a:prstGeom prst="rect">
            <a:avLst/>
          </a:prstGeom>
          <a:noFill/>
          <a:ln/>
        </p:spPr>
        <p:txBody>
          <a:bodyPr wrap="square" lIns="0" tIns="0" rIns="0" bIns="0" rtlCol="0" anchor="t"/>
          <a:lstStyle/>
          <a:p>
            <a:pPr algn="l" indent="0" marL="0">
              <a:buNone/>
            </a:pPr>
            <a:r>
              <a:rPr lang="en-US" sz="2000" dirty="0">
                <a:solidFill>
                  <a:schemeClr val="bg2"/>
                </a:solidFill>
              </a:rPr>
              <a:t>Manual LSTM cells: Vanilla, CIFG and WMC compared under one protocol</a:t>
            </a:r>
            <a:endParaRPr lang="en-US" sz="2000" dirty="0"/>
          </a:p>
        </p:txBody>
      </p:sp>
      <p:sp>
        <p:nvSpPr>
          <p:cNvPr id="4" name="Motif circle 1"/>
          <p:cNvSpPr/>
          <p:nvPr/>
        </p:nvSpPr>
        <p:spPr>
          <a:xfrm>
            <a:off x="9052560" y="1554480"/>
            <a:ext cx="2194560" cy="2194560"/>
          </a:xfrm>
          <a:prstGeom prst="ellipse">
            <a:avLst/>
          </a:prstGeom>
          <a:solidFill>
            <a:schemeClr val="accent1">
              <a:alpha val="75000"/>
            </a:schemeClr>
          </a:solidFill>
          <a:ln w="19050">
            <a:solidFill>
              <a:schemeClr val="bg1"/>
            </a:solidFill>
            <a:prstDash val="solid"/>
          </a:ln>
        </p:spPr>
      </p:sp>
      <p:sp>
        <p:nvSpPr>
          <p:cNvPr id="5" name="Motif circle 2"/>
          <p:cNvSpPr/>
          <p:nvPr/>
        </p:nvSpPr>
        <p:spPr>
          <a:xfrm>
            <a:off x="9966960" y="2468880"/>
            <a:ext cx="2194560" cy="2194560"/>
          </a:xfrm>
          <a:prstGeom prst="ellipse">
            <a:avLst/>
          </a:prstGeom>
          <a:solidFill>
            <a:schemeClr val="accent4">
              <a:alpha val="75000"/>
            </a:schemeClr>
          </a:solidFill>
          <a:ln w="19050">
            <a:solidFill>
              <a:schemeClr val="bg1"/>
            </a:solidFill>
            <a:prstDash val="solid"/>
          </a:ln>
        </p:spPr>
      </p:sp>
      <p:sp>
        <p:nvSpPr>
          <p:cNvPr id="6" name="Motif circle 3"/>
          <p:cNvSpPr/>
          <p:nvPr/>
        </p:nvSpPr>
        <p:spPr>
          <a:xfrm>
            <a:off x="8686800" y="3017520"/>
            <a:ext cx="2194560" cy="2194560"/>
          </a:xfrm>
          <a:prstGeom prst="ellipse">
            <a:avLst/>
          </a:prstGeom>
          <a:solidFill>
            <a:schemeClr val="accent2">
              <a:alpha val="75000"/>
            </a:schemeClr>
          </a:solidFill>
          <a:ln w="19050">
            <a:solidFill>
              <a:schemeClr val="bg1"/>
            </a:solidFill>
            <a:prstDash val="solid"/>
          </a:ln>
        </p:spPr>
      </p:sp>
      <p:sp>
        <p:nvSpPr>
          <p:cNvPr id="7" name="Text 5"/>
          <p:cNvSpPr txBox="1"/>
          <p:nvPr/>
        </p:nvSpPr>
        <p:spPr>
          <a:xfrm>
            <a:off x="822960" y="5257800"/>
            <a:ext cx="8229600" cy="365760"/>
          </a:xfrm>
          <a:prstGeom prst="rect">
            <a:avLst/>
          </a:prstGeom>
          <a:noFill/>
          <a:ln/>
        </p:spPr>
        <p:txBody>
          <a:bodyPr wrap="square" lIns="0" tIns="0" rIns="0" bIns="0" rtlCol="0" anchor="ctr"/>
          <a:lstStyle/>
          <a:p>
            <a:pPr indent="0" marL="0">
              <a:buNone/>
            </a:pPr>
            <a:r>
              <a:rPr lang="en-US" sz="1600" dirty="0">
                <a:solidFill>
                  <a:schemeClr val="bg1"/>
                </a:solidFill>
                <a:latin typeface="Calibri" pitchFamily="34" charset="0"/>
                <a:ea typeface="Calibri" pitchFamily="34" charset="-122"/>
                <a:cs typeface="Calibri" pitchFamily="34" charset="-120"/>
              </a:rPr>
              <a:t>Sara Baalla · Zouhair Eouichak · Malak Bartal · Aymane Youssi</a:t>
            </a:r>
            <a:endParaRPr lang="en-US" sz="1600" dirty="0"/>
          </a:p>
        </p:txBody>
      </p:sp>
      <p:sp>
        <p:nvSpPr>
          <p:cNvPr id="8" name="Text 6"/>
          <p:cNvSpPr txBox="1"/>
          <p:nvPr/>
        </p:nvSpPr>
        <p:spPr>
          <a:xfrm>
            <a:off x="822960" y="6035040"/>
            <a:ext cx="9144000" cy="365760"/>
          </a:xfrm>
          <a:prstGeom prst="rect">
            <a:avLst/>
          </a:prstGeom>
          <a:noFill/>
          <a:ln/>
        </p:spPr>
        <p:txBody>
          <a:bodyPr wrap="square" lIns="0" tIns="0" rIns="0" bIns="0" rtlCol="0" anchor="ctr"/>
          <a:lstStyle/>
          <a:p>
            <a:pPr indent="0" marL="0">
              <a:buNone/>
            </a:pPr>
            <a:r>
              <a:rPr lang="en-US" sz="1400" dirty="0">
                <a:solidFill>
                  <a:schemeClr val="accent6"/>
                </a:solidFill>
                <a:latin typeface="Calibri" pitchFamily="34" charset="0"/>
                <a:ea typeface="Calibri" pitchFamily="34" charset="-122"/>
                <a:cs typeface="Calibri" pitchFamily="34" charset="-120"/>
              </a:rPr>
              <a:t>Advanced Natural Language Processing · Lab project · 2026/2027 · 25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Task: three-class sentiment from review text</a:t>
            </a:r>
            <a:endParaRPr lang="en-US" sz="3600" dirty="0"/>
          </a:p>
        </p:txBody>
      </p:sp>
      <p:sp>
        <p:nvSpPr>
          <p:cNvPr id="3" name="Text 1"/>
          <p:cNvSpPr txBox="1"/>
          <p:nvPr/>
        </p:nvSpPr>
        <p:spPr>
          <a:xfrm>
            <a:off x="548640" y="1645920"/>
            <a:ext cx="4754880" cy="329184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latin typeface="Calibri" pitchFamily="34" charset="0"/>
                <a:ea typeface="Calibri" pitchFamily="34" charset="-122"/>
                <a:cs typeface="Calibri" pitchFamily="34" charset="-120"/>
              </a:rPr>
              <a:t>Input: English patient review text only</a:t>
            </a:r>
            <a:endParaRPr lang="en-US" sz="1800" dirty="0"/>
          </a:p>
          <a:p>
            <a:pPr marL="342900" indent="-342900">
              <a:spcAft>
                <a:spcPts val="1400"/>
              </a:spcAft>
              <a:buSzPct val="100000"/>
              <a:buChar char="•"/>
            </a:pPr>
            <a:r>
              <a:rPr lang="en-US" sz="1800" dirty="0">
                <a:solidFill>
                  <a:schemeClr val="tx1"/>
                </a:solidFill>
                <a:latin typeface="Calibri" pitchFamily="34" charset="0"/>
                <a:ea typeface="Calibri" pitchFamily="34" charset="-122"/>
                <a:cs typeface="Calibri" pitchFamily="34" charset="-120"/>
              </a:rPr>
              <a:t>Never used: rating, drug name, condition or helpfulness count</a:t>
            </a:r>
            <a:endParaRPr lang="en-US" sz="1800" dirty="0"/>
          </a:p>
          <a:p>
            <a:pPr marL="342900" indent="-342900">
              <a:spcAft>
                <a:spcPts val="1400"/>
              </a:spcAft>
              <a:buSzPct val="100000"/>
              <a:buChar char="•"/>
            </a:pPr>
            <a:r>
              <a:rPr lang="en-US" sz="1800" dirty="0">
                <a:solidFill>
                  <a:schemeClr val="tx1"/>
                </a:solidFill>
                <a:latin typeface="Calibri" pitchFamily="34" charset="0"/>
                <a:ea typeface="Calibri" pitchFamily="34" charset="-122"/>
                <a:cs typeface="Calibri" pitchFamily="34" charset="-120"/>
              </a:rPr>
              <a:t>Labels: proxy sentiment derived from the rating</a:t>
            </a:r>
            <a:endParaRPr lang="en-US" sz="1800" dirty="0"/>
          </a:p>
          <a:p>
            <a:pPr marL="342900" indent="-342900">
              <a:spcAft>
                <a:spcPts val="1400"/>
              </a:spcAft>
              <a:buSzPct val="100000"/>
              <a:buChar char="•"/>
            </a:pPr>
            <a:r>
              <a:rPr lang="en-US" sz="1800" dirty="0">
                <a:solidFill>
                  <a:schemeClr val="tx1"/>
                </a:solidFill>
                <a:latin typeface="Calibri" pitchFamily="34" charset="0"/>
                <a:ea typeface="Calibri" pitchFamily="34" charset="-122"/>
                <a:cs typeface="Calibri" pitchFamily="34" charset="-120"/>
              </a:rPr>
              <a:t>Goal: compare manual Vanilla LSTM, CIFG and WMC</a:t>
            </a:r>
            <a:endParaRPr lang="en-US" sz="1800" dirty="0"/>
          </a:p>
        </p:txBody>
      </p:sp>
      <p:sp>
        <p:nvSpPr>
          <p:cNvPr id="4" name="Rating 1"/>
          <p:cNvSpPr/>
          <p:nvPr/>
        </p:nvSpPr>
        <p:spPr>
          <a:xfrm>
            <a:off x="5760720" y="1920240"/>
            <a:ext cx="530352" cy="731520"/>
          </a:xfrm>
          <a:prstGeom prst="roundRect">
            <a:avLst>
              <a:gd name="adj" fmla="val 17241"/>
            </a:avLst>
          </a:prstGeom>
          <a:solidFill>
            <a:schemeClr val="accent2"/>
          </a:solidFill>
          <a:ln w="12700">
            <a:solidFill>
              <a:schemeClr val="accent2"/>
            </a:solidFill>
            <a:prstDash val="solid"/>
          </a:ln>
        </p:spPr>
      </p:sp>
      <p:sp>
        <p:nvSpPr>
          <p:cNvPr id="5" name="Text 3"/>
          <p:cNvSpPr txBox="1"/>
          <p:nvPr/>
        </p:nvSpPr>
        <p:spPr>
          <a:xfrm>
            <a:off x="5760720" y="1920240"/>
            <a:ext cx="530352"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1</a:t>
            </a:r>
            <a:endParaRPr lang="en-US" sz="2000" dirty="0"/>
          </a:p>
        </p:txBody>
      </p:sp>
      <p:sp>
        <p:nvSpPr>
          <p:cNvPr id="6" name="Rating 2"/>
          <p:cNvSpPr/>
          <p:nvPr/>
        </p:nvSpPr>
        <p:spPr>
          <a:xfrm>
            <a:off x="6364224" y="1920240"/>
            <a:ext cx="530352" cy="731520"/>
          </a:xfrm>
          <a:prstGeom prst="roundRect">
            <a:avLst>
              <a:gd name="adj" fmla="val 17241"/>
            </a:avLst>
          </a:prstGeom>
          <a:solidFill>
            <a:schemeClr val="accent2"/>
          </a:solidFill>
          <a:ln w="12700">
            <a:solidFill>
              <a:schemeClr val="accent2"/>
            </a:solidFill>
            <a:prstDash val="solid"/>
          </a:ln>
        </p:spPr>
      </p:sp>
      <p:sp>
        <p:nvSpPr>
          <p:cNvPr id="7" name="Text 5"/>
          <p:cNvSpPr txBox="1"/>
          <p:nvPr/>
        </p:nvSpPr>
        <p:spPr>
          <a:xfrm>
            <a:off x="6364224" y="1920240"/>
            <a:ext cx="530352"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2</a:t>
            </a:r>
            <a:endParaRPr lang="en-US" sz="2000" dirty="0"/>
          </a:p>
        </p:txBody>
      </p:sp>
      <p:sp>
        <p:nvSpPr>
          <p:cNvPr id="8" name="Rating 3"/>
          <p:cNvSpPr/>
          <p:nvPr/>
        </p:nvSpPr>
        <p:spPr>
          <a:xfrm>
            <a:off x="6967728" y="1920240"/>
            <a:ext cx="530352" cy="731520"/>
          </a:xfrm>
          <a:prstGeom prst="roundRect">
            <a:avLst>
              <a:gd name="adj" fmla="val 17241"/>
            </a:avLst>
          </a:prstGeom>
          <a:solidFill>
            <a:schemeClr val="accent2"/>
          </a:solidFill>
          <a:ln w="12700">
            <a:solidFill>
              <a:schemeClr val="accent2"/>
            </a:solidFill>
            <a:prstDash val="solid"/>
          </a:ln>
        </p:spPr>
      </p:sp>
      <p:sp>
        <p:nvSpPr>
          <p:cNvPr id="9" name="Text 7"/>
          <p:cNvSpPr txBox="1"/>
          <p:nvPr/>
        </p:nvSpPr>
        <p:spPr>
          <a:xfrm>
            <a:off x="6967728" y="1920240"/>
            <a:ext cx="530352"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3</a:t>
            </a:r>
            <a:endParaRPr lang="en-US" sz="2000" dirty="0"/>
          </a:p>
        </p:txBody>
      </p:sp>
      <p:sp>
        <p:nvSpPr>
          <p:cNvPr id="10" name="Rating 4"/>
          <p:cNvSpPr/>
          <p:nvPr/>
        </p:nvSpPr>
        <p:spPr>
          <a:xfrm>
            <a:off x="7571232" y="1920240"/>
            <a:ext cx="530352" cy="731520"/>
          </a:xfrm>
          <a:prstGeom prst="roundRect">
            <a:avLst>
              <a:gd name="adj" fmla="val 17241"/>
            </a:avLst>
          </a:prstGeom>
          <a:solidFill>
            <a:schemeClr val="accent2"/>
          </a:solidFill>
          <a:ln w="12700">
            <a:solidFill>
              <a:schemeClr val="accent2"/>
            </a:solidFill>
            <a:prstDash val="solid"/>
          </a:ln>
        </p:spPr>
      </p:sp>
      <p:sp>
        <p:nvSpPr>
          <p:cNvPr id="11" name="Text 9"/>
          <p:cNvSpPr txBox="1"/>
          <p:nvPr/>
        </p:nvSpPr>
        <p:spPr>
          <a:xfrm>
            <a:off x="7571232" y="1920240"/>
            <a:ext cx="530352"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4</a:t>
            </a:r>
            <a:endParaRPr lang="en-US" sz="2000" dirty="0"/>
          </a:p>
        </p:txBody>
      </p:sp>
      <p:sp>
        <p:nvSpPr>
          <p:cNvPr id="12" name="Rating 5"/>
          <p:cNvSpPr/>
          <p:nvPr/>
        </p:nvSpPr>
        <p:spPr>
          <a:xfrm>
            <a:off x="8174736" y="1920240"/>
            <a:ext cx="530352" cy="731520"/>
          </a:xfrm>
          <a:prstGeom prst="roundRect">
            <a:avLst>
              <a:gd name="adj" fmla="val 17241"/>
            </a:avLst>
          </a:prstGeom>
          <a:solidFill>
            <a:schemeClr val="accent3"/>
          </a:solidFill>
          <a:ln w="12700">
            <a:solidFill>
              <a:schemeClr val="accent3"/>
            </a:solidFill>
            <a:prstDash val="solid"/>
          </a:ln>
        </p:spPr>
      </p:sp>
      <p:sp>
        <p:nvSpPr>
          <p:cNvPr id="13" name="Text 11"/>
          <p:cNvSpPr txBox="1"/>
          <p:nvPr/>
        </p:nvSpPr>
        <p:spPr>
          <a:xfrm>
            <a:off x="8174736" y="1920240"/>
            <a:ext cx="530352" cy="731520"/>
          </a:xfrm>
          <a:prstGeom prst="rect">
            <a:avLst/>
          </a:prstGeom>
          <a:noFill/>
          <a:ln/>
        </p:spPr>
        <p:txBody>
          <a:bodyPr wrap="square" lIns="0" tIns="0" rIns="0" bIns="0" rtlCol="0" anchor="ctr"/>
          <a:lstStyle/>
          <a:p>
            <a:pPr algn="ctr" indent="0" marL="0">
              <a:buNone/>
            </a:pPr>
            <a:r>
              <a:rPr lang="en-US" sz="2000" b="1" dirty="0">
                <a:solidFill>
                  <a:schemeClr val="tx1"/>
                </a:solidFill>
                <a:latin typeface="Calibri" pitchFamily="34" charset="0"/>
                <a:ea typeface="Calibri" pitchFamily="34" charset="-122"/>
                <a:cs typeface="Calibri" pitchFamily="34" charset="-120"/>
              </a:rPr>
              <a:t>5</a:t>
            </a:r>
            <a:endParaRPr lang="en-US" sz="2000" dirty="0"/>
          </a:p>
        </p:txBody>
      </p:sp>
      <p:sp>
        <p:nvSpPr>
          <p:cNvPr id="14" name="Rating 6"/>
          <p:cNvSpPr/>
          <p:nvPr/>
        </p:nvSpPr>
        <p:spPr>
          <a:xfrm>
            <a:off x="8778240" y="1920240"/>
            <a:ext cx="530352" cy="731520"/>
          </a:xfrm>
          <a:prstGeom prst="roundRect">
            <a:avLst>
              <a:gd name="adj" fmla="val 17241"/>
            </a:avLst>
          </a:prstGeom>
          <a:solidFill>
            <a:schemeClr val="accent3"/>
          </a:solidFill>
          <a:ln w="12700">
            <a:solidFill>
              <a:schemeClr val="accent3"/>
            </a:solidFill>
            <a:prstDash val="solid"/>
          </a:ln>
        </p:spPr>
      </p:sp>
      <p:sp>
        <p:nvSpPr>
          <p:cNvPr id="15" name="Text 13"/>
          <p:cNvSpPr txBox="1"/>
          <p:nvPr/>
        </p:nvSpPr>
        <p:spPr>
          <a:xfrm>
            <a:off x="8778240" y="1920240"/>
            <a:ext cx="530352" cy="731520"/>
          </a:xfrm>
          <a:prstGeom prst="rect">
            <a:avLst/>
          </a:prstGeom>
          <a:noFill/>
          <a:ln/>
        </p:spPr>
        <p:txBody>
          <a:bodyPr wrap="square" lIns="0" tIns="0" rIns="0" bIns="0" rtlCol="0" anchor="ctr"/>
          <a:lstStyle/>
          <a:p>
            <a:pPr algn="ctr" indent="0" marL="0">
              <a:buNone/>
            </a:pPr>
            <a:r>
              <a:rPr lang="en-US" sz="2000" b="1" dirty="0">
                <a:solidFill>
                  <a:schemeClr val="tx1"/>
                </a:solidFill>
                <a:latin typeface="Calibri" pitchFamily="34" charset="0"/>
                <a:ea typeface="Calibri" pitchFamily="34" charset="-122"/>
                <a:cs typeface="Calibri" pitchFamily="34" charset="-120"/>
              </a:rPr>
              <a:t>6</a:t>
            </a:r>
            <a:endParaRPr lang="en-US" sz="2000" dirty="0"/>
          </a:p>
        </p:txBody>
      </p:sp>
      <p:sp>
        <p:nvSpPr>
          <p:cNvPr id="16" name="Rating 7"/>
          <p:cNvSpPr/>
          <p:nvPr/>
        </p:nvSpPr>
        <p:spPr>
          <a:xfrm>
            <a:off x="9381744" y="1920240"/>
            <a:ext cx="530352" cy="731520"/>
          </a:xfrm>
          <a:prstGeom prst="roundRect">
            <a:avLst>
              <a:gd name="adj" fmla="val 17241"/>
            </a:avLst>
          </a:prstGeom>
          <a:solidFill>
            <a:schemeClr val="accent1"/>
          </a:solidFill>
          <a:ln w="12700">
            <a:solidFill>
              <a:schemeClr val="accent1"/>
            </a:solidFill>
            <a:prstDash val="solid"/>
          </a:ln>
        </p:spPr>
      </p:sp>
      <p:sp>
        <p:nvSpPr>
          <p:cNvPr id="17" name="Text 15"/>
          <p:cNvSpPr txBox="1"/>
          <p:nvPr/>
        </p:nvSpPr>
        <p:spPr>
          <a:xfrm>
            <a:off x="9381744" y="1920240"/>
            <a:ext cx="530352"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7</a:t>
            </a:r>
            <a:endParaRPr lang="en-US" sz="2000" dirty="0"/>
          </a:p>
        </p:txBody>
      </p:sp>
      <p:sp>
        <p:nvSpPr>
          <p:cNvPr id="18" name="Rating 8"/>
          <p:cNvSpPr/>
          <p:nvPr/>
        </p:nvSpPr>
        <p:spPr>
          <a:xfrm>
            <a:off x="9985248" y="1920240"/>
            <a:ext cx="530352" cy="731520"/>
          </a:xfrm>
          <a:prstGeom prst="roundRect">
            <a:avLst>
              <a:gd name="adj" fmla="val 17241"/>
            </a:avLst>
          </a:prstGeom>
          <a:solidFill>
            <a:schemeClr val="accent1"/>
          </a:solidFill>
          <a:ln w="12700">
            <a:solidFill>
              <a:schemeClr val="accent1"/>
            </a:solidFill>
            <a:prstDash val="solid"/>
          </a:ln>
        </p:spPr>
      </p:sp>
      <p:sp>
        <p:nvSpPr>
          <p:cNvPr id="19" name="Text 17"/>
          <p:cNvSpPr txBox="1"/>
          <p:nvPr/>
        </p:nvSpPr>
        <p:spPr>
          <a:xfrm>
            <a:off x="9985248" y="1920240"/>
            <a:ext cx="530352"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8</a:t>
            </a:r>
            <a:endParaRPr lang="en-US" sz="2000" dirty="0"/>
          </a:p>
        </p:txBody>
      </p:sp>
      <p:sp>
        <p:nvSpPr>
          <p:cNvPr id="20" name="Rating 9"/>
          <p:cNvSpPr/>
          <p:nvPr/>
        </p:nvSpPr>
        <p:spPr>
          <a:xfrm>
            <a:off x="10588752" y="1920240"/>
            <a:ext cx="530352" cy="731520"/>
          </a:xfrm>
          <a:prstGeom prst="roundRect">
            <a:avLst>
              <a:gd name="adj" fmla="val 17241"/>
            </a:avLst>
          </a:prstGeom>
          <a:solidFill>
            <a:schemeClr val="accent1"/>
          </a:solidFill>
          <a:ln w="12700">
            <a:solidFill>
              <a:schemeClr val="accent1"/>
            </a:solidFill>
            <a:prstDash val="solid"/>
          </a:ln>
        </p:spPr>
      </p:sp>
      <p:sp>
        <p:nvSpPr>
          <p:cNvPr id="21" name="Text 19"/>
          <p:cNvSpPr txBox="1"/>
          <p:nvPr/>
        </p:nvSpPr>
        <p:spPr>
          <a:xfrm>
            <a:off x="10588752" y="1920240"/>
            <a:ext cx="530352"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9</a:t>
            </a:r>
            <a:endParaRPr lang="en-US" sz="2000" dirty="0"/>
          </a:p>
        </p:txBody>
      </p:sp>
      <p:sp>
        <p:nvSpPr>
          <p:cNvPr id="22" name="Rating 10"/>
          <p:cNvSpPr/>
          <p:nvPr/>
        </p:nvSpPr>
        <p:spPr>
          <a:xfrm>
            <a:off x="11192256" y="1920240"/>
            <a:ext cx="530352" cy="731520"/>
          </a:xfrm>
          <a:prstGeom prst="roundRect">
            <a:avLst>
              <a:gd name="adj" fmla="val 17241"/>
            </a:avLst>
          </a:prstGeom>
          <a:solidFill>
            <a:schemeClr val="accent1"/>
          </a:solidFill>
          <a:ln w="12700">
            <a:solidFill>
              <a:schemeClr val="accent1"/>
            </a:solidFill>
            <a:prstDash val="solid"/>
          </a:ln>
        </p:spPr>
      </p:sp>
      <p:sp>
        <p:nvSpPr>
          <p:cNvPr id="23" name="Text 21"/>
          <p:cNvSpPr txBox="1"/>
          <p:nvPr/>
        </p:nvSpPr>
        <p:spPr>
          <a:xfrm>
            <a:off x="11192256" y="1920240"/>
            <a:ext cx="530352"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10</a:t>
            </a:r>
            <a:endParaRPr lang="en-US" sz="2000" dirty="0"/>
          </a:p>
        </p:txBody>
      </p:sp>
      <p:sp>
        <p:nvSpPr>
          <p:cNvPr id="24" name="Text 22"/>
          <p:cNvSpPr txBox="1"/>
          <p:nvPr/>
        </p:nvSpPr>
        <p:spPr>
          <a:xfrm>
            <a:off x="5760720" y="2788920"/>
            <a:ext cx="2340864" cy="365760"/>
          </a:xfrm>
          <a:prstGeom prst="rect">
            <a:avLst/>
          </a:prstGeom>
          <a:noFill/>
          <a:ln/>
        </p:spPr>
        <p:txBody>
          <a:bodyPr wrap="square" lIns="0" tIns="0" rIns="0" bIns="0" rtlCol="0" anchor="ctr"/>
          <a:lstStyle/>
          <a:p>
            <a:pPr algn="ctr" indent="0" marL="0">
              <a:buNone/>
            </a:pPr>
            <a:r>
              <a:rPr lang="en-US" sz="1500" b="1" dirty="0">
                <a:solidFill>
                  <a:schemeClr val="accent2"/>
                </a:solidFill>
                <a:latin typeface="Calibri" pitchFamily="34" charset="0"/>
                <a:ea typeface="Calibri" pitchFamily="34" charset="-122"/>
                <a:cs typeface="Calibri" pitchFamily="34" charset="-120"/>
              </a:rPr>
              <a:t>Negative</a:t>
            </a:r>
            <a:endParaRPr lang="en-US" sz="1500" dirty="0"/>
          </a:p>
        </p:txBody>
      </p:sp>
      <p:sp>
        <p:nvSpPr>
          <p:cNvPr id="25" name="Text 23"/>
          <p:cNvSpPr txBox="1"/>
          <p:nvPr/>
        </p:nvSpPr>
        <p:spPr>
          <a:xfrm>
            <a:off x="5760720" y="3108960"/>
            <a:ext cx="2340864" cy="274320"/>
          </a:xfrm>
          <a:prstGeom prst="rect">
            <a:avLst/>
          </a:prstGeom>
          <a:noFill/>
          <a:ln/>
        </p:spPr>
        <p:txBody>
          <a:bodyPr wrap="square" lIns="0" tIns="0" rIns="0" bIns="0" rtlCol="0" anchor="ctr"/>
          <a:lstStyle/>
          <a:p>
            <a:pPr algn="ctr" indent="0" marL="0">
              <a:buNone/>
            </a:pPr>
            <a:r>
              <a:rPr lang="en-US" sz="1200" dirty="0">
                <a:solidFill>
                  <a:schemeClr val="accent5"/>
                </a:solidFill>
                <a:latin typeface="Calibri" pitchFamily="34" charset="0"/>
                <a:ea typeface="Calibri" pitchFamily="34" charset="-122"/>
                <a:cs typeface="Calibri" pitchFamily="34" charset="-120"/>
              </a:rPr>
              <a:t>rating 1–4</a:t>
            </a:r>
            <a:endParaRPr lang="en-US" sz="1200" dirty="0"/>
          </a:p>
        </p:txBody>
      </p:sp>
      <p:sp>
        <p:nvSpPr>
          <p:cNvPr id="26" name="Text 24"/>
          <p:cNvSpPr txBox="1"/>
          <p:nvPr/>
        </p:nvSpPr>
        <p:spPr>
          <a:xfrm>
            <a:off x="8174736" y="2788920"/>
            <a:ext cx="1133856" cy="365760"/>
          </a:xfrm>
          <a:prstGeom prst="rect">
            <a:avLst/>
          </a:prstGeom>
          <a:noFill/>
          <a:ln/>
        </p:spPr>
        <p:txBody>
          <a:bodyPr wrap="square" lIns="0" tIns="0" rIns="0" bIns="0" rtlCol="0" anchor="ctr"/>
          <a:lstStyle/>
          <a:p>
            <a:pPr algn="ctr" indent="0" marL="0">
              <a:buNone/>
            </a:pPr>
            <a:r>
              <a:rPr lang="en-US" sz="1500" b="1" dirty="0">
                <a:solidFill>
                  <a:schemeClr val="accent5"/>
                </a:solidFill>
                <a:latin typeface="Calibri" pitchFamily="34" charset="0"/>
                <a:ea typeface="Calibri" pitchFamily="34" charset="-122"/>
                <a:cs typeface="Calibri" pitchFamily="34" charset="-120"/>
              </a:rPr>
              <a:t>Neutral</a:t>
            </a:r>
            <a:endParaRPr lang="en-US" sz="1500" dirty="0"/>
          </a:p>
        </p:txBody>
      </p:sp>
      <p:sp>
        <p:nvSpPr>
          <p:cNvPr id="27" name="Text 25"/>
          <p:cNvSpPr txBox="1"/>
          <p:nvPr/>
        </p:nvSpPr>
        <p:spPr>
          <a:xfrm>
            <a:off x="8174736" y="3108960"/>
            <a:ext cx="1133856" cy="274320"/>
          </a:xfrm>
          <a:prstGeom prst="rect">
            <a:avLst/>
          </a:prstGeom>
          <a:noFill/>
          <a:ln/>
        </p:spPr>
        <p:txBody>
          <a:bodyPr wrap="square" lIns="0" tIns="0" rIns="0" bIns="0" rtlCol="0" anchor="ctr"/>
          <a:lstStyle/>
          <a:p>
            <a:pPr algn="ctr" indent="0" marL="0">
              <a:buNone/>
            </a:pPr>
            <a:r>
              <a:rPr lang="en-US" sz="1200" dirty="0">
                <a:solidFill>
                  <a:schemeClr val="accent5"/>
                </a:solidFill>
                <a:latin typeface="Calibri" pitchFamily="34" charset="0"/>
                <a:ea typeface="Calibri" pitchFamily="34" charset="-122"/>
                <a:cs typeface="Calibri" pitchFamily="34" charset="-120"/>
              </a:rPr>
              <a:t>rating 5–6</a:t>
            </a:r>
            <a:endParaRPr lang="en-US" sz="1200" dirty="0"/>
          </a:p>
        </p:txBody>
      </p:sp>
      <p:sp>
        <p:nvSpPr>
          <p:cNvPr id="28" name="Text 26"/>
          <p:cNvSpPr txBox="1"/>
          <p:nvPr/>
        </p:nvSpPr>
        <p:spPr>
          <a:xfrm>
            <a:off x="9381744" y="2788920"/>
            <a:ext cx="2340864" cy="365760"/>
          </a:xfrm>
          <a:prstGeom prst="rect">
            <a:avLst/>
          </a:prstGeom>
          <a:noFill/>
          <a:ln/>
        </p:spPr>
        <p:txBody>
          <a:bodyPr wrap="square" lIns="0" tIns="0" rIns="0" bIns="0" rtlCol="0" anchor="ctr"/>
          <a:lstStyle/>
          <a:p>
            <a:pPr algn="ctr" indent="0" marL="0">
              <a:buNone/>
            </a:pPr>
            <a:r>
              <a:rPr lang="en-US" sz="1500" b="1" dirty="0">
                <a:solidFill>
                  <a:schemeClr val="accent1"/>
                </a:solidFill>
                <a:latin typeface="Calibri" pitchFamily="34" charset="0"/>
                <a:ea typeface="Calibri" pitchFamily="34" charset="-122"/>
                <a:cs typeface="Calibri" pitchFamily="34" charset="-120"/>
              </a:rPr>
              <a:t>Positive</a:t>
            </a:r>
            <a:endParaRPr lang="en-US" sz="1500" dirty="0"/>
          </a:p>
        </p:txBody>
      </p:sp>
      <p:sp>
        <p:nvSpPr>
          <p:cNvPr id="29" name="Text 27"/>
          <p:cNvSpPr txBox="1"/>
          <p:nvPr/>
        </p:nvSpPr>
        <p:spPr>
          <a:xfrm>
            <a:off x="9381744" y="3108960"/>
            <a:ext cx="2340864" cy="274320"/>
          </a:xfrm>
          <a:prstGeom prst="rect">
            <a:avLst/>
          </a:prstGeom>
          <a:noFill/>
          <a:ln/>
        </p:spPr>
        <p:txBody>
          <a:bodyPr wrap="square" lIns="0" tIns="0" rIns="0" bIns="0" rtlCol="0" anchor="ctr"/>
          <a:lstStyle/>
          <a:p>
            <a:pPr algn="ctr" indent="0" marL="0">
              <a:buNone/>
            </a:pPr>
            <a:r>
              <a:rPr lang="en-US" sz="1200" dirty="0">
                <a:solidFill>
                  <a:schemeClr val="accent5"/>
                </a:solidFill>
                <a:latin typeface="Calibri" pitchFamily="34" charset="0"/>
                <a:ea typeface="Calibri" pitchFamily="34" charset="-122"/>
                <a:cs typeface="Calibri" pitchFamily="34" charset="-120"/>
              </a:rPr>
              <a:t>rating 7–10</a:t>
            </a:r>
            <a:endParaRPr lang="en-US" sz="1200" dirty="0"/>
          </a:p>
        </p:txBody>
      </p:sp>
      <p:sp>
        <p:nvSpPr>
          <p:cNvPr id="30" name="Proxy labels card"/>
          <p:cNvSpPr/>
          <p:nvPr/>
        </p:nvSpPr>
        <p:spPr>
          <a:xfrm>
            <a:off x="5760720" y="4206240"/>
            <a:ext cx="5879592" cy="1371600"/>
          </a:xfrm>
          <a:prstGeom prst="roundRect">
            <a:avLst>
              <a:gd name="adj" fmla="val 8000"/>
            </a:avLst>
          </a:prstGeom>
          <a:solidFill>
            <a:schemeClr val="bg2"/>
          </a:solidFill>
          <a:ln/>
          <a:effectLst>
            <a:outerShdw sx="100000" sy="100000" kx="0" ky="0" algn="bl" rotWithShape="0" blurRad="101600" dist="25400" dir="5400000">
              <a:srgbClr val="0F2A33">
                <a:alpha val="12000"/>
              </a:srgbClr>
            </a:outerShdw>
          </a:effectLst>
        </p:spPr>
      </p:sp>
      <p:sp>
        <p:nvSpPr>
          <p:cNvPr id="31" name="Text 29"/>
          <p:cNvSpPr txBox="1"/>
          <p:nvPr/>
        </p:nvSpPr>
        <p:spPr>
          <a:xfrm>
            <a:off x="6035040" y="4343400"/>
            <a:ext cx="5349240" cy="1097280"/>
          </a:xfrm>
          <a:prstGeom prst="rect">
            <a:avLst/>
          </a:prstGeom>
          <a:noFill/>
          <a:ln/>
        </p:spPr>
        <p:txBody>
          <a:bodyPr wrap="square" lIns="0" tIns="0" rIns="0" bIns="0" rtlCol="0" anchor="ctr"/>
          <a:lstStyle/>
          <a:p>
            <a:pPr indent="0" marL="0">
              <a:spcAft>
                <a:spcPts val="600"/>
              </a:spcAft>
              <a:buNone/>
            </a:pPr>
            <a:r>
              <a:rPr lang="en-US" sz="1800" b="1" dirty="0">
                <a:solidFill>
                  <a:schemeClr val="tx2"/>
                </a:solidFill>
                <a:latin typeface="Calibri" pitchFamily="34" charset="0"/>
                <a:ea typeface="Calibri" pitchFamily="34" charset="-122"/>
                <a:cs typeface="Calibri" pitchFamily="34" charset="-120"/>
              </a:rPr>
              <a:t>Proxy labels</a:t>
            </a:r>
            <a:endParaRPr lang="en-US" sz="1800" dirty="0"/>
          </a:p>
          <a:p>
            <a:pPr indent="0" marL="0">
              <a:spcAft>
                <a:spcPts val="600"/>
              </a:spcAft>
              <a:buNone/>
            </a:pPr>
            <a:r>
              <a:rPr lang="en-US" sz="1500" dirty="0">
                <a:solidFill>
                  <a:schemeClr val="tx1"/>
                </a:solidFill>
                <a:latin typeface="Calibri" pitchFamily="34" charset="0"/>
                <a:ea typeface="Calibri" pitchFamily="34" charset="-122"/>
                <a:cs typeface="Calibri" pitchFamily="34" charset="-120"/>
              </a:rPr>
              <a:t>The thresholds are a modeling choice. Labels can disagree with the review wording, especially for mixed experiences.</a:t>
            </a:r>
            <a:endParaRPr lang="en-US" sz="18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Drugs.com data and class imbalance</a:t>
            </a:r>
            <a:endParaRPr lang="en-US" sz="3600" dirty="0"/>
          </a:p>
        </p:txBody>
      </p:sp>
      <p:graphicFrame>
        <p:nvGraphicFramePr>
          <p:cNvPr id="3" name="Chart 0" descr=""/>
          <p:cNvGraphicFramePr/>
          <p:nvPr/>
        </p:nvGraphicFramePr>
        <p:xfrm>
          <a:off x="548640" y="1463040"/>
          <a:ext cx="6217920" cy="4297680"/>
        </p:xfrm>
        <a:graphic xmlns:a="http://schemas.openxmlformats.org/drawingml/2006/main">
          <a:graphicData uri="http://schemas.openxmlformats.org/drawingml/2006/chart">
            <c:chart xmlns:c="http://schemas.openxmlformats.org/drawingml/2006/chart" r:id="rId1"/>
          </a:graphicData>
        </a:graphic>
      </p:graphicFrame>
      <p:sp>
        <p:nvSpPr>
          <p:cNvPr id="4" name="Stat training reviews"/>
          <p:cNvSpPr/>
          <p:nvPr/>
        </p:nvSpPr>
        <p:spPr>
          <a:xfrm>
            <a:off x="7040880" y="1600200"/>
            <a:ext cx="4599432" cy="960120"/>
          </a:xfrm>
          <a:prstGeom prst="roundRect">
            <a:avLst>
              <a:gd name="adj" fmla="val 11429"/>
            </a:avLst>
          </a:prstGeom>
          <a:solidFill>
            <a:schemeClr val="bg2"/>
          </a:solidFill>
          <a:ln/>
          <a:effectLst>
            <a:outerShdw sx="100000" sy="100000" kx="0" ky="0" algn="bl" rotWithShape="0" blurRad="101600" dist="25400" dir="5400000">
              <a:srgbClr val="0F2A33">
                <a:alpha val="12000"/>
              </a:srgbClr>
            </a:outerShdw>
          </a:effectLst>
        </p:spPr>
      </p:sp>
      <p:sp>
        <p:nvSpPr>
          <p:cNvPr id="5" name="Text 2"/>
          <p:cNvSpPr txBox="1"/>
          <p:nvPr/>
        </p:nvSpPr>
        <p:spPr>
          <a:xfrm>
            <a:off x="7269480" y="1600200"/>
            <a:ext cx="2011680" cy="96012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161,297</a:t>
            </a:r>
            <a:endParaRPr lang="en-US" sz="3200" dirty="0"/>
          </a:p>
        </p:txBody>
      </p:sp>
      <p:sp>
        <p:nvSpPr>
          <p:cNvPr id="6" name="Text 3"/>
          <p:cNvSpPr txBox="1"/>
          <p:nvPr/>
        </p:nvSpPr>
        <p:spPr>
          <a:xfrm>
            <a:off x="9326880" y="1600200"/>
            <a:ext cx="2194560" cy="96012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training reviews</a:t>
            </a:r>
            <a:endParaRPr lang="en-US" sz="1600" dirty="0"/>
          </a:p>
        </p:txBody>
      </p:sp>
      <p:sp>
        <p:nvSpPr>
          <p:cNvPr id="7" name="Stat test reviews"/>
          <p:cNvSpPr/>
          <p:nvPr/>
        </p:nvSpPr>
        <p:spPr>
          <a:xfrm>
            <a:off x="7040880" y="2697480"/>
            <a:ext cx="4599432" cy="960120"/>
          </a:xfrm>
          <a:prstGeom prst="roundRect">
            <a:avLst>
              <a:gd name="adj" fmla="val 11429"/>
            </a:avLst>
          </a:prstGeom>
          <a:solidFill>
            <a:schemeClr val="bg2"/>
          </a:solidFill>
          <a:ln/>
          <a:effectLst>
            <a:outerShdw sx="100000" sy="100000" kx="0" ky="0" algn="bl" rotWithShape="0" blurRad="101600" dist="25400" dir="5400000">
              <a:srgbClr val="0F2A33">
                <a:alpha val="12000"/>
              </a:srgbClr>
            </a:outerShdw>
          </a:effectLst>
        </p:spPr>
      </p:sp>
      <p:sp>
        <p:nvSpPr>
          <p:cNvPr id="8" name="Text 5"/>
          <p:cNvSpPr txBox="1"/>
          <p:nvPr/>
        </p:nvSpPr>
        <p:spPr>
          <a:xfrm>
            <a:off x="7269480" y="2697480"/>
            <a:ext cx="2011680" cy="96012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53,766</a:t>
            </a:r>
            <a:endParaRPr lang="en-US" sz="3200" dirty="0"/>
          </a:p>
        </p:txBody>
      </p:sp>
      <p:sp>
        <p:nvSpPr>
          <p:cNvPr id="9" name="Text 6"/>
          <p:cNvSpPr txBox="1"/>
          <p:nvPr/>
        </p:nvSpPr>
        <p:spPr>
          <a:xfrm>
            <a:off x="9326880" y="2697480"/>
            <a:ext cx="2194560" cy="96012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test reviews</a:t>
            </a:r>
            <a:endParaRPr lang="en-US" sz="1600" dirty="0"/>
          </a:p>
        </p:txBody>
      </p:sp>
      <p:sp>
        <p:nvSpPr>
          <p:cNvPr id="10" name="Stat columns per file"/>
          <p:cNvSpPr/>
          <p:nvPr/>
        </p:nvSpPr>
        <p:spPr>
          <a:xfrm>
            <a:off x="7040880" y="3794760"/>
            <a:ext cx="4599432" cy="960120"/>
          </a:xfrm>
          <a:prstGeom prst="roundRect">
            <a:avLst>
              <a:gd name="adj" fmla="val 11429"/>
            </a:avLst>
          </a:prstGeom>
          <a:solidFill>
            <a:schemeClr val="bg2"/>
          </a:solidFill>
          <a:ln/>
          <a:effectLst>
            <a:outerShdw sx="100000" sy="100000" kx="0" ky="0" algn="bl" rotWithShape="0" blurRad="101600" dist="25400" dir="5400000">
              <a:srgbClr val="0F2A33">
                <a:alpha val="12000"/>
              </a:srgbClr>
            </a:outerShdw>
          </a:effectLst>
        </p:spPr>
      </p:sp>
      <p:sp>
        <p:nvSpPr>
          <p:cNvPr id="11" name="Text 8"/>
          <p:cNvSpPr txBox="1"/>
          <p:nvPr/>
        </p:nvSpPr>
        <p:spPr>
          <a:xfrm>
            <a:off x="7269480" y="3794760"/>
            <a:ext cx="2011680" cy="96012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7</a:t>
            </a:r>
            <a:endParaRPr lang="en-US" sz="3200" dirty="0"/>
          </a:p>
        </p:txBody>
      </p:sp>
      <p:sp>
        <p:nvSpPr>
          <p:cNvPr id="12" name="Text 9"/>
          <p:cNvSpPr txBox="1"/>
          <p:nvPr/>
        </p:nvSpPr>
        <p:spPr>
          <a:xfrm>
            <a:off x="9326880" y="3794760"/>
            <a:ext cx="2194560" cy="96012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columns per file</a:t>
            </a:r>
            <a:endParaRPr lang="en-US" sz="1600" dirty="0"/>
          </a:p>
        </p:txBody>
      </p:sp>
      <p:sp>
        <p:nvSpPr>
          <p:cNvPr id="13" name="Insight card"/>
          <p:cNvSpPr/>
          <p:nvPr/>
        </p:nvSpPr>
        <p:spPr>
          <a:xfrm>
            <a:off x="7040880" y="4937760"/>
            <a:ext cx="4599432" cy="914400"/>
          </a:xfrm>
          <a:prstGeom prst="roundRect">
            <a:avLst>
              <a:gd name="adj" fmla="val 12000"/>
            </a:avLst>
          </a:prstGeom>
          <a:solidFill>
            <a:schemeClr val="accent1"/>
          </a:solidFill>
          <a:ln/>
          <a:effectLst>
            <a:outerShdw sx="100000" sy="100000" kx="0" ky="0" algn="bl" rotWithShape="0" blurRad="101600" dist="25400" dir="5400000">
              <a:srgbClr val="0F2A33">
                <a:alpha val="12000"/>
              </a:srgbClr>
            </a:outerShdw>
          </a:effectLst>
        </p:spPr>
      </p:sp>
      <p:sp>
        <p:nvSpPr>
          <p:cNvPr id="14" name="Text 11"/>
          <p:cNvSpPr txBox="1"/>
          <p:nvPr/>
        </p:nvSpPr>
        <p:spPr>
          <a:xfrm>
            <a:off x="7269480" y="4937760"/>
            <a:ext cx="4160520" cy="914400"/>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Positive reviews dominate, so we use class-weighted loss and macro-F1, not accuracy alone.</a:t>
            </a:r>
            <a:endParaRPr lang="en-US" sz="15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Cleaning, deduplication and splits</a:t>
            </a:r>
            <a:endParaRPr lang="en-US" sz="3600" dirty="0"/>
          </a:p>
        </p:txBody>
      </p:sp>
      <p:sp>
        <p:nvSpPr>
          <p:cNvPr id="3" name="Funnel 1"/>
          <p:cNvSpPr/>
          <p:nvPr/>
        </p:nvSpPr>
        <p:spPr>
          <a:xfrm>
            <a:off x="548640" y="1554480"/>
            <a:ext cx="5394960" cy="749808"/>
          </a:xfrm>
          <a:prstGeom prst="roundRect">
            <a:avLst>
              <a:gd name="adj" fmla="val 14634"/>
            </a:avLst>
          </a:prstGeom>
          <a:solidFill>
            <a:schemeClr val="bg2"/>
          </a:solidFill>
          <a:ln/>
          <a:effectLst>
            <a:outerShdw sx="100000" sy="100000" kx="0" ky="0" algn="bl" rotWithShape="0" blurRad="101600" dist="25400" dir="5400000">
              <a:srgbClr val="0F2A33">
                <a:alpha val="12000"/>
              </a:srgbClr>
            </a:outerShdw>
          </a:effectLst>
        </p:spPr>
      </p:sp>
      <p:sp>
        <p:nvSpPr>
          <p:cNvPr id="4" name="Text 2"/>
          <p:cNvSpPr txBox="1"/>
          <p:nvPr/>
        </p:nvSpPr>
        <p:spPr>
          <a:xfrm>
            <a:off x="777240" y="1554480"/>
            <a:ext cx="1828800" cy="749808"/>
          </a:xfrm>
          <a:prstGeom prst="rect">
            <a:avLst/>
          </a:prstGeom>
          <a:noFill/>
          <a:ln/>
        </p:spPr>
        <p:txBody>
          <a:bodyPr wrap="square" lIns="0" tIns="0" rIns="0" bIns="0" rtlCol="0" anchor="ctr"/>
          <a:lstStyle/>
          <a:p>
            <a:pPr indent="0" marL="0">
              <a:buNone/>
            </a:pPr>
            <a:r>
              <a:rPr lang="en-US" sz="2600" b="1" dirty="0">
                <a:solidFill>
                  <a:schemeClr val="accent5"/>
                </a:solidFill>
                <a:latin typeface="Cambria" pitchFamily="34" charset="0"/>
                <a:ea typeface="Cambria" pitchFamily="34" charset="-122"/>
                <a:cs typeface="Cambria" pitchFamily="34" charset="-120"/>
              </a:rPr>
              <a:t>161,297</a:t>
            </a:r>
            <a:endParaRPr lang="en-US" sz="2600" dirty="0"/>
          </a:p>
        </p:txBody>
      </p:sp>
      <p:sp>
        <p:nvSpPr>
          <p:cNvPr id="5" name="Text 3"/>
          <p:cNvSpPr txBox="1"/>
          <p:nvPr/>
        </p:nvSpPr>
        <p:spPr>
          <a:xfrm>
            <a:off x="2697480" y="1554480"/>
            <a:ext cx="3108960" cy="74980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raw training reviews</a:t>
            </a:r>
            <a:endParaRPr lang="en-US" sz="1500" dirty="0"/>
          </a:p>
        </p:txBody>
      </p:sp>
      <p:sp>
        <p:nvSpPr>
          <p:cNvPr id="6" name="Funnel 2"/>
          <p:cNvSpPr/>
          <p:nvPr/>
        </p:nvSpPr>
        <p:spPr>
          <a:xfrm>
            <a:off x="548640" y="2450592"/>
            <a:ext cx="5394960" cy="749808"/>
          </a:xfrm>
          <a:prstGeom prst="roundRect">
            <a:avLst>
              <a:gd name="adj" fmla="val 14634"/>
            </a:avLst>
          </a:prstGeom>
          <a:solidFill>
            <a:schemeClr val="bg2"/>
          </a:solidFill>
          <a:ln/>
          <a:effectLst>
            <a:outerShdw sx="100000" sy="100000" kx="0" ky="0" algn="bl" rotWithShape="0" blurRad="101600" dist="25400" dir="5400000">
              <a:srgbClr val="0F2A33">
                <a:alpha val="12000"/>
              </a:srgbClr>
            </a:outerShdw>
          </a:effectLst>
        </p:spPr>
      </p:sp>
      <p:sp>
        <p:nvSpPr>
          <p:cNvPr id="7" name="Text 5"/>
          <p:cNvSpPr txBox="1"/>
          <p:nvPr/>
        </p:nvSpPr>
        <p:spPr>
          <a:xfrm>
            <a:off x="777240" y="2450592"/>
            <a:ext cx="1828800" cy="749808"/>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−108</a:t>
            </a:r>
            <a:endParaRPr lang="en-US" sz="2600" dirty="0"/>
          </a:p>
        </p:txBody>
      </p:sp>
      <p:sp>
        <p:nvSpPr>
          <p:cNvPr id="8" name="Text 6"/>
          <p:cNvSpPr txBox="1"/>
          <p:nvPr/>
        </p:nvSpPr>
        <p:spPr>
          <a:xfrm>
            <a:off x="2697480" y="2450592"/>
            <a:ext cx="3108960" cy="74980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rows with conflicting labels for identical text</a:t>
            </a:r>
            <a:endParaRPr lang="en-US" sz="1500" dirty="0"/>
          </a:p>
        </p:txBody>
      </p:sp>
      <p:sp>
        <p:nvSpPr>
          <p:cNvPr id="9" name="Funnel 3"/>
          <p:cNvSpPr/>
          <p:nvPr/>
        </p:nvSpPr>
        <p:spPr>
          <a:xfrm>
            <a:off x="548640" y="3346704"/>
            <a:ext cx="5394960" cy="749808"/>
          </a:xfrm>
          <a:prstGeom prst="roundRect">
            <a:avLst>
              <a:gd name="adj" fmla="val 14634"/>
            </a:avLst>
          </a:prstGeom>
          <a:solidFill>
            <a:schemeClr val="bg2"/>
          </a:solidFill>
          <a:ln/>
          <a:effectLst>
            <a:outerShdw sx="100000" sy="100000" kx="0" ky="0" algn="bl" rotWithShape="0" blurRad="101600" dist="25400" dir="5400000">
              <a:srgbClr val="0F2A33">
                <a:alpha val="12000"/>
              </a:srgbClr>
            </a:outerShdw>
          </a:effectLst>
        </p:spPr>
      </p:sp>
      <p:sp>
        <p:nvSpPr>
          <p:cNvPr id="10" name="Text 8"/>
          <p:cNvSpPr txBox="1"/>
          <p:nvPr/>
        </p:nvSpPr>
        <p:spPr>
          <a:xfrm>
            <a:off x="777240" y="3346704"/>
            <a:ext cx="1828800" cy="749808"/>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−48,904</a:t>
            </a:r>
            <a:endParaRPr lang="en-US" sz="2600" dirty="0"/>
          </a:p>
        </p:txBody>
      </p:sp>
      <p:sp>
        <p:nvSpPr>
          <p:cNvPr id="11" name="Text 9"/>
          <p:cNvSpPr txBox="1"/>
          <p:nvPr/>
        </p:nvSpPr>
        <p:spPr>
          <a:xfrm>
            <a:off x="2697480" y="3346704"/>
            <a:ext cx="3108960" cy="74980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additional duplicates removed</a:t>
            </a:r>
            <a:endParaRPr lang="en-US" sz="1500" dirty="0"/>
          </a:p>
        </p:txBody>
      </p:sp>
      <p:sp>
        <p:nvSpPr>
          <p:cNvPr id="12" name="Funnel 4"/>
          <p:cNvSpPr/>
          <p:nvPr/>
        </p:nvSpPr>
        <p:spPr>
          <a:xfrm>
            <a:off x="548640" y="4242816"/>
            <a:ext cx="5394960" cy="749808"/>
          </a:xfrm>
          <a:prstGeom prst="roundRect">
            <a:avLst>
              <a:gd name="adj" fmla="val 14634"/>
            </a:avLst>
          </a:prstGeom>
          <a:solidFill>
            <a:schemeClr val="bg2"/>
          </a:solidFill>
          <a:ln/>
          <a:effectLst>
            <a:outerShdw sx="100000" sy="100000" kx="0" ky="0" algn="bl" rotWithShape="0" blurRad="101600" dist="25400" dir="5400000">
              <a:srgbClr val="0F2A33">
                <a:alpha val="12000"/>
              </a:srgbClr>
            </a:outerShdw>
          </a:effectLst>
        </p:spPr>
      </p:sp>
      <p:sp>
        <p:nvSpPr>
          <p:cNvPr id="13" name="Text 11"/>
          <p:cNvSpPr txBox="1"/>
          <p:nvPr/>
        </p:nvSpPr>
        <p:spPr>
          <a:xfrm>
            <a:off x="777240" y="4242816"/>
            <a:ext cx="1828800" cy="749808"/>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112,285</a:t>
            </a:r>
            <a:endParaRPr lang="en-US" sz="2600" dirty="0"/>
          </a:p>
        </p:txBody>
      </p:sp>
      <p:sp>
        <p:nvSpPr>
          <p:cNvPr id="14" name="Text 12"/>
          <p:cNvSpPr txBox="1"/>
          <p:nvPr/>
        </p:nvSpPr>
        <p:spPr>
          <a:xfrm>
            <a:off x="2697480" y="4242816"/>
            <a:ext cx="3108960" cy="74980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unique texts</a:t>
            </a:r>
            <a:endParaRPr lang="en-US" sz="1500" dirty="0"/>
          </a:p>
        </p:txBody>
      </p:sp>
      <p:sp>
        <p:nvSpPr>
          <p:cNvPr id="15" name="Text 13"/>
          <p:cNvSpPr txBox="1"/>
          <p:nvPr/>
        </p:nvSpPr>
        <p:spPr>
          <a:xfrm>
            <a:off x="548640" y="5257800"/>
            <a:ext cx="5394960" cy="640080"/>
          </a:xfrm>
          <a:prstGeom prst="rect">
            <a:avLst/>
          </a:prstGeom>
          <a:noFill/>
          <a:ln/>
        </p:spPr>
        <p:txBody>
          <a:bodyPr wrap="square" lIns="0" tIns="0" rIns="0" bIns="0" rtlCol="0" anchor="t"/>
          <a:lstStyle/>
          <a:p>
            <a:pPr indent="0" marL="0">
              <a:buNone/>
            </a:pPr>
            <a:r>
              <a:rPr lang="en-US" sz="1400" i="1" dirty="0">
                <a:solidFill>
                  <a:schemeClr val="accent5"/>
                </a:solidFill>
                <a:latin typeface="Calibri" pitchFamily="34" charset="0"/>
                <a:ea typeface="Calibri" pitchFamily="34" charset="-122"/>
                <a:cs typeface="Calibri" pitchFamily="34" charset="-120"/>
              </a:rPr>
              <a:t>Cleaning: decode HTML, lowercase, normalize whitespace, keep punctuation.</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309360" y="1600200"/>
          <a:ext cx="5330952" cy="914400"/>
        </p:xfrm>
        <a:graphic>
          <a:graphicData uri="http://schemas.openxmlformats.org/drawingml/2006/table">
            <a:tbl>
              <a:tblPr/>
              <a:tblGrid>
                <a:gridCol w="1828800"/>
                <a:gridCol w="1645920"/>
                <a:gridCol w="1856232"/>
              </a:tblGrid>
              <a:tr h="54864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Cleaned pool</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0B4F5C"/>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Reviews</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0B4F5C"/>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Experimental subset</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0B4F5C"/>
                    </a:solidFill>
                  </a:tcPr>
                </a:tc>
              </a:tr>
              <a:tr h="548640">
                <a:tc>
                  <a:txBody>
                    <a:bodyPr/>
                    <a:lstStyle/>
                    <a:p>
                      <a:pPr algn="l" indent="0" marL="0">
                        <a:buNone/>
                      </a:pPr>
                      <a:r>
                        <a:rPr lang="en-US" sz="1500" b="1" dirty="0">
                          <a:solidFill>
                            <a:srgbClr val="0F2A33"/>
                          </a:solidFill>
                          <a:latin typeface="Calibri" pitchFamily="34" charset="0"/>
                          <a:ea typeface="Calibri" pitchFamily="34" charset="-122"/>
                          <a:cs typeface="Calibri" pitchFamily="34" charset="-120"/>
                        </a:rPr>
                        <a:t>Training (85%)</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EAF4F3"/>
                    </a:solidFill>
                  </a:tcPr>
                </a:tc>
                <a:tc>
                  <a:txBody>
                    <a:bodyPr/>
                    <a:lstStyle/>
                    <a:p>
                      <a:pPr algn="ctr" indent="0" marL="0">
                        <a:buNone/>
                      </a:pPr>
                      <a:r>
                        <a:rPr lang="en-US" sz="1500" dirty="0">
                          <a:solidFill>
                            <a:srgbClr val="0F2A33"/>
                          </a:solidFill>
                          <a:latin typeface="Calibri" pitchFamily="34" charset="0"/>
                          <a:ea typeface="Calibri" pitchFamily="34" charset="-122"/>
                          <a:cs typeface="Calibri" pitchFamily="34" charset="-120"/>
                        </a:rPr>
                        <a:t>95,443</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EAF4F3"/>
                    </a:solidFill>
                  </a:tcPr>
                </a:tc>
                <a:tc>
                  <a:txBody>
                    <a:bodyPr/>
                    <a:lstStyle/>
                    <a:p>
                      <a:pPr algn="ctr" indent="0" marL="0">
                        <a:buNone/>
                      </a:pPr>
                      <a:r>
                        <a:rPr lang="en-US" sz="1500" b="1" dirty="0">
                          <a:solidFill>
                            <a:srgbClr val="0F2A33"/>
                          </a:solidFill>
                          <a:latin typeface="Calibri" pitchFamily="34" charset="0"/>
                          <a:ea typeface="Calibri" pitchFamily="34" charset="-122"/>
                          <a:cs typeface="Calibri" pitchFamily="34" charset="-120"/>
                        </a:rPr>
                        <a:t>12,000</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EAF4F3"/>
                    </a:solidFill>
                  </a:tcPr>
                </a:tc>
              </a:tr>
              <a:tr h="548640">
                <a:tc>
                  <a:txBody>
                    <a:bodyPr/>
                    <a:lstStyle/>
                    <a:p>
                      <a:pPr algn="l" indent="0" marL="0">
                        <a:buNone/>
                      </a:pPr>
                      <a:r>
                        <a:rPr lang="en-US" sz="1500" b="1" dirty="0">
                          <a:solidFill>
                            <a:srgbClr val="0F2A33"/>
                          </a:solidFill>
                          <a:latin typeface="Calibri" pitchFamily="34" charset="0"/>
                          <a:ea typeface="Calibri" pitchFamily="34" charset="-122"/>
                          <a:cs typeface="Calibri" pitchFamily="34" charset="-120"/>
                        </a:rPr>
                        <a:t>Validation (15%)</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tcPr>
                </a:tc>
                <a:tc>
                  <a:txBody>
                    <a:bodyPr/>
                    <a:lstStyle/>
                    <a:p>
                      <a:pPr algn="ctr" indent="0" marL="0">
                        <a:buNone/>
                      </a:pPr>
                      <a:r>
                        <a:rPr lang="en-US" sz="1500" dirty="0">
                          <a:solidFill>
                            <a:srgbClr val="0F2A33"/>
                          </a:solidFill>
                          <a:latin typeface="Calibri" pitchFamily="34" charset="0"/>
                          <a:ea typeface="Calibri" pitchFamily="34" charset="-122"/>
                          <a:cs typeface="Calibri" pitchFamily="34" charset="-120"/>
                        </a:rPr>
                        <a:t>16,842</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tcPr>
                </a:tc>
                <a:tc>
                  <a:txBody>
                    <a:bodyPr/>
                    <a:lstStyle/>
                    <a:p>
                      <a:pPr algn="ctr" indent="0" marL="0">
                        <a:buNone/>
                      </a:pPr>
                      <a:r>
                        <a:rPr lang="en-US" sz="1500" b="1" dirty="0">
                          <a:solidFill>
                            <a:srgbClr val="0F2A33"/>
                          </a:solidFill>
                          <a:latin typeface="Calibri" pitchFamily="34" charset="0"/>
                          <a:ea typeface="Calibri" pitchFamily="34" charset="-122"/>
                          <a:cs typeface="Calibri" pitchFamily="34" charset="-120"/>
                        </a:rPr>
                        <a:t>2,000</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tcPr>
                </a:tc>
              </a:tr>
              <a:tr h="548640">
                <a:tc>
                  <a:txBody>
                    <a:bodyPr/>
                    <a:lstStyle/>
                    <a:p>
                      <a:pPr algn="l" indent="0" marL="0">
                        <a:buNone/>
                      </a:pPr>
                      <a:r>
                        <a:rPr lang="en-US" sz="1500" b="1" dirty="0">
                          <a:solidFill>
                            <a:srgbClr val="0F2A33"/>
                          </a:solidFill>
                          <a:latin typeface="Calibri" pitchFamily="34" charset="0"/>
                          <a:ea typeface="Calibri" pitchFamily="34" charset="-122"/>
                          <a:cs typeface="Calibri" pitchFamily="34" charset="-120"/>
                        </a:rPr>
                        <a:t>Held-out test</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EAF4F3"/>
                    </a:solidFill>
                  </a:tcPr>
                </a:tc>
                <a:tc>
                  <a:txBody>
                    <a:bodyPr/>
                    <a:lstStyle/>
                    <a:p>
                      <a:pPr algn="ctr" indent="0" marL="0">
                        <a:buNone/>
                      </a:pPr>
                      <a:r>
                        <a:rPr lang="en-US" sz="1500" dirty="0">
                          <a:solidFill>
                            <a:srgbClr val="0F2A33"/>
                          </a:solidFill>
                          <a:latin typeface="Calibri" pitchFamily="34" charset="0"/>
                          <a:ea typeface="Calibri" pitchFamily="34" charset="-122"/>
                          <a:cs typeface="Calibri" pitchFamily="34" charset="-120"/>
                        </a:rPr>
                        <a:t>16,153 eligible</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EAF4F3"/>
                    </a:solidFill>
                  </a:tcPr>
                </a:tc>
                <a:tc>
                  <a:txBody>
                    <a:bodyPr/>
                    <a:lstStyle/>
                    <a:p>
                      <a:pPr algn="ctr" indent="0" marL="0">
                        <a:buNone/>
                      </a:pPr>
                      <a:r>
                        <a:rPr lang="en-US" sz="1500" b="1" dirty="0">
                          <a:solidFill>
                            <a:srgbClr val="0F2A33"/>
                          </a:solidFill>
                          <a:latin typeface="Calibri" pitchFamily="34" charset="0"/>
                          <a:ea typeface="Calibri" pitchFamily="34" charset="-122"/>
                          <a:cs typeface="Calibri" pitchFamily="34" charset="-120"/>
                        </a:rPr>
                        <a:t>4,000</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EAF4F3"/>
                    </a:solidFill>
                  </a:tcPr>
                </a:tc>
              </a:tr>
            </a:tbl>
          </a:graphicData>
        </a:graphic>
      </p:graphicFrame>
      <p:sp>
        <p:nvSpPr>
          <p:cNvPr id="17" name="Split rules card"/>
          <p:cNvSpPr/>
          <p:nvPr/>
        </p:nvSpPr>
        <p:spPr>
          <a:xfrm>
            <a:off x="6309360" y="4114800"/>
            <a:ext cx="5330952" cy="1783080"/>
          </a:xfrm>
          <a:prstGeom prst="roundRect">
            <a:avLst>
              <a:gd name="adj" fmla="val 6154"/>
            </a:avLst>
          </a:prstGeom>
          <a:solidFill>
            <a:schemeClr val="bg2"/>
          </a:solidFill>
          <a:ln/>
          <a:effectLst>
            <a:outerShdw sx="100000" sy="100000" kx="0" ky="0" algn="bl" rotWithShape="0" blurRad="101600" dist="25400" dir="5400000">
              <a:srgbClr val="0F2A33">
                <a:alpha val="12000"/>
              </a:srgbClr>
            </a:outerShdw>
          </a:effectLst>
        </p:spPr>
      </p:sp>
      <p:sp>
        <p:nvSpPr>
          <p:cNvPr id="18" name="Text 15"/>
          <p:cNvSpPr txBox="1"/>
          <p:nvPr/>
        </p:nvSpPr>
        <p:spPr>
          <a:xfrm>
            <a:off x="6537960" y="4206240"/>
            <a:ext cx="4892040" cy="1600200"/>
          </a:xfrm>
          <a:prstGeom prst="rect">
            <a:avLst/>
          </a:prstGeom>
          <a:noFill/>
          <a:ln/>
        </p:spPr>
        <p:txBody>
          <a:bodyPr wrap="square" lIns="0" tIns="0" rIns="0" bIns="0" rtlCol="0" anchor="ctr"/>
          <a:lstStyle/>
          <a:p>
            <a:pPr indent="0" marL="0">
              <a:spcAft>
                <a:spcPts val="600"/>
              </a:spcAft>
              <a:buNone/>
            </a:pPr>
            <a:r>
              <a:rPr lang="en-US" sz="1700" b="1" dirty="0">
                <a:solidFill>
                  <a:schemeClr val="tx2"/>
                </a:solidFill>
                <a:latin typeface="Calibri" pitchFamily="34" charset="0"/>
                <a:ea typeface="Calibri" pitchFamily="34" charset="-122"/>
                <a:cs typeface="Calibri" pitchFamily="34" charset="-120"/>
              </a:rPr>
              <a:t>Same texts for every architecture</a:t>
            </a:r>
            <a:endParaRPr lang="en-US" sz="1700" dirty="0"/>
          </a:p>
          <a:p>
            <a:pPr indent="0" marL="0">
              <a:spcAft>
                <a:spcPts val="600"/>
              </a:spcAft>
              <a:buNone/>
            </a:pPr>
            <a:r>
              <a:rPr lang="en-US" sz="1400" dirty="0">
                <a:solidFill>
                  <a:schemeClr val="tx1"/>
                </a:solidFill>
                <a:latin typeface="Calibri" pitchFamily="34" charset="0"/>
                <a:ea typeface="Calibri" pitchFamily="34" charset="-122"/>
                <a:cs typeface="Calibri" pitchFamily="34" charset="-120"/>
              </a:rPr>
              <a:t>Stratified split and subsets use seed 42. The test set excludes every normalized text found in the full training or validation pools (32,108 removed).</a:t>
            </a:r>
            <a:endParaRPr lang="en-US" sz="17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Text representation and classifier</a:t>
            </a:r>
            <a:endParaRPr lang="en-US" sz="3600" dirty="0"/>
          </a:p>
        </p:txBody>
      </p:sp>
      <p:sp>
        <p:nvSpPr>
          <p:cNvPr id="3" name="Block Tokens"/>
          <p:cNvSpPr/>
          <p:nvPr/>
        </p:nvSpPr>
        <p:spPr>
          <a:xfrm>
            <a:off x="548640" y="1554480"/>
            <a:ext cx="1828800" cy="1737360"/>
          </a:xfrm>
          <a:prstGeom prst="roundRect">
            <a:avLst>
              <a:gd name="adj" fmla="val 6316"/>
            </a:avLst>
          </a:prstGeom>
          <a:solidFill>
            <a:schemeClr val="bg2"/>
          </a:solidFill>
          <a:ln/>
          <a:effectLst>
            <a:outerShdw sx="100000" sy="100000" kx="0" ky="0" algn="bl" rotWithShape="0" blurRad="101600" dist="25400" dir="5400000">
              <a:srgbClr val="0F2A33">
                <a:alpha val="12000"/>
              </a:srgbClr>
            </a:outerShdw>
          </a:effectLst>
        </p:spPr>
      </p:sp>
      <p:sp>
        <p:nvSpPr>
          <p:cNvPr id="4" name="Text 2"/>
          <p:cNvSpPr txBox="1"/>
          <p:nvPr/>
        </p:nvSpPr>
        <p:spPr>
          <a:xfrm>
            <a:off x="640080" y="1645920"/>
            <a:ext cx="1645920" cy="54864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Tokens</a:t>
            </a:r>
            <a:endParaRPr lang="en-US" sz="1700" dirty="0"/>
          </a:p>
        </p:txBody>
      </p:sp>
      <p:sp>
        <p:nvSpPr>
          <p:cNvPr id="5" name="Text 3"/>
          <p:cNvSpPr txBox="1"/>
          <p:nvPr/>
        </p:nvSpPr>
        <p:spPr>
          <a:xfrm>
            <a:off x="640080" y="2240280"/>
            <a:ext cx="1645920" cy="91440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first 128 ids,</a:t>
            </a:r>
            <a:endParaRPr lang="en-US" sz="1400" dirty="0"/>
          </a:p>
          <a:p>
            <a:pPr algn="ctr" indent="0" marL="0">
              <a:buNone/>
            </a:pPr>
            <a:r>
              <a:rPr lang="en-US" sz="1400" dirty="0">
                <a:solidFill>
                  <a:schemeClr val="tx1"/>
                </a:solidFill>
                <a:latin typeface="Calibri" pitchFamily="34" charset="0"/>
                <a:ea typeface="Calibri" pitchFamily="34" charset="-122"/>
                <a:cs typeface="Calibri" pitchFamily="34" charset="-120"/>
              </a:rPr>
              <a:t>padded</a:t>
            </a:r>
            <a:endParaRPr lang="en-US" sz="1400" dirty="0"/>
          </a:p>
        </p:txBody>
      </p:sp>
      <p:sp>
        <p:nvSpPr>
          <p:cNvPr id="6" name="Arrow 1"/>
          <p:cNvSpPr/>
          <p:nvPr/>
        </p:nvSpPr>
        <p:spPr>
          <a:xfrm>
            <a:off x="2529802" y="2240280"/>
            <a:ext cx="182880" cy="365760"/>
          </a:xfrm>
          <a:prstGeom prst="chevron">
            <a:avLst/>
          </a:prstGeom>
          <a:solidFill>
            <a:schemeClr val="accent6"/>
          </a:solidFill>
          <a:ln/>
        </p:spPr>
      </p:sp>
      <p:sp>
        <p:nvSpPr>
          <p:cNvPr id="7" name="Block Embedding"/>
          <p:cNvSpPr/>
          <p:nvPr/>
        </p:nvSpPr>
        <p:spPr>
          <a:xfrm>
            <a:off x="2865044" y="1554480"/>
            <a:ext cx="1828800" cy="1737360"/>
          </a:xfrm>
          <a:prstGeom prst="roundRect">
            <a:avLst>
              <a:gd name="adj" fmla="val 6316"/>
            </a:avLst>
          </a:prstGeom>
          <a:solidFill>
            <a:schemeClr val="bg2"/>
          </a:solidFill>
          <a:ln/>
          <a:effectLst>
            <a:outerShdw sx="100000" sy="100000" kx="0" ky="0" algn="bl" rotWithShape="0" blurRad="101600" dist="25400" dir="5400000">
              <a:srgbClr val="0F2A33">
                <a:alpha val="12000"/>
              </a:srgbClr>
            </a:outerShdw>
          </a:effectLst>
        </p:spPr>
      </p:sp>
      <p:sp>
        <p:nvSpPr>
          <p:cNvPr id="8" name="Text 6"/>
          <p:cNvSpPr txBox="1"/>
          <p:nvPr/>
        </p:nvSpPr>
        <p:spPr>
          <a:xfrm>
            <a:off x="2956484" y="1645920"/>
            <a:ext cx="1645920" cy="54864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Embedding</a:t>
            </a:r>
            <a:endParaRPr lang="en-US" sz="1700" dirty="0"/>
          </a:p>
        </p:txBody>
      </p:sp>
      <p:sp>
        <p:nvSpPr>
          <p:cNvPr id="9" name="Text 7"/>
          <p:cNvSpPr txBox="1"/>
          <p:nvPr/>
        </p:nvSpPr>
        <p:spPr>
          <a:xfrm>
            <a:off x="2956484" y="2240280"/>
            <a:ext cx="1645920" cy="91440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64 dimensions</a:t>
            </a:r>
            <a:endParaRPr lang="en-US" sz="1400" dirty="0"/>
          </a:p>
        </p:txBody>
      </p:sp>
      <p:sp>
        <p:nvSpPr>
          <p:cNvPr id="10" name="Arrow 2"/>
          <p:cNvSpPr/>
          <p:nvPr/>
        </p:nvSpPr>
        <p:spPr>
          <a:xfrm>
            <a:off x="4846206" y="2240280"/>
            <a:ext cx="182880" cy="365760"/>
          </a:xfrm>
          <a:prstGeom prst="chevron">
            <a:avLst/>
          </a:prstGeom>
          <a:solidFill>
            <a:schemeClr val="accent6"/>
          </a:solidFill>
          <a:ln/>
        </p:spPr>
      </p:sp>
      <p:sp>
        <p:nvSpPr>
          <p:cNvPr id="11" name="Block Recurrent cell"/>
          <p:cNvSpPr/>
          <p:nvPr/>
        </p:nvSpPr>
        <p:spPr>
          <a:xfrm>
            <a:off x="5181448" y="1554480"/>
            <a:ext cx="1828800" cy="1737360"/>
          </a:xfrm>
          <a:prstGeom prst="roundRect">
            <a:avLst>
              <a:gd name="adj" fmla="val 6316"/>
            </a:avLst>
          </a:prstGeom>
          <a:solidFill>
            <a:schemeClr val="accent1"/>
          </a:solidFill>
          <a:ln/>
          <a:effectLst>
            <a:outerShdw sx="100000" sy="100000" kx="0" ky="0" algn="bl" rotWithShape="0" blurRad="101600" dist="25400" dir="5400000">
              <a:srgbClr val="0F2A33">
                <a:alpha val="12000"/>
              </a:srgbClr>
            </a:outerShdw>
          </a:effectLst>
        </p:spPr>
      </p:sp>
      <p:sp>
        <p:nvSpPr>
          <p:cNvPr id="12" name="Text 10"/>
          <p:cNvSpPr txBox="1"/>
          <p:nvPr/>
        </p:nvSpPr>
        <p:spPr>
          <a:xfrm>
            <a:off x="5272888" y="1645920"/>
            <a:ext cx="1645920" cy="548640"/>
          </a:xfrm>
          <a:prstGeom prst="rect">
            <a:avLst/>
          </a:prstGeom>
          <a:noFill/>
          <a:ln/>
        </p:spPr>
        <p:txBody>
          <a:bodyPr wrap="square" lIns="0" tIns="0" rIns="0" bIns="0" rtlCol="0" anchor="ctr"/>
          <a:lstStyle/>
          <a:p>
            <a:pPr algn="ctr" indent="0" marL="0">
              <a:buNone/>
            </a:pPr>
            <a:r>
              <a:rPr lang="en-US" sz="1700" b="1" dirty="0">
                <a:solidFill>
                  <a:schemeClr val="bg1"/>
                </a:solidFill>
                <a:latin typeface="Calibri" pitchFamily="34" charset="0"/>
                <a:ea typeface="Calibri" pitchFamily="34" charset="-122"/>
                <a:cs typeface="Calibri" pitchFamily="34" charset="-120"/>
              </a:rPr>
              <a:t>Recurrent cell</a:t>
            </a:r>
            <a:endParaRPr lang="en-US" sz="1700" dirty="0"/>
          </a:p>
        </p:txBody>
      </p:sp>
      <p:sp>
        <p:nvSpPr>
          <p:cNvPr id="13" name="Text 11"/>
          <p:cNvSpPr txBox="1"/>
          <p:nvPr/>
        </p:nvSpPr>
        <p:spPr>
          <a:xfrm>
            <a:off x="5272888" y="2240280"/>
            <a:ext cx="1645920" cy="914400"/>
          </a:xfrm>
          <a:prstGeom prst="rect">
            <a:avLst/>
          </a:prstGeom>
          <a:noFill/>
          <a:ln/>
        </p:spPr>
        <p:txBody>
          <a:bodyPr wrap="square" lIns="0" tIns="0" rIns="0" bIns="0" rtlCol="0" anchor="t"/>
          <a:lstStyle/>
          <a:p>
            <a:pPr algn="ctr" indent="0" marL="0">
              <a:buNone/>
            </a:pPr>
            <a:r>
              <a:rPr lang="en-US" sz="1400" dirty="0">
                <a:solidFill>
                  <a:schemeClr val="bg1"/>
                </a:solidFill>
                <a:latin typeface="Calibri" pitchFamily="34" charset="0"/>
                <a:ea typeface="Calibri" pitchFamily="34" charset="-122"/>
                <a:cs typeface="Calibri" pitchFamily="34" charset="-120"/>
              </a:rPr>
              <a:t>h and c, 64 each</a:t>
            </a:r>
            <a:endParaRPr lang="en-US" sz="1400" dirty="0"/>
          </a:p>
          <a:p>
            <a:pPr algn="ctr" indent="0" marL="0">
              <a:buNone/>
            </a:pPr>
            <a:r>
              <a:rPr lang="en-US" sz="1400" dirty="0">
                <a:solidFill>
                  <a:schemeClr val="bg1"/>
                </a:solidFill>
                <a:latin typeface="Calibri" pitchFamily="34" charset="0"/>
                <a:ea typeface="Calibri" pitchFamily="34" charset="-122"/>
                <a:cs typeface="Calibri" pitchFamily="34" charset="-120"/>
              </a:rPr>
              <a:t>loop over tokens</a:t>
            </a:r>
            <a:endParaRPr lang="en-US" sz="1400" dirty="0"/>
          </a:p>
        </p:txBody>
      </p:sp>
      <p:sp>
        <p:nvSpPr>
          <p:cNvPr id="14" name="Arrow 3"/>
          <p:cNvSpPr/>
          <p:nvPr/>
        </p:nvSpPr>
        <p:spPr>
          <a:xfrm>
            <a:off x="7162610" y="2240280"/>
            <a:ext cx="182880" cy="365760"/>
          </a:xfrm>
          <a:prstGeom prst="chevron">
            <a:avLst/>
          </a:prstGeom>
          <a:solidFill>
            <a:schemeClr val="accent6"/>
          </a:solidFill>
          <a:ln/>
        </p:spPr>
      </p:sp>
      <p:sp>
        <p:nvSpPr>
          <p:cNvPr id="15" name="Block Last useful h"/>
          <p:cNvSpPr/>
          <p:nvPr/>
        </p:nvSpPr>
        <p:spPr>
          <a:xfrm>
            <a:off x="7497851" y="1554480"/>
            <a:ext cx="1828800" cy="1737360"/>
          </a:xfrm>
          <a:prstGeom prst="roundRect">
            <a:avLst>
              <a:gd name="adj" fmla="val 6316"/>
            </a:avLst>
          </a:prstGeom>
          <a:solidFill>
            <a:schemeClr val="bg2"/>
          </a:solidFill>
          <a:ln/>
          <a:effectLst>
            <a:outerShdw sx="100000" sy="100000" kx="0" ky="0" algn="bl" rotWithShape="0" blurRad="101600" dist="25400" dir="5400000">
              <a:srgbClr val="0F2A33">
                <a:alpha val="12000"/>
              </a:srgbClr>
            </a:outerShdw>
          </a:effectLst>
        </p:spPr>
      </p:sp>
      <p:sp>
        <p:nvSpPr>
          <p:cNvPr id="16" name="Text 14"/>
          <p:cNvSpPr txBox="1"/>
          <p:nvPr/>
        </p:nvSpPr>
        <p:spPr>
          <a:xfrm>
            <a:off x="7589291" y="1645920"/>
            <a:ext cx="1645920" cy="54864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Last useful h</a:t>
            </a:r>
            <a:endParaRPr lang="en-US" sz="1700" dirty="0"/>
          </a:p>
        </p:txBody>
      </p:sp>
      <p:sp>
        <p:nvSpPr>
          <p:cNvPr id="17" name="Text 15"/>
          <p:cNvSpPr txBox="1"/>
          <p:nvPr/>
        </p:nvSpPr>
        <p:spPr>
          <a:xfrm>
            <a:off x="7589291" y="2240280"/>
            <a:ext cx="1645920" cy="91440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padding skipped</a:t>
            </a:r>
            <a:endParaRPr lang="en-US" sz="1400" dirty="0"/>
          </a:p>
        </p:txBody>
      </p:sp>
      <p:sp>
        <p:nvSpPr>
          <p:cNvPr id="18" name="Arrow 4"/>
          <p:cNvSpPr/>
          <p:nvPr/>
        </p:nvSpPr>
        <p:spPr>
          <a:xfrm>
            <a:off x="9479013" y="2240280"/>
            <a:ext cx="182880" cy="365760"/>
          </a:xfrm>
          <a:prstGeom prst="chevron">
            <a:avLst/>
          </a:prstGeom>
          <a:solidFill>
            <a:schemeClr val="accent6"/>
          </a:solidFill>
          <a:ln/>
        </p:spPr>
      </p:sp>
      <p:sp>
        <p:nvSpPr>
          <p:cNvPr id="19" name="Block Linear"/>
          <p:cNvSpPr/>
          <p:nvPr/>
        </p:nvSpPr>
        <p:spPr>
          <a:xfrm>
            <a:off x="9814255" y="1554480"/>
            <a:ext cx="1828800" cy="1737360"/>
          </a:xfrm>
          <a:prstGeom prst="roundRect">
            <a:avLst>
              <a:gd name="adj" fmla="val 6316"/>
            </a:avLst>
          </a:prstGeom>
          <a:solidFill>
            <a:schemeClr val="bg2"/>
          </a:solidFill>
          <a:ln/>
          <a:effectLst>
            <a:outerShdw sx="100000" sy="100000" kx="0" ky="0" algn="bl" rotWithShape="0" blurRad="101600" dist="25400" dir="5400000">
              <a:srgbClr val="0F2A33">
                <a:alpha val="12000"/>
              </a:srgbClr>
            </a:outerShdw>
          </a:effectLst>
        </p:spPr>
      </p:sp>
      <p:sp>
        <p:nvSpPr>
          <p:cNvPr id="20" name="Text 18"/>
          <p:cNvSpPr txBox="1"/>
          <p:nvPr/>
        </p:nvSpPr>
        <p:spPr>
          <a:xfrm>
            <a:off x="9905695" y="1645920"/>
            <a:ext cx="1645920" cy="54864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Linear</a:t>
            </a:r>
            <a:endParaRPr lang="en-US" sz="1700" dirty="0"/>
          </a:p>
        </p:txBody>
      </p:sp>
      <p:sp>
        <p:nvSpPr>
          <p:cNvPr id="21" name="Text 19"/>
          <p:cNvSpPr txBox="1"/>
          <p:nvPr/>
        </p:nvSpPr>
        <p:spPr>
          <a:xfrm>
            <a:off x="9905695" y="2240280"/>
            <a:ext cx="1645920" cy="91440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64 → 3 logits</a:t>
            </a:r>
            <a:endParaRPr lang="en-US" sz="1400" dirty="0"/>
          </a:p>
        </p:txBody>
      </p:sp>
      <p:sp>
        <p:nvSpPr>
          <p:cNvPr id="22" name="Fact 1"/>
          <p:cNvSpPr/>
          <p:nvPr/>
        </p:nvSpPr>
        <p:spPr>
          <a:xfrm>
            <a:off x="548640" y="3611880"/>
            <a:ext cx="2567864" cy="1828800"/>
          </a:xfrm>
          <a:prstGeom prst="roundRect">
            <a:avLst>
              <a:gd name="adj" fmla="val 6000"/>
            </a:avLst>
          </a:prstGeom>
          <a:solidFill>
            <a:schemeClr val="bg2"/>
          </a:solidFill>
          <a:ln/>
          <a:effectLst>
            <a:outerShdw sx="100000" sy="100000" kx="0" ky="0" algn="bl" rotWithShape="0" blurRad="101600" dist="25400" dir="5400000">
              <a:srgbClr val="0F2A33">
                <a:alpha val="12000"/>
              </a:srgbClr>
            </a:outerShdw>
          </a:effectLst>
        </p:spPr>
      </p:sp>
      <p:sp>
        <p:nvSpPr>
          <p:cNvPr id="23" name="Fact border 1"/>
          <p:cNvSpPr/>
          <p:nvPr/>
        </p:nvSpPr>
        <p:spPr>
          <a:xfrm>
            <a:off x="548640" y="3611880"/>
            <a:ext cx="2567864" cy="1828800"/>
          </a:xfrm>
          <a:prstGeom prst="roundRect">
            <a:avLst>
              <a:gd name="adj" fmla="val 6000"/>
            </a:avLst>
          </a:prstGeom>
          <a:ln w="19050">
            <a:solidFill>
              <a:schemeClr val="bg2"/>
            </a:solidFill>
            <a:prstDash val="solid"/>
          </a:ln>
        </p:spPr>
      </p:sp>
      <p:sp>
        <p:nvSpPr>
          <p:cNvPr id="24" name="Text 22"/>
          <p:cNvSpPr txBox="1"/>
          <p:nvPr/>
        </p:nvSpPr>
        <p:spPr>
          <a:xfrm>
            <a:off x="777240" y="3703320"/>
            <a:ext cx="2110664"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12,000</a:t>
            </a:r>
            <a:endParaRPr lang="en-US" sz="3600" dirty="0"/>
          </a:p>
        </p:txBody>
      </p:sp>
      <p:sp>
        <p:nvSpPr>
          <p:cNvPr id="25" name="Text 23"/>
          <p:cNvSpPr txBox="1"/>
          <p:nvPr/>
        </p:nvSpPr>
        <p:spPr>
          <a:xfrm>
            <a:off x="777240" y="4480560"/>
            <a:ext cx="2110664" cy="9144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Vocabulary: 11,998 tokens + PAD + UNK, fit on the training pool only</a:t>
            </a:r>
            <a:endParaRPr lang="en-US" sz="1300" dirty="0"/>
          </a:p>
        </p:txBody>
      </p:sp>
      <p:sp>
        <p:nvSpPr>
          <p:cNvPr id="26" name="Fact 2"/>
          <p:cNvSpPr/>
          <p:nvPr/>
        </p:nvSpPr>
        <p:spPr>
          <a:xfrm>
            <a:off x="3390824" y="3611880"/>
            <a:ext cx="2567864" cy="1828800"/>
          </a:xfrm>
          <a:prstGeom prst="roundRect">
            <a:avLst>
              <a:gd name="adj" fmla="val 6000"/>
            </a:avLst>
          </a:prstGeom>
          <a:solidFill>
            <a:schemeClr val="bg1"/>
          </a:solidFill>
          <a:ln/>
          <a:effectLst>
            <a:outerShdw sx="100000" sy="100000" kx="0" ky="0" algn="bl" rotWithShape="0" blurRad="101600" dist="25400" dir="5400000">
              <a:srgbClr val="0F2A33">
                <a:alpha val="12000"/>
              </a:srgbClr>
            </a:outerShdw>
          </a:effectLst>
        </p:spPr>
      </p:sp>
      <p:sp>
        <p:nvSpPr>
          <p:cNvPr id="27" name="Fact border 2"/>
          <p:cNvSpPr/>
          <p:nvPr/>
        </p:nvSpPr>
        <p:spPr>
          <a:xfrm>
            <a:off x="3390824" y="3611880"/>
            <a:ext cx="2567864" cy="1828800"/>
          </a:xfrm>
          <a:prstGeom prst="roundRect">
            <a:avLst>
              <a:gd name="adj" fmla="val 6000"/>
            </a:avLst>
          </a:prstGeom>
          <a:ln w="19050">
            <a:solidFill>
              <a:schemeClr val="bg2"/>
            </a:solidFill>
            <a:prstDash val="solid"/>
          </a:ln>
        </p:spPr>
      </p:sp>
      <p:sp>
        <p:nvSpPr>
          <p:cNvPr id="28" name="Text 26"/>
          <p:cNvSpPr txBox="1"/>
          <p:nvPr/>
        </p:nvSpPr>
        <p:spPr>
          <a:xfrm>
            <a:off x="3619424" y="3703320"/>
            <a:ext cx="2110664"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128</a:t>
            </a:r>
            <a:endParaRPr lang="en-US" sz="3600" dirty="0"/>
          </a:p>
        </p:txBody>
      </p:sp>
      <p:sp>
        <p:nvSpPr>
          <p:cNvPr id="29" name="Text 27"/>
          <p:cNvSpPr txBox="1"/>
          <p:nvPr/>
        </p:nvSpPr>
        <p:spPr>
          <a:xfrm>
            <a:off x="3619424" y="4480560"/>
            <a:ext cx="2110664" cy="9144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Tokens kept per review; 33.36% of training reviews are truncated</a:t>
            </a:r>
            <a:endParaRPr lang="en-US" sz="1300" dirty="0"/>
          </a:p>
        </p:txBody>
      </p:sp>
      <p:sp>
        <p:nvSpPr>
          <p:cNvPr id="30" name="Fact 3"/>
          <p:cNvSpPr/>
          <p:nvPr/>
        </p:nvSpPr>
        <p:spPr>
          <a:xfrm>
            <a:off x="6233008" y="3611880"/>
            <a:ext cx="2567864" cy="1828800"/>
          </a:xfrm>
          <a:prstGeom prst="roundRect">
            <a:avLst>
              <a:gd name="adj" fmla="val 6000"/>
            </a:avLst>
          </a:prstGeom>
          <a:solidFill>
            <a:schemeClr val="bg2"/>
          </a:solidFill>
          <a:ln/>
          <a:effectLst>
            <a:outerShdw sx="100000" sy="100000" kx="0" ky="0" algn="bl" rotWithShape="0" blurRad="101600" dist="25400" dir="5400000">
              <a:srgbClr val="0F2A33">
                <a:alpha val="12000"/>
              </a:srgbClr>
            </a:outerShdw>
          </a:effectLst>
        </p:spPr>
      </p:sp>
      <p:sp>
        <p:nvSpPr>
          <p:cNvPr id="31" name="Fact border 3"/>
          <p:cNvSpPr/>
          <p:nvPr/>
        </p:nvSpPr>
        <p:spPr>
          <a:xfrm>
            <a:off x="6233008" y="3611880"/>
            <a:ext cx="2567864" cy="1828800"/>
          </a:xfrm>
          <a:prstGeom prst="roundRect">
            <a:avLst>
              <a:gd name="adj" fmla="val 6000"/>
            </a:avLst>
          </a:prstGeom>
          <a:ln w="19050">
            <a:solidFill>
              <a:schemeClr val="bg2"/>
            </a:solidFill>
            <a:prstDash val="solid"/>
          </a:ln>
        </p:spPr>
      </p:sp>
      <p:sp>
        <p:nvSpPr>
          <p:cNvPr id="32" name="Text 30"/>
          <p:cNvSpPr txBox="1"/>
          <p:nvPr/>
        </p:nvSpPr>
        <p:spPr>
          <a:xfrm>
            <a:off x="6461608" y="3703320"/>
            <a:ext cx="2110664"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64</a:t>
            </a:r>
            <a:endParaRPr lang="en-US" sz="3600" dirty="0"/>
          </a:p>
        </p:txBody>
      </p:sp>
      <p:sp>
        <p:nvSpPr>
          <p:cNvPr id="33" name="Text 31"/>
          <p:cNvSpPr txBox="1"/>
          <p:nvPr/>
        </p:nvSpPr>
        <p:spPr>
          <a:xfrm>
            <a:off x="6461608" y="4480560"/>
            <a:ext cx="2110664" cy="9144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Embedding, hidden h and memory c dimension</a:t>
            </a:r>
            <a:endParaRPr lang="en-US" sz="1300" dirty="0"/>
          </a:p>
        </p:txBody>
      </p:sp>
      <p:sp>
        <p:nvSpPr>
          <p:cNvPr id="34" name="Fact 4"/>
          <p:cNvSpPr/>
          <p:nvPr/>
        </p:nvSpPr>
        <p:spPr>
          <a:xfrm>
            <a:off x="9075191" y="3611880"/>
            <a:ext cx="2567864" cy="1828800"/>
          </a:xfrm>
          <a:prstGeom prst="roundRect">
            <a:avLst>
              <a:gd name="adj" fmla="val 6000"/>
            </a:avLst>
          </a:prstGeom>
          <a:solidFill>
            <a:schemeClr val="bg1"/>
          </a:solidFill>
          <a:ln/>
          <a:effectLst>
            <a:outerShdw sx="100000" sy="100000" kx="0" ky="0" algn="bl" rotWithShape="0" blurRad="101600" dist="25400" dir="5400000">
              <a:srgbClr val="0F2A33">
                <a:alpha val="12000"/>
              </a:srgbClr>
            </a:outerShdw>
          </a:effectLst>
        </p:spPr>
      </p:sp>
      <p:sp>
        <p:nvSpPr>
          <p:cNvPr id="35" name="Fact border 4"/>
          <p:cNvSpPr/>
          <p:nvPr/>
        </p:nvSpPr>
        <p:spPr>
          <a:xfrm>
            <a:off x="9075191" y="3611880"/>
            <a:ext cx="2567864" cy="1828800"/>
          </a:xfrm>
          <a:prstGeom prst="roundRect">
            <a:avLst>
              <a:gd name="adj" fmla="val 6000"/>
            </a:avLst>
          </a:prstGeom>
          <a:ln w="19050">
            <a:solidFill>
              <a:schemeClr val="bg2"/>
            </a:solidFill>
            <a:prstDash val="solid"/>
          </a:ln>
        </p:spPr>
      </p:sp>
      <p:sp>
        <p:nvSpPr>
          <p:cNvPr id="36" name="Text 34"/>
          <p:cNvSpPr txBox="1"/>
          <p:nvPr/>
        </p:nvSpPr>
        <p:spPr>
          <a:xfrm>
            <a:off x="9303791" y="3703320"/>
            <a:ext cx="2110664"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3</a:t>
            </a:r>
            <a:endParaRPr lang="en-US" sz="3600" dirty="0"/>
          </a:p>
        </p:txBody>
      </p:sp>
      <p:sp>
        <p:nvSpPr>
          <p:cNvPr id="37" name="Text 35"/>
          <p:cNvSpPr txBox="1"/>
          <p:nvPr/>
        </p:nvSpPr>
        <p:spPr>
          <a:xfrm>
            <a:off x="9303791" y="4480560"/>
            <a:ext cx="2110664" cy="9144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Output logits; no dropout in the final study</a:t>
            </a:r>
            <a:endParaRPr lang="en-US" sz="1300" dirty="0"/>
          </a:p>
        </p:txBody>
      </p:sp>
      <p:sp>
        <p:nvSpPr>
          <p:cNvPr id="38" name="Text 36"/>
          <p:cNvSpPr txBox="1"/>
          <p:nvPr/>
        </p:nvSpPr>
        <p:spPr>
          <a:xfrm>
            <a:off x="548640" y="5715000"/>
            <a:ext cx="9997135" cy="365760"/>
          </a:xfrm>
          <a:prstGeom prst="rect">
            <a:avLst/>
          </a:prstGeom>
          <a:noFill/>
          <a:ln/>
        </p:spPr>
        <p:txBody>
          <a:bodyPr wrap="square" lIns="0" tIns="0" rIns="0" bIns="0" rtlCol="0" anchor="ctr"/>
          <a:lstStyle/>
          <a:p>
            <a:pPr indent="0" marL="0">
              <a:buNone/>
            </a:pPr>
            <a:r>
              <a:rPr lang="en-US" sz="1400" i="1" dirty="0">
                <a:solidFill>
                  <a:schemeClr val="accent5"/>
                </a:solidFill>
                <a:latin typeface="Calibri" pitchFamily="34" charset="0"/>
                <a:ea typeface="Calibri" pitchFamily="34" charset="-122"/>
                <a:cs typeface="Calibri" pitchFamily="34" charset="-120"/>
              </a:rPr>
              <a:t>At padded positions both h and c stay unchanged. The vocabulary never sees validation or test texts.</a:t>
            </a:r>
            <a:endParaRPr lang="en-US" sz="14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Vanilla LSTM: independent gates</a:t>
            </a:r>
            <a:endParaRPr lang="en-US" sz="3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7315200" cy="914400"/>
        </p:xfrm>
        <a:graphic>
          <a:graphicData uri="http://schemas.openxmlformats.org/drawingml/2006/table">
            <a:tbl>
              <a:tblPr/>
              <a:tblGrid>
                <a:gridCol w="2651760"/>
                <a:gridCol w="4663440"/>
              </a:tblGrid>
              <a:tr h="54864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Operation</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0B4F5C"/>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Equation</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0B4F5C"/>
                    </a:solidFill>
                  </a:tcPr>
                </a:tc>
              </a:tr>
              <a:tr h="868680">
                <a:tc>
                  <a:txBody>
                    <a:bodyPr/>
                    <a:lstStyle/>
                    <a:p>
                      <a:pPr algn="l" indent="0" marL="0">
                        <a:buNone/>
                      </a:pPr>
                      <a:r>
                        <a:rPr lang="en-US" sz="1500" b="1" dirty="0">
                          <a:solidFill>
                            <a:srgbClr val="0F2A33"/>
                          </a:solidFill>
                          <a:latin typeface="Calibri" pitchFamily="34" charset="0"/>
                          <a:ea typeface="Calibri" pitchFamily="34" charset="-122"/>
                          <a:cs typeface="Calibri" pitchFamily="34" charset="-120"/>
                        </a:rPr>
                        <a:t>Input / forget / output gates</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EAF4F3"/>
                    </a:solidFill>
                  </a:tcPr>
                </a:tc>
                <a:tc>
                  <a:txBody>
                    <a:bodyPr/>
                    <a:lstStyle/>
                    <a:p>
                      <a:pPr algn="l" indent="0" marL="0">
                        <a:buNone/>
                      </a:pPr>
                      <a:r>
                        <a:rPr lang="en-US" sz="1600" dirty="0">
                          <a:solidFill>
                            <a:srgbClr val="0F2A33"/>
                          </a:solidFill>
                          <a:latin typeface="Consolas" pitchFamily="34" charset="0"/>
                          <a:ea typeface="Consolas" pitchFamily="34" charset="-122"/>
                          <a:cs typeface="Consolas" pitchFamily="34" charset="-120"/>
                        </a:rPr>
                        <a:t>i, f, o = σ(Wx·x + Wh·h_prev + b)</a:t>
                      </a:r>
                      <a:endParaRPr lang="en-US" sz="1600" dirty="0">
                        <a:latin typeface="Consolas" charset="0"/>
                        <a:ea typeface="Consolas" charset="0"/>
                        <a:cs typeface="Consolas"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EAF4F3"/>
                    </a:solidFill>
                  </a:tcPr>
                </a:tc>
              </a:tr>
              <a:tr h="868680">
                <a:tc>
                  <a:txBody>
                    <a:bodyPr/>
                    <a:lstStyle/>
                    <a:p>
                      <a:pPr algn="l" indent="0" marL="0">
                        <a:buNone/>
                      </a:pPr>
                      <a:r>
                        <a:rPr lang="en-US" sz="1500" b="1" dirty="0">
                          <a:solidFill>
                            <a:srgbClr val="0F2A33"/>
                          </a:solidFill>
                          <a:latin typeface="Calibri" pitchFamily="34" charset="0"/>
                          <a:ea typeface="Calibri" pitchFamily="34" charset="-122"/>
                          <a:cs typeface="Calibri" pitchFamily="34" charset="-120"/>
                        </a:rPr>
                        <a:t>Candidate</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tcPr>
                </a:tc>
                <a:tc>
                  <a:txBody>
                    <a:bodyPr/>
                    <a:lstStyle/>
                    <a:p>
                      <a:pPr algn="l" indent="0" marL="0">
                        <a:buNone/>
                      </a:pPr>
                      <a:r>
                        <a:rPr lang="en-US" sz="1600" dirty="0">
                          <a:solidFill>
                            <a:srgbClr val="0F2A33"/>
                          </a:solidFill>
                          <a:latin typeface="Consolas" pitchFamily="34" charset="0"/>
                          <a:ea typeface="Consolas" pitchFamily="34" charset="-122"/>
                          <a:cs typeface="Consolas" pitchFamily="34" charset="-120"/>
                        </a:rPr>
                        <a:t>g = tanh(Wxg·x + Whg·h_prev + bg)</a:t>
                      </a:r>
                      <a:endParaRPr lang="en-US" sz="1600" dirty="0">
                        <a:latin typeface="Consolas" charset="0"/>
                        <a:ea typeface="Consolas" charset="0"/>
                        <a:cs typeface="Consolas"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tcPr>
                </a:tc>
              </a:tr>
              <a:tr h="868680">
                <a:tc>
                  <a:txBody>
                    <a:bodyPr/>
                    <a:lstStyle/>
                    <a:p>
                      <a:pPr algn="l" indent="0" marL="0">
                        <a:buNone/>
                      </a:pPr>
                      <a:r>
                        <a:rPr lang="en-US" sz="1500" b="1" dirty="0">
                          <a:solidFill>
                            <a:srgbClr val="0F2A33"/>
                          </a:solidFill>
                          <a:latin typeface="Calibri" pitchFamily="34" charset="0"/>
                          <a:ea typeface="Calibri" pitchFamily="34" charset="-122"/>
                          <a:cs typeface="Calibri" pitchFamily="34" charset="-120"/>
                        </a:rPr>
                        <a:t>Memory update</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EAF4F3"/>
                    </a:solidFill>
                  </a:tcPr>
                </a:tc>
                <a:tc>
                  <a:txBody>
                    <a:bodyPr/>
                    <a:lstStyle/>
                    <a:p>
                      <a:pPr algn="l" indent="0" marL="0">
                        <a:buNone/>
                      </a:pPr>
                      <a:r>
                        <a:rPr lang="en-US" sz="1600" dirty="0">
                          <a:solidFill>
                            <a:srgbClr val="0F2A33"/>
                          </a:solidFill>
                          <a:latin typeface="Consolas" pitchFamily="34" charset="0"/>
                          <a:ea typeface="Consolas" pitchFamily="34" charset="-122"/>
                          <a:cs typeface="Consolas" pitchFamily="34" charset="-120"/>
                        </a:rPr>
                        <a:t>c = f ⊙ c_prev + i ⊙ g</a:t>
                      </a:r>
                      <a:endParaRPr lang="en-US" sz="1600" dirty="0">
                        <a:latin typeface="Consolas" charset="0"/>
                        <a:ea typeface="Consolas" charset="0"/>
                        <a:cs typeface="Consolas"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EAF4F3"/>
                    </a:solidFill>
                  </a:tcPr>
                </a:tc>
              </a:tr>
              <a:tr h="868680">
                <a:tc>
                  <a:txBody>
                    <a:bodyPr/>
                    <a:lstStyle/>
                    <a:p>
                      <a:pPr algn="l" indent="0" marL="0">
                        <a:buNone/>
                      </a:pPr>
                      <a:r>
                        <a:rPr lang="en-US" sz="1500" b="1" dirty="0">
                          <a:solidFill>
                            <a:srgbClr val="0F2A33"/>
                          </a:solidFill>
                          <a:latin typeface="Calibri" pitchFamily="34" charset="0"/>
                          <a:ea typeface="Calibri" pitchFamily="34" charset="-122"/>
                          <a:cs typeface="Calibri" pitchFamily="34" charset="-120"/>
                        </a:rPr>
                        <a:t>Hidden output</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tcPr>
                </a:tc>
                <a:tc>
                  <a:txBody>
                    <a:bodyPr/>
                    <a:lstStyle/>
                    <a:p>
                      <a:pPr algn="l" indent="0" marL="0">
                        <a:buNone/>
                      </a:pPr>
                      <a:r>
                        <a:rPr lang="en-US" sz="1600" dirty="0">
                          <a:solidFill>
                            <a:srgbClr val="0F2A33"/>
                          </a:solidFill>
                          <a:latin typeface="Consolas" pitchFamily="34" charset="0"/>
                          <a:ea typeface="Consolas" pitchFamily="34" charset="-122"/>
                          <a:cs typeface="Consolas" pitchFamily="34" charset="-120"/>
                        </a:rPr>
                        <a:t>h = o ⊙ tanh(c)</a:t>
                      </a:r>
                      <a:endParaRPr lang="en-US" sz="1600" dirty="0">
                        <a:latin typeface="Consolas" charset="0"/>
                        <a:ea typeface="Consolas" charset="0"/>
                        <a:cs typeface="Consolas"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tcPr>
                </a:tc>
              </a:tr>
            </a:tbl>
          </a:graphicData>
        </a:graphic>
      </p:graphicFrame>
      <p:sp>
        <p:nvSpPr>
          <p:cNvPr id="4" name="Notes card"/>
          <p:cNvSpPr/>
          <p:nvPr/>
        </p:nvSpPr>
        <p:spPr>
          <a:xfrm>
            <a:off x="8183880" y="1600200"/>
            <a:ext cx="3456432" cy="4023360"/>
          </a:xfrm>
          <a:prstGeom prst="roundRect">
            <a:avLst>
              <a:gd name="adj" fmla="val 3175"/>
            </a:avLst>
          </a:prstGeom>
          <a:solidFill>
            <a:schemeClr val="bg2"/>
          </a:solidFill>
          <a:ln/>
          <a:effectLst>
            <a:outerShdw sx="100000" sy="100000" kx="0" ky="0" algn="bl" rotWithShape="0" blurRad="101600" dist="25400" dir="5400000">
              <a:srgbClr val="0F2A33">
                <a:alpha val="12000"/>
              </a:srgbClr>
            </a:outerShdw>
          </a:effectLst>
        </p:spPr>
      </p:sp>
      <p:sp>
        <p:nvSpPr>
          <p:cNvPr id="5" name="Text 2"/>
          <p:cNvSpPr txBox="1"/>
          <p:nvPr/>
        </p:nvSpPr>
        <p:spPr>
          <a:xfrm>
            <a:off x="8458200" y="1783080"/>
            <a:ext cx="2926080" cy="3657600"/>
          </a:xfrm>
          <a:prstGeom prst="rect">
            <a:avLst/>
          </a:prstGeom>
          <a:noFill/>
          <a:ln/>
        </p:spPr>
        <p:txBody>
          <a:bodyPr wrap="square" lIns="0" tIns="0" rIns="0" bIns="0" rtlCol="0" anchor="t"/>
          <a:lstStyle/>
          <a:p>
            <a:pPr indent="0" marL="0">
              <a:spcAft>
                <a:spcPts val="1200"/>
              </a:spcAft>
              <a:buNone/>
            </a:pPr>
            <a:r>
              <a:rPr lang="en-US" sz="1800" b="1" dirty="0">
                <a:solidFill>
                  <a:schemeClr val="tx2"/>
                </a:solidFill>
                <a:latin typeface="Calibri" pitchFamily="34" charset="0"/>
                <a:ea typeface="Calibri" pitchFamily="34" charset="-122"/>
                <a:cs typeface="Calibri" pitchFamily="34" charset="-120"/>
              </a:rPr>
              <a:t>Implementation</a:t>
            </a:r>
            <a:endParaRPr lang="en-US" sz="1500" dirty="0"/>
          </a:p>
          <a:p>
            <a:pPr marL="342900" indent="-342900">
              <a:spcAft>
                <a:spcPts val="1200"/>
              </a:spcAft>
              <a:buSzPct val="100000"/>
              <a:buChar char="•"/>
            </a:pPr>
            <a:r>
              <a:rPr lang="en-US" sz="1500" dirty="0">
                <a:solidFill>
                  <a:schemeClr val="tx1"/>
                </a:solidFill>
                <a:latin typeface="Calibri" pitchFamily="34" charset="0"/>
                <a:ea typeface="Calibri" pitchFamily="34" charset="-122"/>
                <a:cs typeface="Calibri" pitchFamily="34" charset="-120"/>
              </a:rPr>
              <a:t>Each gate has its own affine transform</a:t>
            </a:r>
            <a:endParaRPr lang="en-US" sz="1500" dirty="0"/>
          </a:p>
          <a:p>
            <a:pPr marL="342900" indent="-342900">
              <a:spcAft>
                <a:spcPts val="1200"/>
              </a:spcAft>
              <a:buSzPct val="100000"/>
              <a:buChar char="•"/>
            </a:pPr>
            <a:r>
              <a:rPr lang="en-US" sz="1500" dirty="0">
                <a:solidFill>
                  <a:schemeClr val="tx1"/>
                </a:solidFill>
                <a:latin typeface="Calibri" pitchFamily="34" charset="0"/>
                <a:ea typeface="Calibri" pitchFamily="34" charset="-122"/>
                <a:cs typeface="Calibri" pitchFamily="34" charset="-120"/>
              </a:rPr>
              <a:t>Same cell weights reused at every token</a:t>
            </a:r>
            <a:endParaRPr lang="en-US" sz="1500" dirty="0"/>
          </a:p>
          <a:p>
            <a:pPr marL="342900" indent="-342900">
              <a:spcAft>
                <a:spcPts val="1200"/>
              </a:spcAft>
              <a:buSzPct val="100000"/>
              <a:buChar char="•"/>
            </a:pPr>
            <a:r>
              <a:rPr lang="en-US" sz="1500" dirty="0">
                <a:solidFill>
                  <a:schemeClr val="tx1"/>
                </a:solidFill>
                <a:latin typeface="Calibri" pitchFamily="34" charset="0"/>
                <a:ea typeface="Calibri" pitchFamily="34" charset="-122"/>
                <a:cs typeface="Calibri" pitchFamily="34" charset="-120"/>
              </a:rPr>
              <a:t>Every affine operation uses nn.Linear</a:t>
            </a:r>
            <a:endParaRPr lang="en-US" sz="1500" dirty="0"/>
          </a:p>
          <a:p>
            <a:pPr marL="342900" indent="-342900">
              <a:spcAft>
                <a:spcPts val="1200"/>
              </a:spcAft>
              <a:buSzPct val="100000"/>
              <a:buChar char="•"/>
            </a:pPr>
            <a:r>
              <a:rPr lang="en-US" sz="1500" dirty="0">
                <a:solidFill>
                  <a:schemeClr val="tx1"/>
                </a:solidFill>
                <a:latin typeface="Calibri" pitchFamily="34" charset="0"/>
                <a:ea typeface="Calibri" pitchFamily="34" charset="-122"/>
                <a:cs typeface="Calibri" pitchFamily="34" charset="-120"/>
              </a:rPr>
              <a:t>No built-in LSTM layer</a:t>
            </a:r>
            <a:endParaRPr lang="en-US" sz="15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CIFG and WMC: two memory mechanisms</a:t>
            </a:r>
            <a:endParaRPr lang="en-US" sz="3600" dirty="0"/>
          </a:p>
        </p:txBody>
      </p:sp>
      <p:sp>
        <p:nvSpPr>
          <p:cNvPr id="3" name="Card CIFG"/>
          <p:cNvSpPr/>
          <p:nvPr/>
        </p:nvSpPr>
        <p:spPr>
          <a:xfrm>
            <a:off x="548640" y="1463040"/>
            <a:ext cx="5364328" cy="2606040"/>
          </a:xfrm>
          <a:prstGeom prst="roundRect">
            <a:avLst>
              <a:gd name="adj" fmla="val 4211"/>
            </a:avLst>
          </a:prstGeom>
          <a:solidFill>
            <a:schemeClr val="bg2"/>
          </a:solidFill>
          <a:ln/>
          <a:effectLst>
            <a:outerShdw sx="100000" sy="100000" kx="0" ky="0" algn="bl" rotWithShape="0" blurRad="101600" dist="25400" dir="5400000">
              <a:srgbClr val="0F2A33">
                <a:alpha val="12000"/>
              </a:srgbClr>
            </a:outerShdw>
          </a:effectLst>
        </p:spPr>
      </p:sp>
      <p:sp>
        <p:nvSpPr>
          <p:cNvPr id="4" name="Tag CIFG"/>
          <p:cNvSpPr/>
          <p:nvPr/>
        </p:nvSpPr>
        <p:spPr>
          <a:xfrm>
            <a:off x="822960" y="1645920"/>
            <a:ext cx="2011680" cy="411480"/>
          </a:xfrm>
          <a:prstGeom prst="roundRect">
            <a:avLst>
              <a:gd name="adj" fmla="val 48889"/>
            </a:avLst>
          </a:prstGeom>
          <a:solidFill>
            <a:schemeClr val="accent1"/>
          </a:solidFill>
          <a:ln/>
        </p:spPr>
      </p:sp>
      <p:sp>
        <p:nvSpPr>
          <p:cNvPr id="5" name="Text 3"/>
          <p:cNvSpPr txBox="1"/>
          <p:nvPr/>
        </p:nvSpPr>
        <p:spPr>
          <a:xfrm>
            <a:off x="822960" y="1645920"/>
            <a:ext cx="2011680"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Coupled gate</a:t>
            </a:r>
            <a:endParaRPr lang="en-US" sz="1300" dirty="0"/>
          </a:p>
        </p:txBody>
      </p:sp>
      <p:sp>
        <p:nvSpPr>
          <p:cNvPr id="6" name="Text 4"/>
          <p:cNvSpPr txBox="1"/>
          <p:nvPr/>
        </p:nvSpPr>
        <p:spPr>
          <a:xfrm>
            <a:off x="3017520" y="1600200"/>
            <a:ext cx="2621128" cy="50292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CIFG LSTM</a:t>
            </a:r>
            <a:endParaRPr lang="en-US" sz="2400" dirty="0"/>
          </a:p>
        </p:txBody>
      </p:sp>
      <p:sp>
        <p:nvSpPr>
          <p:cNvPr id="7" name="Text 5"/>
          <p:cNvSpPr txBox="1"/>
          <p:nvPr/>
        </p:nvSpPr>
        <p:spPr>
          <a:xfrm>
            <a:off x="822960" y="2286000"/>
            <a:ext cx="4815688" cy="1691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i = 1 − f</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Removes the input-gate parameters</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Retention and insertion are coupled</a:t>
            </a:r>
            <a:endParaRPr lang="en-US" sz="1400" dirty="0"/>
          </a:p>
        </p:txBody>
      </p:sp>
      <p:sp>
        <p:nvSpPr>
          <p:cNvPr id="8" name="Card WMC"/>
          <p:cNvSpPr/>
          <p:nvPr/>
        </p:nvSpPr>
        <p:spPr>
          <a:xfrm>
            <a:off x="6278728" y="1463040"/>
            <a:ext cx="5364328" cy="2606040"/>
          </a:xfrm>
          <a:prstGeom prst="roundRect">
            <a:avLst>
              <a:gd name="adj" fmla="val 4211"/>
            </a:avLst>
          </a:prstGeom>
          <a:solidFill>
            <a:schemeClr val="bg2"/>
          </a:solidFill>
          <a:ln/>
          <a:effectLst>
            <a:outerShdw sx="100000" sy="100000" kx="0" ky="0" algn="bl" rotWithShape="0" blurRad="101600" dist="25400" dir="5400000">
              <a:srgbClr val="0F2A33">
                <a:alpha val="12000"/>
              </a:srgbClr>
            </a:outerShdw>
          </a:effectLst>
        </p:spPr>
      </p:sp>
      <p:sp>
        <p:nvSpPr>
          <p:cNvPr id="9" name="Tag WMC"/>
          <p:cNvSpPr/>
          <p:nvPr/>
        </p:nvSpPr>
        <p:spPr>
          <a:xfrm>
            <a:off x="6553048" y="1645920"/>
            <a:ext cx="2011680" cy="411480"/>
          </a:xfrm>
          <a:prstGeom prst="roundRect">
            <a:avLst>
              <a:gd name="adj" fmla="val 48889"/>
            </a:avLst>
          </a:prstGeom>
          <a:solidFill>
            <a:schemeClr val="accent2"/>
          </a:solidFill>
          <a:ln/>
        </p:spPr>
      </p:sp>
      <p:sp>
        <p:nvSpPr>
          <p:cNvPr id="10" name="Text 8"/>
          <p:cNvSpPr txBox="1"/>
          <p:nvPr/>
        </p:nvSpPr>
        <p:spPr>
          <a:xfrm>
            <a:off x="6553048" y="1645920"/>
            <a:ext cx="2011680" cy="41148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Memory connections</a:t>
            </a:r>
            <a:endParaRPr lang="en-US" sz="1300" dirty="0"/>
          </a:p>
        </p:txBody>
      </p:sp>
      <p:sp>
        <p:nvSpPr>
          <p:cNvPr id="11" name="Text 9"/>
          <p:cNvSpPr txBox="1"/>
          <p:nvPr/>
        </p:nvSpPr>
        <p:spPr>
          <a:xfrm>
            <a:off x="8747608" y="1600200"/>
            <a:ext cx="2621128" cy="50292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WMC LSTM</a:t>
            </a:r>
            <a:endParaRPr lang="en-US" sz="2400" dirty="0"/>
          </a:p>
        </p:txBody>
      </p:sp>
      <p:sp>
        <p:nvSpPr>
          <p:cNvPr id="12" name="Text 10"/>
          <p:cNvSpPr txBox="1"/>
          <p:nvPr/>
        </p:nvSpPr>
        <p:spPr>
          <a:xfrm>
            <a:off x="6553048" y="2286000"/>
            <a:ext cx="4815688" cy="1691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tanh-transformed full-matrix links from c_prev to the input and forget gates</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Output gate reads the newly updated c</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Added transforms have no biases</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4297680"/>
          <a:ext cx="11094415" cy="914400"/>
        </p:xfrm>
        <a:graphic>
          <a:graphicData uri="http://schemas.openxmlformats.org/drawingml/2006/table">
            <a:tbl>
              <a:tblPr/>
              <a:tblGrid>
                <a:gridCol w="3749040"/>
                <a:gridCol w="3657600"/>
                <a:gridCol w="3685032"/>
              </a:tblGrid>
              <a:tr h="41148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Architecture</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0B4F5C"/>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Total parameters</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0B4F5C"/>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Cell parameters</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0B4F5C"/>
                    </a:solidFill>
                  </a:tcPr>
                </a:tc>
              </a:tr>
              <a:tr h="411480">
                <a:tc>
                  <a:txBody>
                    <a:bodyPr/>
                    <a:lstStyle/>
                    <a:p>
                      <a:pPr algn="l" indent="0" marL="0">
                        <a:buNone/>
                      </a:pPr>
                      <a:r>
                        <a:rPr lang="en-US" sz="1500" b="1" dirty="0">
                          <a:solidFill>
                            <a:srgbClr val="0F2A33"/>
                          </a:solidFill>
                          <a:latin typeface="Calibri" pitchFamily="34" charset="0"/>
                          <a:ea typeface="Calibri" pitchFamily="34" charset="-122"/>
                          <a:cs typeface="Calibri" pitchFamily="34" charset="-120"/>
                        </a:rPr>
                        <a:t>Vanilla</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EAF4F3"/>
                    </a:solidFill>
                  </a:tcPr>
                </a:tc>
                <a:tc>
                  <a:txBody>
                    <a:bodyPr/>
                    <a:lstStyle/>
                    <a:p>
                      <a:pPr algn="ctr" indent="0" marL="0">
                        <a:buNone/>
                      </a:pPr>
                      <a:r>
                        <a:rPr lang="en-US" sz="1500" dirty="0">
                          <a:solidFill>
                            <a:srgbClr val="0F2A33"/>
                          </a:solidFill>
                          <a:latin typeface="Calibri" pitchFamily="34" charset="0"/>
                          <a:ea typeface="Calibri" pitchFamily="34" charset="-122"/>
                          <a:cs typeface="Calibri" pitchFamily="34" charset="-120"/>
                        </a:rPr>
                        <a:t>801,219</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EAF4F3"/>
                    </a:solidFill>
                  </a:tcPr>
                </a:tc>
                <a:tc>
                  <a:txBody>
                    <a:bodyPr/>
                    <a:lstStyle/>
                    <a:p>
                      <a:pPr algn="ctr" indent="0" marL="0">
                        <a:buNone/>
                      </a:pPr>
                      <a:r>
                        <a:rPr lang="en-US" sz="1500" dirty="0">
                          <a:solidFill>
                            <a:srgbClr val="0F2A33"/>
                          </a:solidFill>
                          <a:latin typeface="Calibri" pitchFamily="34" charset="0"/>
                          <a:ea typeface="Calibri" pitchFamily="34" charset="-122"/>
                          <a:cs typeface="Calibri" pitchFamily="34" charset="-120"/>
                        </a:rPr>
                        <a:t>33,024</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EAF4F3"/>
                    </a:solidFill>
                  </a:tcPr>
                </a:tc>
              </a:tr>
              <a:tr h="411480">
                <a:tc>
                  <a:txBody>
                    <a:bodyPr/>
                    <a:lstStyle/>
                    <a:p>
                      <a:pPr algn="l" indent="0" marL="0">
                        <a:buNone/>
                      </a:pPr>
                      <a:r>
                        <a:rPr lang="en-US" sz="1500" b="1" dirty="0">
                          <a:solidFill>
                            <a:srgbClr val="0F2A33"/>
                          </a:solidFill>
                          <a:latin typeface="Calibri" pitchFamily="34" charset="0"/>
                          <a:ea typeface="Calibri" pitchFamily="34" charset="-122"/>
                          <a:cs typeface="Calibri" pitchFamily="34" charset="-120"/>
                        </a:rPr>
                        <a:t>CIFG</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tcPr>
                </a:tc>
                <a:tc>
                  <a:txBody>
                    <a:bodyPr/>
                    <a:lstStyle/>
                    <a:p>
                      <a:pPr algn="ctr" indent="0" marL="0">
                        <a:buNone/>
                      </a:pPr>
                      <a:r>
                        <a:rPr lang="en-US" sz="1500" dirty="0">
                          <a:solidFill>
                            <a:srgbClr val="0F2A33"/>
                          </a:solidFill>
                          <a:latin typeface="Calibri" pitchFamily="34" charset="0"/>
                          <a:ea typeface="Calibri" pitchFamily="34" charset="-122"/>
                          <a:cs typeface="Calibri" pitchFamily="34" charset="-120"/>
                        </a:rPr>
                        <a:t>792,963</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tcPr>
                </a:tc>
                <a:tc>
                  <a:txBody>
                    <a:bodyPr/>
                    <a:lstStyle/>
                    <a:p>
                      <a:pPr algn="ctr" indent="0" marL="0">
                        <a:buNone/>
                      </a:pPr>
                      <a:r>
                        <a:rPr lang="en-US" sz="1500" b="1" dirty="0">
                          <a:solidFill>
                            <a:srgbClr val="0E7C86"/>
                          </a:solidFill>
                          <a:latin typeface="Calibri" pitchFamily="34" charset="0"/>
                          <a:ea typeface="Calibri" pitchFamily="34" charset="-122"/>
                          <a:cs typeface="Calibri" pitchFamily="34" charset="-120"/>
                        </a:rPr>
                        <a:t>24,768</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tcPr>
                </a:tc>
              </a:tr>
              <a:tr h="411480">
                <a:tc>
                  <a:txBody>
                    <a:bodyPr/>
                    <a:lstStyle/>
                    <a:p>
                      <a:pPr algn="l" indent="0" marL="0">
                        <a:buNone/>
                      </a:pPr>
                      <a:r>
                        <a:rPr lang="en-US" sz="1500" b="1" dirty="0">
                          <a:solidFill>
                            <a:srgbClr val="0F2A33"/>
                          </a:solidFill>
                          <a:latin typeface="Calibri" pitchFamily="34" charset="0"/>
                          <a:ea typeface="Calibri" pitchFamily="34" charset="-122"/>
                          <a:cs typeface="Calibri" pitchFamily="34" charset="-120"/>
                        </a:rPr>
                        <a:t>WMC</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EAF4F3"/>
                    </a:solidFill>
                  </a:tcPr>
                </a:tc>
                <a:tc>
                  <a:txBody>
                    <a:bodyPr/>
                    <a:lstStyle/>
                    <a:p>
                      <a:pPr algn="ctr" indent="0" marL="0">
                        <a:buNone/>
                      </a:pPr>
                      <a:r>
                        <a:rPr lang="en-US" sz="1500" dirty="0">
                          <a:solidFill>
                            <a:srgbClr val="0F2A33"/>
                          </a:solidFill>
                          <a:latin typeface="Calibri" pitchFamily="34" charset="0"/>
                          <a:ea typeface="Calibri" pitchFamily="34" charset="-122"/>
                          <a:cs typeface="Calibri" pitchFamily="34" charset="-120"/>
                        </a:rPr>
                        <a:t>813,507</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EAF4F3"/>
                    </a:solidFill>
                  </a:tcPr>
                </a:tc>
                <a:tc>
                  <a:txBody>
                    <a:bodyPr/>
                    <a:lstStyle/>
                    <a:p>
                      <a:pPr algn="ctr" indent="0" marL="0">
                        <a:buNone/>
                      </a:pPr>
                      <a:r>
                        <a:rPr lang="en-US" sz="1500" dirty="0">
                          <a:solidFill>
                            <a:srgbClr val="0F2A33"/>
                          </a:solidFill>
                          <a:latin typeface="Calibri" pitchFamily="34" charset="0"/>
                          <a:ea typeface="Calibri" pitchFamily="34" charset="-122"/>
                          <a:cs typeface="Calibri" pitchFamily="34" charset="-120"/>
                        </a:rPr>
                        <a:t>45,312</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EAF4F3"/>
                    </a:solidFill>
                  </a:tcPr>
                </a:tc>
              </a:tr>
            </a:tbl>
          </a:graphicData>
        </a:graphic>
      </p:graphicFrame>
      <p:sp>
        <p:nvSpPr>
          <p:cNvPr id="14" name="Text 11"/>
          <p:cNvSpPr txBox="1"/>
          <p:nvPr/>
        </p:nvSpPr>
        <p:spPr>
          <a:xfrm>
            <a:off x="548640" y="6080760"/>
            <a:ext cx="9997135" cy="274320"/>
          </a:xfrm>
          <a:prstGeom prst="rect">
            <a:avLst/>
          </a:prstGeom>
          <a:noFill/>
          <a:ln/>
        </p:spPr>
        <p:txBody>
          <a:bodyPr wrap="square" lIns="0" tIns="0" rIns="0" bIns="0" rtlCol="0" anchor="ctr"/>
          <a:lstStyle/>
          <a:p>
            <a:pPr indent="0" marL="0">
              <a:buNone/>
            </a:pPr>
            <a:r>
              <a:rPr lang="en-US" sz="1300" i="1" dirty="0">
                <a:solidFill>
                  <a:schemeClr val="accent5"/>
                </a:solidFill>
                <a:latin typeface="Calibri" pitchFamily="34" charset="0"/>
                <a:ea typeface="Calibri" pitchFamily="34" charset="-122"/>
                <a:cs typeface="Calibri" pitchFamily="34" charset="-120"/>
              </a:rPr>
              <a:t>Totals include 768,000 embedding values and 195 classifier parameters.</a:t>
            </a:r>
            <a:endParaRPr lang="en-US" sz="13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Controlled experiment design</a:t>
            </a:r>
            <a:endParaRPr lang="en-US" sz="3600" dirty="0"/>
          </a:p>
        </p:txBody>
      </p:sp>
      <p:sp>
        <p:nvSpPr>
          <p:cNvPr id="3" name="Row Optimizer"/>
          <p:cNvSpPr/>
          <p:nvPr/>
        </p:nvSpPr>
        <p:spPr>
          <a:xfrm>
            <a:off x="548640" y="1508760"/>
            <a:ext cx="11094415" cy="621792"/>
          </a:xfrm>
          <a:prstGeom prst="roundRect">
            <a:avLst>
              <a:gd name="adj" fmla="val 17647"/>
            </a:avLst>
          </a:prstGeom>
          <a:solidFill>
            <a:schemeClr val="bg2"/>
          </a:solidFill>
          <a:ln/>
          <a:effectLst>
            <a:outerShdw sx="100000" sy="100000" kx="0" ky="0" algn="bl" rotWithShape="0" blurRad="101600" dist="25400" dir="5400000">
              <a:srgbClr val="0F2A33">
                <a:alpha val="12000"/>
              </a:srgbClr>
            </a:outerShdw>
          </a:effectLst>
        </p:spPr>
      </p:sp>
      <p:sp>
        <p:nvSpPr>
          <p:cNvPr id="4" name="Tag Optimizer"/>
          <p:cNvSpPr/>
          <p:nvPr/>
        </p:nvSpPr>
        <p:spPr>
          <a:xfrm>
            <a:off x="685800" y="1600200"/>
            <a:ext cx="1828800" cy="438912"/>
          </a:xfrm>
          <a:prstGeom prst="roundRect">
            <a:avLst>
              <a:gd name="adj" fmla="val 50000"/>
            </a:avLst>
          </a:prstGeom>
          <a:solidFill>
            <a:schemeClr val="accent1"/>
          </a:solidFill>
          <a:ln/>
        </p:spPr>
      </p:sp>
      <p:sp>
        <p:nvSpPr>
          <p:cNvPr id="5" name="Text 3"/>
          <p:cNvSpPr txBox="1"/>
          <p:nvPr/>
        </p:nvSpPr>
        <p:spPr>
          <a:xfrm>
            <a:off x="685800" y="1600200"/>
            <a:ext cx="1828800" cy="438912"/>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Optimizer</a:t>
            </a:r>
            <a:endParaRPr lang="en-US" sz="1500" dirty="0"/>
          </a:p>
        </p:txBody>
      </p:sp>
      <p:sp>
        <p:nvSpPr>
          <p:cNvPr id="6" name="Text 4"/>
          <p:cNvSpPr txBox="1"/>
          <p:nvPr/>
        </p:nvSpPr>
        <p:spPr>
          <a:xfrm>
            <a:off x="2834640" y="1508760"/>
            <a:ext cx="8534095" cy="621792"/>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Adam, seed 42, four epochs, CPU</a:t>
            </a:r>
            <a:endParaRPr lang="en-US" sz="1700" dirty="0"/>
          </a:p>
        </p:txBody>
      </p:sp>
      <p:sp>
        <p:nvSpPr>
          <p:cNvPr id="7" name="Row Loss"/>
          <p:cNvSpPr/>
          <p:nvPr/>
        </p:nvSpPr>
        <p:spPr>
          <a:xfrm>
            <a:off x="548640" y="2240280"/>
            <a:ext cx="11094415" cy="621792"/>
          </a:xfrm>
          <a:prstGeom prst="roundRect">
            <a:avLst>
              <a:gd name="adj" fmla="val 17647"/>
            </a:avLst>
          </a:prstGeom>
          <a:solidFill>
            <a:schemeClr val="bg2"/>
          </a:solidFill>
          <a:ln/>
          <a:effectLst>
            <a:outerShdw sx="100000" sy="100000" kx="0" ky="0" algn="bl" rotWithShape="0" blurRad="101600" dist="25400" dir="5400000">
              <a:srgbClr val="0F2A33">
                <a:alpha val="12000"/>
              </a:srgbClr>
            </a:outerShdw>
          </a:effectLst>
        </p:spPr>
      </p:sp>
      <p:sp>
        <p:nvSpPr>
          <p:cNvPr id="8" name="Tag Loss"/>
          <p:cNvSpPr/>
          <p:nvPr/>
        </p:nvSpPr>
        <p:spPr>
          <a:xfrm>
            <a:off x="685800" y="2331720"/>
            <a:ext cx="1828800" cy="438912"/>
          </a:xfrm>
          <a:prstGeom prst="roundRect">
            <a:avLst>
              <a:gd name="adj" fmla="val 50000"/>
            </a:avLst>
          </a:prstGeom>
          <a:solidFill>
            <a:schemeClr val="accent1"/>
          </a:solidFill>
          <a:ln/>
        </p:spPr>
      </p:sp>
      <p:sp>
        <p:nvSpPr>
          <p:cNvPr id="9" name="Text 7"/>
          <p:cNvSpPr txBox="1"/>
          <p:nvPr/>
        </p:nvSpPr>
        <p:spPr>
          <a:xfrm>
            <a:off x="685800" y="2331720"/>
            <a:ext cx="1828800" cy="438912"/>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Loss</a:t>
            </a:r>
            <a:endParaRPr lang="en-US" sz="1500" dirty="0"/>
          </a:p>
        </p:txBody>
      </p:sp>
      <p:sp>
        <p:nvSpPr>
          <p:cNvPr id="10" name="Text 8"/>
          <p:cNvSpPr txBox="1"/>
          <p:nvPr/>
        </p:nvSpPr>
        <p:spPr>
          <a:xfrm>
            <a:off x="2834640" y="2240280"/>
            <a:ext cx="8534095" cy="621792"/>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Class-weighted cross entropy, weight N / (3 · n_class)</a:t>
            </a:r>
            <a:endParaRPr lang="en-US" sz="1700" dirty="0"/>
          </a:p>
        </p:txBody>
      </p:sp>
      <p:sp>
        <p:nvSpPr>
          <p:cNvPr id="11" name="Row Stability"/>
          <p:cNvSpPr/>
          <p:nvPr/>
        </p:nvSpPr>
        <p:spPr>
          <a:xfrm>
            <a:off x="548640" y="2971800"/>
            <a:ext cx="11094415" cy="621792"/>
          </a:xfrm>
          <a:prstGeom prst="roundRect">
            <a:avLst>
              <a:gd name="adj" fmla="val 17647"/>
            </a:avLst>
          </a:prstGeom>
          <a:solidFill>
            <a:schemeClr val="bg2"/>
          </a:solidFill>
          <a:ln/>
          <a:effectLst>
            <a:outerShdw sx="100000" sy="100000" kx="0" ky="0" algn="bl" rotWithShape="0" blurRad="101600" dist="25400" dir="5400000">
              <a:srgbClr val="0F2A33">
                <a:alpha val="12000"/>
              </a:srgbClr>
            </a:outerShdw>
          </a:effectLst>
        </p:spPr>
      </p:sp>
      <p:sp>
        <p:nvSpPr>
          <p:cNvPr id="12" name="Tag Stability"/>
          <p:cNvSpPr/>
          <p:nvPr/>
        </p:nvSpPr>
        <p:spPr>
          <a:xfrm>
            <a:off x="685800" y="3063240"/>
            <a:ext cx="1828800" cy="438912"/>
          </a:xfrm>
          <a:prstGeom prst="roundRect">
            <a:avLst>
              <a:gd name="adj" fmla="val 50000"/>
            </a:avLst>
          </a:prstGeom>
          <a:solidFill>
            <a:schemeClr val="accent1"/>
          </a:solidFill>
          <a:ln/>
        </p:spPr>
      </p:sp>
      <p:sp>
        <p:nvSpPr>
          <p:cNvPr id="13" name="Text 11"/>
          <p:cNvSpPr txBox="1"/>
          <p:nvPr/>
        </p:nvSpPr>
        <p:spPr>
          <a:xfrm>
            <a:off x="685800" y="3063240"/>
            <a:ext cx="1828800" cy="438912"/>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Stability</a:t>
            </a:r>
            <a:endParaRPr lang="en-US" sz="1500" dirty="0"/>
          </a:p>
        </p:txBody>
      </p:sp>
      <p:sp>
        <p:nvSpPr>
          <p:cNvPr id="14" name="Text 12"/>
          <p:cNvSpPr txBox="1"/>
          <p:nvPr/>
        </p:nvSpPr>
        <p:spPr>
          <a:xfrm>
            <a:off x="2834640" y="2971800"/>
            <a:ext cx="8534095" cy="621792"/>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Gradient clipping at norm 1.0</a:t>
            </a:r>
            <a:endParaRPr lang="en-US" sz="1700" dirty="0"/>
          </a:p>
        </p:txBody>
      </p:sp>
      <p:sp>
        <p:nvSpPr>
          <p:cNvPr id="15" name="Row Grid"/>
          <p:cNvSpPr/>
          <p:nvPr/>
        </p:nvSpPr>
        <p:spPr>
          <a:xfrm>
            <a:off x="548640" y="3703320"/>
            <a:ext cx="11094415" cy="621792"/>
          </a:xfrm>
          <a:prstGeom prst="roundRect">
            <a:avLst>
              <a:gd name="adj" fmla="val 17647"/>
            </a:avLst>
          </a:prstGeom>
          <a:solidFill>
            <a:schemeClr val="bg2"/>
          </a:solidFill>
          <a:ln/>
          <a:effectLst>
            <a:outerShdw sx="100000" sy="100000" kx="0" ky="0" algn="bl" rotWithShape="0" blurRad="101600" dist="25400" dir="5400000">
              <a:srgbClr val="0F2A33">
                <a:alpha val="12000"/>
              </a:srgbClr>
            </a:outerShdw>
          </a:effectLst>
        </p:spPr>
      </p:sp>
      <p:sp>
        <p:nvSpPr>
          <p:cNvPr id="16" name="Tag Grid"/>
          <p:cNvSpPr/>
          <p:nvPr/>
        </p:nvSpPr>
        <p:spPr>
          <a:xfrm>
            <a:off x="685800" y="3794760"/>
            <a:ext cx="1828800" cy="438912"/>
          </a:xfrm>
          <a:prstGeom prst="roundRect">
            <a:avLst>
              <a:gd name="adj" fmla="val 50000"/>
            </a:avLst>
          </a:prstGeom>
          <a:solidFill>
            <a:schemeClr val="accent1"/>
          </a:solidFill>
          <a:ln/>
        </p:spPr>
      </p:sp>
      <p:sp>
        <p:nvSpPr>
          <p:cNvPr id="17" name="Text 15"/>
          <p:cNvSpPr txBox="1"/>
          <p:nvPr/>
        </p:nvSpPr>
        <p:spPr>
          <a:xfrm>
            <a:off x="685800" y="3794760"/>
            <a:ext cx="1828800" cy="438912"/>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Grid</a:t>
            </a:r>
            <a:endParaRPr lang="en-US" sz="1500" dirty="0"/>
          </a:p>
        </p:txBody>
      </p:sp>
      <p:sp>
        <p:nvSpPr>
          <p:cNvPr id="18" name="Text 16"/>
          <p:cNvSpPr txBox="1"/>
          <p:nvPr/>
        </p:nvSpPr>
        <p:spPr>
          <a:xfrm>
            <a:off x="2834640" y="3703320"/>
            <a:ext cx="8534095" cy="621792"/>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LR / batch: 0.001 / 128, 0.003 / 128, 0.001 / 64</a:t>
            </a:r>
            <a:endParaRPr lang="en-US" sz="1700" dirty="0"/>
          </a:p>
        </p:txBody>
      </p:sp>
      <p:sp>
        <p:nvSpPr>
          <p:cNvPr id="19" name="Row Runs"/>
          <p:cNvSpPr/>
          <p:nvPr/>
        </p:nvSpPr>
        <p:spPr>
          <a:xfrm>
            <a:off x="548640" y="4434840"/>
            <a:ext cx="11094415" cy="621792"/>
          </a:xfrm>
          <a:prstGeom prst="roundRect">
            <a:avLst>
              <a:gd name="adj" fmla="val 17647"/>
            </a:avLst>
          </a:prstGeom>
          <a:solidFill>
            <a:schemeClr val="bg2"/>
          </a:solidFill>
          <a:ln/>
          <a:effectLst>
            <a:outerShdw sx="100000" sy="100000" kx="0" ky="0" algn="bl" rotWithShape="0" blurRad="101600" dist="25400" dir="5400000">
              <a:srgbClr val="0F2A33">
                <a:alpha val="12000"/>
              </a:srgbClr>
            </a:outerShdw>
          </a:effectLst>
        </p:spPr>
      </p:sp>
      <p:sp>
        <p:nvSpPr>
          <p:cNvPr id="20" name="Tag Runs"/>
          <p:cNvSpPr/>
          <p:nvPr/>
        </p:nvSpPr>
        <p:spPr>
          <a:xfrm>
            <a:off x="685800" y="4526280"/>
            <a:ext cx="1828800" cy="438912"/>
          </a:xfrm>
          <a:prstGeom prst="roundRect">
            <a:avLst>
              <a:gd name="adj" fmla="val 50000"/>
            </a:avLst>
          </a:prstGeom>
          <a:solidFill>
            <a:schemeClr val="accent1"/>
          </a:solidFill>
          <a:ln/>
        </p:spPr>
      </p:sp>
      <p:sp>
        <p:nvSpPr>
          <p:cNvPr id="21" name="Text 19"/>
          <p:cNvSpPr txBox="1"/>
          <p:nvPr/>
        </p:nvSpPr>
        <p:spPr>
          <a:xfrm>
            <a:off x="685800" y="4526280"/>
            <a:ext cx="1828800" cy="438912"/>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Runs</a:t>
            </a:r>
            <a:endParaRPr lang="en-US" sz="1500" dirty="0"/>
          </a:p>
        </p:txBody>
      </p:sp>
      <p:sp>
        <p:nvSpPr>
          <p:cNvPr id="22" name="Text 20"/>
          <p:cNvSpPr txBox="1"/>
          <p:nvPr/>
        </p:nvSpPr>
        <p:spPr>
          <a:xfrm>
            <a:off x="2834640" y="4434840"/>
            <a:ext cx="8534095" cy="621792"/>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3 architectures × 3 settings = 9 runs</a:t>
            </a:r>
            <a:endParaRPr lang="en-US" sz="1700" dirty="0"/>
          </a:p>
        </p:txBody>
      </p:sp>
      <p:sp>
        <p:nvSpPr>
          <p:cNvPr id="23" name="Row Selection"/>
          <p:cNvSpPr/>
          <p:nvPr/>
        </p:nvSpPr>
        <p:spPr>
          <a:xfrm>
            <a:off x="548640" y="5166360"/>
            <a:ext cx="11094415" cy="621792"/>
          </a:xfrm>
          <a:prstGeom prst="roundRect">
            <a:avLst>
              <a:gd name="adj" fmla="val 17647"/>
            </a:avLst>
          </a:prstGeom>
          <a:solidFill>
            <a:schemeClr val="bg2"/>
          </a:solidFill>
          <a:ln/>
          <a:effectLst>
            <a:outerShdw sx="100000" sy="100000" kx="0" ky="0" algn="bl" rotWithShape="0" blurRad="101600" dist="25400" dir="5400000">
              <a:srgbClr val="0F2A33">
                <a:alpha val="12000"/>
              </a:srgbClr>
            </a:outerShdw>
          </a:effectLst>
        </p:spPr>
      </p:sp>
      <p:sp>
        <p:nvSpPr>
          <p:cNvPr id="24" name="Tag Selection"/>
          <p:cNvSpPr/>
          <p:nvPr/>
        </p:nvSpPr>
        <p:spPr>
          <a:xfrm>
            <a:off x="685800" y="5257800"/>
            <a:ext cx="1828800" cy="438912"/>
          </a:xfrm>
          <a:prstGeom prst="roundRect">
            <a:avLst>
              <a:gd name="adj" fmla="val 50000"/>
            </a:avLst>
          </a:prstGeom>
          <a:solidFill>
            <a:schemeClr val="accent1"/>
          </a:solidFill>
          <a:ln/>
        </p:spPr>
      </p:sp>
      <p:sp>
        <p:nvSpPr>
          <p:cNvPr id="25" name="Text 23"/>
          <p:cNvSpPr txBox="1"/>
          <p:nvPr/>
        </p:nvSpPr>
        <p:spPr>
          <a:xfrm>
            <a:off x="685800" y="5257800"/>
            <a:ext cx="1828800" cy="438912"/>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Selection</a:t>
            </a:r>
            <a:endParaRPr lang="en-US" sz="1500" dirty="0"/>
          </a:p>
        </p:txBody>
      </p:sp>
      <p:sp>
        <p:nvSpPr>
          <p:cNvPr id="26" name="Text 24"/>
          <p:cNvSpPr txBox="1"/>
          <p:nvPr/>
        </p:nvSpPr>
        <p:spPr>
          <a:xfrm>
            <a:off x="2834640" y="5166360"/>
            <a:ext cx="8534095" cy="621792"/>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Epoch with the best validation macro-F1</a:t>
            </a:r>
            <a:endParaRPr lang="en-US" sz="1700" dirty="0"/>
          </a:p>
        </p:txBody>
      </p:sp>
      <p:sp>
        <p:nvSpPr>
          <p:cNvPr id="27" name="Text 25"/>
          <p:cNvSpPr txBox="1"/>
          <p:nvPr/>
        </p:nvSpPr>
        <p:spPr>
          <a:xfrm>
            <a:off x="548640" y="5943600"/>
            <a:ext cx="9997135" cy="320040"/>
          </a:xfrm>
          <a:prstGeom prst="rect">
            <a:avLst/>
          </a:prstGeom>
          <a:noFill/>
          <a:ln/>
        </p:spPr>
        <p:txBody>
          <a:bodyPr wrap="square" lIns="0" tIns="0" rIns="0" bIns="0" rtlCol="0" anchor="ctr"/>
          <a:lstStyle/>
          <a:p>
            <a:pPr indent="0" marL="0">
              <a:buNone/>
            </a:pPr>
            <a:r>
              <a:rPr lang="en-US" sz="1300" i="1" dirty="0">
                <a:solidFill>
                  <a:schemeClr val="accent5"/>
                </a:solidFill>
                <a:latin typeface="Calibri" pitchFamily="34" charset="0"/>
                <a:ea typeface="Calibri" pitchFamily="34" charset="-122"/>
                <a:cs typeface="Calibri" pitchFamily="34" charset="-120"/>
              </a:rPr>
              <a:t>One factor changes at a time from the first setting, so interactions are not estimated.</a:t>
            </a:r>
            <a:endParaRPr lang="en-US" sz="13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Validation macro-F1 across the nine runs</a:t>
            </a:r>
            <a:endParaRPr lang="en-US" sz="3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011680"/>
                <a:gridCol w="3026664"/>
                <a:gridCol w="3026664"/>
                <a:gridCol w="3026664"/>
              </a:tblGrid>
              <a:tr h="50292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Cell</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0B4F5C"/>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LR 0.001 · batch 128</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0B4F5C"/>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LR 0.003 · batch 128</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0B4F5C"/>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LR 0.001 · batch 64</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0B4F5C"/>
                    </a:solidFill>
                  </a:tcPr>
                </a:tc>
              </a:tr>
              <a:tr h="594360">
                <a:tc>
                  <a:txBody>
                    <a:bodyPr/>
                    <a:lstStyle/>
                    <a:p>
                      <a:pPr algn="l" indent="0" marL="0">
                        <a:buNone/>
                      </a:pPr>
                      <a:r>
                        <a:rPr lang="en-US" sz="1500" b="1" dirty="0">
                          <a:solidFill>
                            <a:srgbClr val="0F2A33"/>
                          </a:solidFill>
                          <a:latin typeface="Calibri" pitchFamily="34" charset="0"/>
                          <a:ea typeface="Calibri" pitchFamily="34" charset="-122"/>
                          <a:cs typeface="Calibri" pitchFamily="34" charset="-120"/>
                        </a:rPr>
                        <a:t>Vanilla</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EAF4F3"/>
                    </a:solidFill>
                  </a:tcPr>
                </a:tc>
                <a:tc>
                  <a:txBody>
                    <a:bodyPr/>
                    <a:lstStyle/>
                    <a:p>
                      <a:pPr algn="ctr" indent="0" marL="0">
                        <a:buNone/>
                      </a:pPr>
                      <a:r>
                        <a:rPr lang="en-US" sz="1500" dirty="0">
                          <a:solidFill>
                            <a:srgbClr val="0F2A33"/>
                          </a:solidFill>
                          <a:latin typeface="Calibri" pitchFamily="34" charset="0"/>
                          <a:ea typeface="Calibri" pitchFamily="34" charset="-122"/>
                          <a:cs typeface="Calibri" pitchFamily="34" charset="-120"/>
                        </a:rPr>
                        <a:t>0.4820</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EAF4F3"/>
                    </a:solidFill>
                  </a:tcPr>
                </a:tc>
                <a:tc>
                  <a:txBody>
                    <a:bodyPr/>
                    <a:lstStyle/>
                    <a:p>
                      <a:pPr algn="ctr" indent="0" marL="0">
                        <a:buNone/>
                      </a:pPr>
                      <a:r>
                        <a:rPr lang="en-US" sz="1500" b="1" dirty="0">
                          <a:solidFill>
                            <a:srgbClr val="0F2A33"/>
                          </a:solidFill>
                          <a:latin typeface="Calibri" pitchFamily="34" charset="0"/>
                          <a:ea typeface="Calibri" pitchFamily="34" charset="-122"/>
                          <a:cs typeface="Calibri" pitchFamily="34" charset="-120"/>
                        </a:rPr>
                        <a:t>0.5050</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EAF4F3"/>
                    </a:solidFill>
                  </a:tcPr>
                </a:tc>
                <a:tc>
                  <a:txBody>
                    <a:bodyPr/>
                    <a:lstStyle/>
                    <a:p>
                      <a:pPr algn="ctr" indent="0" marL="0">
                        <a:buNone/>
                      </a:pPr>
                      <a:r>
                        <a:rPr lang="en-US" sz="1500" dirty="0">
                          <a:solidFill>
                            <a:srgbClr val="0F2A33"/>
                          </a:solidFill>
                          <a:latin typeface="Calibri" pitchFamily="34" charset="0"/>
                          <a:ea typeface="Calibri" pitchFamily="34" charset="-122"/>
                          <a:cs typeface="Calibri" pitchFamily="34" charset="-120"/>
                        </a:rPr>
                        <a:t>0.4817</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EAF4F3"/>
                    </a:solidFill>
                  </a:tcPr>
                </a:tc>
              </a:tr>
              <a:tr h="594360">
                <a:tc>
                  <a:txBody>
                    <a:bodyPr/>
                    <a:lstStyle/>
                    <a:p>
                      <a:pPr algn="l" indent="0" marL="0">
                        <a:buNone/>
                      </a:pPr>
                      <a:r>
                        <a:rPr lang="en-US" sz="1500" b="1" dirty="0">
                          <a:solidFill>
                            <a:srgbClr val="0F2A33"/>
                          </a:solidFill>
                          <a:latin typeface="Calibri" pitchFamily="34" charset="0"/>
                          <a:ea typeface="Calibri" pitchFamily="34" charset="-122"/>
                          <a:cs typeface="Calibri" pitchFamily="34" charset="-120"/>
                        </a:rPr>
                        <a:t>CIFG</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tcPr>
                </a:tc>
                <a:tc>
                  <a:txBody>
                    <a:bodyPr/>
                    <a:lstStyle/>
                    <a:p>
                      <a:pPr algn="ctr" indent="0" marL="0">
                        <a:buNone/>
                      </a:pPr>
                      <a:r>
                        <a:rPr lang="en-US" sz="1500" dirty="0">
                          <a:solidFill>
                            <a:srgbClr val="0F2A33"/>
                          </a:solidFill>
                          <a:latin typeface="Calibri" pitchFamily="34" charset="0"/>
                          <a:ea typeface="Calibri" pitchFamily="34" charset="-122"/>
                          <a:cs typeface="Calibri" pitchFamily="34" charset="-120"/>
                        </a:rPr>
                        <a:t>0.4763</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0.5246</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0E7C86"/>
                    </a:solidFill>
                  </a:tcPr>
                </a:tc>
                <a:tc>
                  <a:txBody>
                    <a:bodyPr/>
                    <a:lstStyle/>
                    <a:p>
                      <a:pPr algn="ctr" indent="0" marL="0">
                        <a:buNone/>
                      </a:pPr>
                      <a:r>
                        <a:rPr lang="en-US" sz="1500" dirty="0">
                          <a:solidFill>
                            <a:srgbClr val="0F2A33"/>
                          </a:solidFill>
                          <a:latin typeface="Calibri" pitchFamily="34" charset="0"/>
                          <a:ea typeface="Calibri" pitchFamily="34" charset="-122"/>
                          <a:cs typeface="Calibri" pitchFamily="34" charset="-120"/>
                        </a:rPr>
                        <a:t>0.4868</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FFFFFF"/>
                    </a:solidFill>
                  </a:tcPr>
                </a:tc>
              </a:tr>
              <a:tr h="594360">
                <a:tc>
                  <a:txBody>
                    <a:bodyPr/>
                    <a:lstStyle/>
                    <a:p>
                      <a:pPr algn="l" indent="0" marL="0">
                        <a:buNone/>
                      </a:pPr>
                      <a:r>
                        <a:rPr lang="en-US" sz="1500" b="1" dirty="0">
                          <a:solidFill>
                            <a:srgbClr val="0F2A33"/>
                          </a:solidFill>
                          <a:latin typeface="Calibri" pitchFamily="34" charset="0"/>
                          <a:ea typeface="Calibri" pitchFamily="34" charset="-122"/>
                          <a:cs typeface="Calibri" pitchFamily="34" charset="-120"/>
                        </a:rPr>
                        <a:t>WMC</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EAF4F3"/>
                    </a:solidFill>
                  </a:tcPr>
                </a:tc>
                <a:tc>
                  <a:txBody>
                    <a:bodyPr/>
                    <a:lstStyle/>
                    <a:p>
                      <a:pPr algn="ctr" indent="0" marL="0">
                        <a:buNone/>
                      </a:pPr>
                      <a:r>
                        <a:rPr lang="en-US" sz="1500" b="1" dirty="0">
                          <a:solidFill>
                            <a:srgbClr val="0F2A33"/>
                          </a:solidFill>
                          <a:latin typeface="Calibri" pitchFamily="34" charset="0"/>
                          <a:ea typeface="Calibri" pitchFamily="34" charset="-122"/>
                          <a:cs typeface="Calibri" pitchFamily="34" charset="-120"/>
                        </a:rPr>
                        <a:t>0.4934</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EAF4F3"/>
                    </a:solidFill>
                  </a:tcPr>
                </a:tc>
                <a:tc>
                  <a:txBody>
                    <a:bodyPr/>
                    <a:lstStyle/>
                    <a:p>
                      <a:pPr algn="ctr" indent="0" marL="0">
                        <a:buNone/>
                      </a:pPr>
                      <a:r>
                        <a:rPr lang="en-US" sz="1500" dirty="0">
                          <a:solidFill>
                            <a:srgbClr val="0F2A33"/>
                          </a:solidFill>
                          <a:latin typeface="Calibri" pitchFamily="34" charset="0"/>
                          <a:ea typeface="Calibri" pitchFamily="34" charset="-122"/>
                          <a:cs typeface="Calibri" pitchFamily="34" charset="-120"/>
                        </a:rPr>
                        <a:t>0.4843</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EAF4F3"/>
                    </a:solidFill>
                  </a:tcPr>
                </a:tc>
                <a:tc>
                  <a:txBody>
                    <a:bodyPr/>
                    <a:lstStyle/>
                    <a:p>
                      <a:pPr algn="ctr" indent="0" marL="0">
                        <a:buNone/>
                      </a:pPr>
                      <a:r>
                        <a:rPr lang="en-US" sz="1500" dirty="0">
                          <a:solidFill>
                            <a:srgbClr val="0F2A33"/>
                          </a:solidFill>
                          <a:latin typeface="Calibri" pitchFamily="34" charset="0"/>
                          <a:ea typeface="Calibri" pitchFamily="34" charset="-122"/>
                          <a:cs typeface="Calibri" pitchFamily="34" charset="-120"/>
                        </a:rPr>
                        <a:t>0.4904</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EAF4F3"/>
                    </a:solidFill>
                  </a:tcPr>
                </a:tc>
              </a:tr>
            </a:tbl>
          </a:graphicData>
        </a:graphic>
      </p:graphicFrame>
      <p:sp>
        <p:nvSpPr>
          <p:cNvPr id="4" name="Callout 1"/>
          <p:cNvSpPr/>
          <p:nvPr/>
        </p:nvSpPr>
        <p:spPr>
          <a:xfrm>
            <a:off x="548640" y="4297680"/>
            <a:ext cx="3515258" cy="1691640"/>
          </a:xfrm>
          <a:prstGeom prst="roundRect">
            <a:avLst>
              <a:gd name="adj" fmla="val 6486"/>
            </a:avLst>
          </a:prstGeom>
          <a:solidFill>
            <a:schemeClr val="bg2"/>
          </a:solidFill>
          <a:ln/>
          <a:effectLst>
            <a:outerShdw sx="100000" sy="100000" kx="0" ky="0" algn="bl" rotWithShape="0" blurRad="101600" dist="25400" dir="5400000">
              <a:srgbClr val="0F2A33">
                <a:alpha val="12000"/>
              </a:srgbClr>
            </a:outerShdw>
          </a:effectLst>
        </p:spPr>
      </p:sp>
      <p:sp>
        <p:nvSpPr>
          <p:cNvPr id="5" name="Text 2"/>
          <p:cNvSpPr txBox="1"/>
          <p:nvPr/>
        </p:nvSpPr>
        <p:spPr>
          <a:xfrm>
            <a:off x="777240" y="4389120"/>
            <a:ext cx="3058058" cy="6858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0.5246</a:t>
            </a:r>
            <a:endParaRPr lang="en-US" sz="3200" dirty="0"/>
          </a:p>
        </p:txBody>
      </p:sp>
      <p:sp>
        <p:nvSpPr>
          <p:cNvPr id="6" name="Text 3"/>
          <p:cNvSpPr txBox="1"/>
          <p:nvPr/>
        </p:nvSpPr>
        <p:spPr>
          <a:xfrm>
            <a:off x="777240" y="5074920"/>
            <a:ext cx="3058058" cy="8686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CIFG leads with LR 0.003 and batch 128, chosen before test evaluation</a:t>
            </a:r>
            <a:endParaRPr lang="en-US" sz="1400" dirty="0"/>
          </a:p>
        </p:txBody>
      </p:sp>
      <p:sp>
        <p:nvSpPr>
          <p:cNvPr id="7" name="Callout 2"/>
          <p:cNvSpPr/>
          <p:nvPr/>
        </p:nvSpPr>
        <p:spPr>
          <a:xfrm>
            <a:off x="4338218" y="4297680"/>
            <a:ext cx="3515258" cy="1691640"/>
          </a:xfrm>
          <a:prstGeom prst="roundRect">
            <a:avLst>
              <a:gd name="adj" fmla="val 6486"/>
            </a:avLst>
          </a:prstGeom>
          <a:solidFill>
            <a:schemeClr val="bg2"/>
          </a:solidFill>
          <a:ln/>
          <a:effectLst>
            <a:outerShdw sx="100000" sy="100000" kx="0" ky="0" algn="bl" rotWithShape="0" blurRad="101600" dist="25400" dir="5400000">
              <a:srgbClr val="0F2A33">
                <a:alpha val="12000"/>
              </a:srgbClr>
            </a:outerShdw>
          </a:effectLst>
        </p:spPr>
      </p:sp>
      <p:sp>
        <p:nvSpPr>
          <p:cNvPr id="8" name="Text 5"/>
          <p:cNvSpPr txBox="1"/>
          <p:nvPr/>
        </p:nvSpPr>
        <p:spPr>
          <a:xfrm>
            <a:off x="4566818" y="4389120"/>
            <a:ext cx="3058058" cy="685800"/>
          </a:xfrm>
          <a:prstGeom prst="rect">
            <a:avLst/>
          </a:prstGeom>
          <a:noFill/>
          <a:ln/>
        </p:spPr>
        <p:txBody>
          <a:bodyPr wrap="square" lIns="0" tIns="0" rIns="0" bIns="0" rtlCol="0" anchor="ctr"/>
          <a:lstStyle/>
          <a:p>
            <a:pPr indent="0" marL="0">
              <a:buNone/>
            </a:pPr>
            <a:r>
              <a:rPr lang="en-US" sz="3200" b="1" dirty="0">
                <a:solidFill>
                  <a:schemeClr val="accent5"/>
                </a:solidFill>
                <a:latin typeface="Cambria" pitchFamily="34" charset="0"/>
                <a:ea typeface="Cambria" pitchFamily="34" charset="-122"/>
                <a:cs typeface="Cambria" pitchFamily="34" charset="-120"/>
              </a:rPr>
              <a:t>Epoch 4</a:t>
            </a:r>
            <a:endParaRPr lang="en-US" sz="3200" dirty="0"/>
          </a:p>
        </p:txBody>
      </p:sp>
      <p:sp>
        <p:nvSpPr>
          <p:cNvPr id="9" name="Text 6"/>
          <p:cNvSpPr txBox="1"/>
          <p:nvPr/>
        </p:nvSpPr>
        <p:spPr>
          <a:xfrm>
            <a:off x="4566818" y="5074920"/>
            <a:ext cx="3058058" cy="8686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is the best epoch in seven of nine runs; epoch 3 in the other two</a:t>
            </a:r>
            <a:endParaRPr lang="en-US" sz="1400" dirty="0"/>
          </a:p>
        </p:txBody>
      </p:sp>
      <p:sp>
        <p:nvSpPr>
          <p:cNvPr id="10" name="Callout 3"/>
          <p:cNvSpPr/>
          <p:nvPr/>
        </p:nvSpPr>
        <p:spPr>
          <a:xfrm>
            <a:off x="8127797" y="4297680"/>
            <a:ext cx="3515258" cy="1691640"/>
          </a:xfrm>
          <a:prstGeom prst="roundRect">
            <a:avLst>
              <a:gd name="adj" fmla="val 6486"/>
            </a:avLst>
          </a:prstGeom>
          <a:solidFill>
            <a:schemeClr val="bg2"/>
          </a:solidFill>
          <a:ln/>
          <a:effectLst>
            <a:outerShdw sx="100000" sy="100000" kx="0" ky="0" algn="bl" rotWithShape="0" blurRad="101600" dist="25400" dir="5400000">
              <a:srgbClr val="0F2A33">
                <a:alpha val="12000"/>
              </a:srgbClr>
            </a:outerShdw>
          </a:effectLst>
        </p:spPr>
      </p:sp>
      <p:sp>
        <p:nvSpPr>
          <p:cNvPr id="11" name="Text 8"/>
          <p:cNvSpPr txBox="1"/>
          <p:nvPr/>
        </p:nvSpPr>
        <p:spPr>
          <a:xfrm>
            <a:off x="8356397" y="4389120"/>
            <a:ext cx="3058058" cy="68580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1 seed</a:t>
            </a:r>
            <a:endParaRPr lang="en-US" sz="3200" dirty="0"/>
          </a:p>
        </p:txBody>
      </p:sp>
      <p:sp>
        <p:nvSpPr>
          <p:cNvPr id="12" name="Text 9"/>
          <p:cNvSpPr txBox="1"/>
          <p:nvPr/>
        </p:nvSpPr>
        <p:spPr>
          <a:xfrm>
            <a:off x="8356397" y="5074920"/>
            <a:ext cx="3058058" cy="8686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Differences between settings are modest and not tested for significance</a:t>
            </a:r>
            <a:endParaRPr lang="en-US" sz="14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Held-out test comparison</a:t>
            </a:r>
            <a:endParaRPr lang="en-US" sz="3600" dirty="0"/>
          </a:p>
        </p:txBody>
      </p:sp>
      <p:graphicFrame>
        <p:nvGraphicFramePr>
          <p:cNvPr id="3" name="Chart 0" descr=""/>
          <p:cNvGraphicFramePr/>
          <p:nvPr/>
        </p:nvGraphicFramePr>
        <p:xfrm>
          <a:off x="548640" y="1463040"/>
          <a:ext cx="640080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223760" y="1600200"/>
          <a:ext cx="4416552" cy="914400"/>
        </p:xfrm>
        <a:graphic>
          <a:graphicData uri="http://schemas.openxmlformats.org/drawingml/2006/table">
            <a:tbl>
              <a:tblPr/>
              <a:tblGrid>
                <a:gridCol w="2377440"/>
                <a:gridCol w="2039112"/>
              </a:tblGrid>
              <a:tr h="45720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Model</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0B4F5C"/>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Test accuracy</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0B4F5C"/>
                    </a:solidFill>
                  </a:tcPr>
                </a:tc>
              </a:tr>
              <a:tr h="457200">
                <a:tc>
                  <a:txBody>
                    <a:bodyPr/>
                    <a:lstStyle/>
                    <a:p>
                      <a:pPr algn="l" indent="0" marL="0">
                        <a:buNone/>
                      </a:pPr>
                      <a:r>
                        <a:rPr lang="en-US" sz="1500" b="1" dirty="0">
                          <a:solidFill>
                            <a:srgbClr val="0F2A33"/>
                          </a:solidFill>
                          <a:latin typeface="Calibri" pitchFamily="34" charset="0"/>
                          <a:ea typeface="Calibri" pitchFamily="34" charset="-122"/>
                          <a:cs typeface="Calibri" pitchFamily="34" charset="-120"/>
                        </a:rPr>
                        <a:t>Vanilla</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EAF4F3"/>
                    </a:solidFill>
                  </a:tcPr>
                </a:tc>
                <a:tc>
                  <a:txBody>
                    <a:bodyPr/>
                    <a:lstStyle/>
                    <a:p>
                      <a:pPr algn="ctr" indent="0" marL="0">
                        <a:buNone/>
                      </a:pPr>
                      <a:r>
                        <a:rPr lang="en-US" sz="1500" dirty="0">
                          <a:solidFill>
                            <a:srgbClr val="0F2A33"/>
                          </a:solidFill>
                          <a:latin typeface="Calibri" pitchFamily="34" charset="0"/>
                          <a:ea typeface="Calibri" pitchFamily="34" charset="-122"/>
                          <a:cs typeface="Calibri" pitchFamily="34" charset="-120"/>
                        </a:rPr>
                        <a:t>63.27%</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EAF4F3"/>
                    </a:solidFill>
                  </a:tcPr>
                </a:tc>
              </a:tr>
              <a:tr h="457200">
                <a:tc>
                  <a:txBody>
                    <a:bodyPr/>
                    <a:lstStyle/>
                    <a:p>
                      <a:pPr algn="l" indent="0" marL="0">
                        <a:buNone/>
                      </a:pPr>
                      <a:r>
                        <a:rPr lang="en-US" sz="1500" b="1" dirty="0">
                          <a:solidFill>
                            <a:srgbClr val="0F2A33"/>
                          </a:solidFill>
                          <a:latin typeface="Calibri" pitchFamily="34" charset="0"/>
                          <a:ea typeface="Calibri" pitchFamily="34" charset="-122"/>
                          <a:cs typeface="Calibri" pitchFamily="34" charset="-120"/>
                        </a:rPr>
                        <a:t>CIFG</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tcPr>
                </a:tc>
                <a:tc>
                  <a:txBody>
                    <a:bodyPr/>
                    <a:lstStyle/>
                    <a:p>
                      <a:pPr algn="ctr" indent="0" marL="0">
                        <a:buNone/>
                      </a:pPr>
                      <a:r>
                        <a:rPr lang="en-US" sz="1500" b="1" dirty="0">
                          <a:solidFill>
                            <a:srgbClr val="0F2A33"/>
                          </a:solidFill>
                          <a:latin typeface="Calibri" pitchFamily="34" charset="0"/>
                          <a:ea typeface="Calibri" pitchFamily="34" charset="-122"/>
                          <a:cs typeface="Calibri" pitchFamily="34" charset="-120"/>
                        </a:rPr>
                        <a:t>63.78%</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tcPr>
                </a:tc>
              </a:tr>
              <a:tr h="457200">
                <a:tc>
                  <a:txBody>
                    <a:bodyPr/>
                    <a:lstStyle/>
                    <a:p>
                      <a:pPr algn="l" indent="0" marL="0">
                        <a:buNone/>
                      </a:pPr>
                      <a:r>
                        <a:rPr lang="en-US" sz="1500" b="1" dirty="0">
                          <a:solidFill>
                            <a:srgbClr val="0F2A33"/>
                          </a:solidFill>
                          <a:latin typeface="Calibri" pitchFamily="34" charset="0"/>
                          <a:ea typeface="Calibri" pitchFamily="34" charset="-122"/>
                          <a:cs typeface="Calibri" pitchFamily="34" charset="-120"/>
                        </a:rPr>
                        <a:t>WMC</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EAF4F3"/>
                    </a:solidFill>
                  </a:tcPr>
                </a:tc>
                <a:tc>
                  <a:txBody>
                    <a:bodyPr/>
                    <a:lstStyle/>
                    <a:p>
                      <a:pPr algn="ctr" indent="0" marL="0">
                        <a:buNone/>
                      </a:pPr>
                      <a:r>
                        <a:rPr lang="en-US" sz="1500" dirty="0">
                          <a:solidFill>
                            <a:srgbClr val="0F2A33"/>
                          </a:solidFill>
                          <a:latin typeface="Calibri" pitchFamily="34" charset="0"/>
                          <a:ea typeface="Calibri" pitchFamily="34" charset="-122"/>
                          <a:cs typeface="Calibri" pitchFamily="34" charset="-120"/>
                        </a:rPr>
                        <a:t>62.75%</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solidFill>
                      <a:srgbClr val="EAF4F3"/>
                    </a:solidFill>
                  </a:tcPr>
                </a:tc>
              </a:tr>
              <a:tr h="457200">
                <a:tc>
                  <a:txBody>
                    <a:bodyPr/>
                    <a:lstStyle/>
                    <a:p>
                      <a:pPr algn="l" indent="0" marL="0">
                        <a:buNone/>
                      </a:pPr>
                      <a:r>
                        <a:rPr lang="en-US" sz="1500" b="1" dirty="0">
                          <a:solidFill>
                            <a:srgbClr val="0F2A33"/>
                          </a:solidFill>
                          <a:latin typeface="Calibri" pitchFamily="34" charset="0"/>
                          <a:ea typeface="Calibri" pitchFamily="34" charset="-122"/>
                          <a:cs typeface="Calibri" pitchFamily="34" charset="-120"/>
                        </a:rPr>
                        <a:t>Always positive</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tcPr>
                </a:tc>
                <a:tc>
                  <a:txBody>
                    <a:bodyPr/>
                    <a:lstStyle/>
                    <a:p>
                      <a:pPr algn="ctr" indent="0" marL="0">
                        <a:buNone/>
                      </a:pPr>
                      <a:r>
                        <a:rPr lang="en-US" sz="1500" dirty="0">
                          <a:solidFill>
                            <a:srgbClr val="0F2A33"/>
                          </a:solidFill>
                          <a:latin typeface="Calibri" pitchFamily="34" charset="0"/>
                          <a:ea typeface="Calibri" pitchFamily="34" charset="-122"/>
                          <a:cs typeface="Calibri" pitchFamily="34" charset="-120"/>
                        </a:rPr>
                        <a:t>66.40%</a:t>
                      </a:r>
                      <a:endParaRPr lang="en-US" sz="1500" dirty="0">
                        <a:latin typeface="Calibri" charset="0"/>
                        <a:ea typeface="Calibri" charset="0"/>
                        <a:cs typeface="Calibri" charset="0"/>
                      </a:endParaRPr>
                    </a:p>
                  </a:txBody>
                  <a:tcPr marL="91440" marR="91440" marT="45720" marB="45720" anchor="ctr">
                    <a:lnL w="9525" cap="flat" cmpd="sng" algn="ctr">
                      <a:solidFill>
                        <a:srgbClr val="DCE6E5"/>
                      </a:solidFill>
                      <a:prstDash val="solid"/>
                      <a:round/>
                      <a:headEnd type="none" w="med" len="med"/>
                      <a:tailEnd type="none" w="med" len="med"/>
                    </a:lnL>
                    <a:lnR w="9525" cap="flat" cmpd="sng" algn="ctr">
                      <a:solidFill>
                        <a:srgbClr val="DCE6E5"/>
                      </a:solidFill>
                      <a:prstDash val="solid"/>
                      <a:round/>
                      <a:headEnd type="none" w="med" len="med"/>
                      <a:tailEnd type="none" w="med" len="med"/>
                    </a:lnR>
                    <a:lnT w="9525" cap="flat" cmpd="sng" algn="ctr">
                      <a:solidFill>
                        <a:srgbClr val="DCE6E5"/>
                      </a:solidFill>
                      <a:prstDash val="solid"/>
                      <a:round/>
                      <a:headEnd type="none" w="med" len="med"/>
                      <a:tailEnd type="none" w="med" len="med"/>
                    </a:lnT>
                    <a:lnB w="9525" cap="flat" cmpd="sng" algn="ctr">
                      <a:solidFill>
                        <a:srgbClr val="DCE6E5"/>
                      </a:solidFill>
                      <a:prstDash val="solid"/>
                      <a:round/>
                      <a:headEnd type="none" w="med" len="med"/>
                      <a:tailEnd type="none" w="med" len="med"/>
                    </a:lnB>
                  </a:tcPr>
                </a:tc>
              </a:tr>
            </a:tbl>
          </a:graphicData>
        </a:graphic>
      </p:graphicFrame>
      <p:sp>
        <p:nvSpPr>
          <p:cNvPr id="5" name="Test composition"/>
          <p:cNvSpPr/>
          <p:nvPr/>
        </p:nvSpPr>
        <p:spPr>
          <a:xfrm>
            <a:off x="7223760" y="4069080"/>
            <a:ext cx="4416552" cy="1325880"/>
          </a:xfrm>
          <a:prstGeom prst="roundRect">
            <a:avLst>
              <a:gd name="adj" fmla="val 8276"/>
            </a:avLst>
          </a:prstGeom>
          <a:solidFill>
            <a:schemeClr val="bg2"/>
          </a:solidFill>
          <a:ln/>
          <a:effectLst>
            <a:outerShdw sx="100000" sy="100000" kx="0" ky="0" algn="bl" rotWithShape="0" blurRad="101600" dist="25400" dir="5400000">
              <a:srgbClr val="0F2A33">
                <a:alpha val="12000"/>
              </a:srgbClr>
            </a:outerShdw>
          </a:effectLst>
        </p:spPr>
      </p:sp>
      <p:sp>
        <p:nvSpPr>
          <p:cNvPr id="6" name="Text 2"/>
          <p:cNvSpPr txBox="1"/>
          <p:nvPr/>
        </p:nvSpPr>
        <p:spPr>
          <a:xfrm>
            <a:off x="7452360" y="4114800"/>
            <a:ext cx="3977640" cy="1234440"/>
          </a:xfrm>
          <a:prstGeom prst="rect">
            <a:avLst/>
          </a:prstGeom>
          <a:noFill/>
          <a:ln/>
        </p:spPr>
        <p:txBody>
          <a:bodyPr wrap="square" lIns="0" tIns="0" rIns="0" bIns="0" rtlCol="0" anchor="ctr"/>
          <a:lstStyle/>
          <a:p>
            <a:pPr indent="0" marL="0">
              <a:spcAft>
                <a:spcPts val="400"/>
              </a:spcAft>
              <a:buNone/>
            </a:pPr>
            <a:r>
              <a:rPr lang="en-US" sz="1600" b="1" dirty="0">
                <a:solidFill>
                  <a:schemeClr val="tx2"/>
                </a:solidFill>
                <a:latin typeface="Calibri" pitchFamily="34" charset="0"/>
                <a:ea typeface="Calibri" pitchFamily="34" charset="-122"/>
                <a:cs typeface="Calibri" pitchFamily="34" charset="-120"/>
              </a:rPr>
              <a:t>4,000 test reviews</a:t>
            </a:r>
            <a:endParaRPr lang="en-US" sz="1600" dirty="0"/>
          </a:p>
          <a:p>
            <a:pPr indent="0" marL="0">
              <a:spcAft>
                <a:spcPts val="400"/>
              </a:spcAft>
              <a:buNone/>
            </a:pPr>
            <a:r>
              <a:rPr lang="en-US" sz="1400" dirty="0">
                <a:solidFill>
                  <a:schemeClr val="tx1"/>
                </a:solidFill>
                <a:latin typeface="Calibri" pitchFamily="34" charset="0"/>
                <a:ea typeface="Calibri" pitchFamily="34" charset="-122"/>
                <a:cs typeface="Calibri" pitchFamily="34" charset="-120"/>
              </a:rPr>
              <a:t>988 negative · 356 neutral · 2,656 positive</a:t>
            </a:r>
            <a:endParaRPr lang="en-US" sz="1600" dirty="0"/>
          </a:p>
        </p:txBody>
      </p:sp>
      <p:sp>
        <p:nvSpPr>
          <p:cNvPr id="7" name="Takeaway"/>
          <p:cNvSpPr/>
          <p:nvPr/>
        </p:nvSpPr>
        <p:spPr>
          <a:xfrm>
            <a:off x="548640" y="5577840"/>
            <a:ext cx="10180015" cy="731520"/>
          </a:xfrm>
          <a:prstGeom prst="roundRect">
            <a:avLst>
              <a:gd name="adj" fmla="val 15000"/>
            </a:avLst>
          </a:prstGeom>
          <a:solidFill>
            <a:schemeClr val="accent1"/>
          </a:solidFill>
          <a:ln/>
          <a:effectLst>
            <a:outerShdw sx="100000" sy="100000" kx="0" ky="0" algn="bl" rotWithShape="0" blurRad="101600" dist="25400" dir="5400000">
              <a:srgbClr val="0F2A33">
                <a:alpha val="12000"/>
              </a:srgbClr>
            </a:outerShdw>
          </a:effectLst>
        </p:spPr>
      </p:sp>
      <p:sp>
        <p:nvSpPr>
          <p:cNvPr id="8" name="Text 4"/>
          <p:cNvSpPr txBox="1"/>
          <p:nvPr/>
        </p:nvSpPr>
        <p:spPr>
          <a:xfrm>
            <a:off x="822960" y="5577840"/>
            <a:ext cx="9631375" cy="731520"/>
          </a:xfrm>
          <a:prstGeom prst="rect">
            <a:avLst/>
          </a:prstGeom>
          <a:noFill/>
          <a:ln/>
        </p:spPr>
        <p:txBody>
          <a:bodyPr wrap="square" lIns="0" tIns="0" rIns="0" bIns="0" rtlCol="0" anchor="ctr"/>
          <a:lstStyle/>
          <a:p>
            <a:pPr indent="0" marL="0">
              <a:buNone/>
            </a:pPr>
            <a:r>
              <a:rPr lang="en-US" sz="1400" b="1" dirty="0">
                <a:solidFill>
                  <a:schemeClr val="bg1"/>
                </a:solidFill>
                <a:latin typeface="Calibri" pitchFamily="34" charset="0"/>
                <a:ea typeface="Calibri" pitchFamily="34" charset="-122"/>
                <a:cs typeface="Calibri" pitchFamily="34" charset="-120"/>
              </a:rPr>
              <a:t>Always predicting positive wins accuracy (66.40%) but scores only 0.266 macro-F1. The Vanilla–CIFG gap is small and not statistically established with one seed.</a:t>
            </a:r>
            <a:endParaRPr lang="en-US" sz="14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CIFG error analysis</a:t>
            </a:r>
            <a:endParaRPr lang="en-US" sz="3600" dirty="0"/>
          </a:p>
        </p:txBody>
      </p:sp>
      <p:sp>
        <p:nvSpPr>
          <p:cNvPr id="3" name="Text 1"/>
          <p:cNvSpPr txBox="1"/>
          <p:nvPr/>
        </p:nvSpPr>
        <p:spPr>
          <a:xfrm>
            <a:off x="2011680" y="1417320"/>
            <a:ext cx="4498848" cy="274320"/>
          </a:xfrm>
          <a:prstGeom prst="rect">
            <a:avLst/>
          </a:prstGeom>
          <a:noFill/>
          <a:ln/>
        </p:spPr>
        <p:txBody>
          <a:bodyPr wrap="square" lIns="0" tIns="0" rIns="0" bIns="0" rtlCol="0" anchor="ctr"/>
          <a:lstStyle/>
          <a:p>
            <a:pPr algn="ctr" indent="0" marL="0">
              <a:buNone/>
            </a:pPr>
            <a:r>
              <a:rPr lang="en-US" sz="1400" b="1" dirty="0">
                <a:solidFill>
                  <a:schemeClr val="accent5"/>
                </a:solidFill>
                <a:latin typeface="Calibri" pitchFamily="34" charset="0"/>
                <a:ea typeface="Calibri" pitchFamily="34" charset="-122"/>
                <a:cs typeface="Calibri" pitchFamily="34" charset="-120"/>
              </a:rPr>
              <a:t>Predicted category</a:t>
            </a:r>
            <a:endParaRPr lang="en-US" sz="1400" dirty="0"/>
          </a:p>
        </p:txBody>
      </p:sp>
      <p:sp>
        <p:nvSpPr>
          <p:cNvPr id="4" name="Text 2"/>
          <p:cNvSpPr txBox="1"/>
          <p:nvPr/>
        </p:nvSpPr>
        <p:spPr>
          <a:xfrm>
            <a:off x="548640" y="1737360"/>
            <a:ext cx="1371600" cy="320040"/>
          </a:xfrm>
          <a:prstGeom prst="rect">
            <a:avLst/>
          </a:prstGeom>
          <a:noFill/>
          <a:ln/>
        </p:spPr>
        <p:txBody>
          <a:bodyPr wrap="square" lIns="0" tIns="0" rIns="0" bIns="0" rtlCol="0" anchor="ctr"/>
          <a:lstStyle/>
          <a:p>
            <a:pPr indent="0" marL="0">
              <a:buNone/>
            </a:pPr>
            <a:r>
              <a:rPr lang="en-US" sz="1400" b="1" dirty="0">
                <a:solidFill>
                  <a:schemeClr val="accent5"/>
                </a:solidFill>
                <a:latin typeface="Calibri" pitchFamily="34" charset="0"/>
                <a:ea typeface="Calibri" pitchFamily="34" charset="-122"/>
                <a:cs typeface="Calibri" pitchFamily="34" charset="-120"/>
              </a:rPr>
              <a:t>Actual</a:t>
            </a:r>
            <a:endParaRPr lang="en-US" sz="1400" dirty="0"/>
          </a:p>
        </p:txBody>
      </p:sp>
      <p:sp>
        <p:nvSpPr>
          <p:cNvPr id="5" name="Text 3"/>
          <p:cNvSpPr txBox="1"/>
          <p:nvPr/>
        </p:nvSpPr>
        <p:spPr>
          <a:xfrm>
            <a:off x="2011680" y="1737360"/>
            <a:ext cx="1463040" cy="320040"/>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Negative</a:t>
            </a:r>
            <a:endParaRPr lang="en-US" sz="1400" dirty="0"/>
          </a:p>
        </p:txBody>
      </p:sp>
      <p:sp>
        <p:nvSpPr>
          <p:cNvPr id="6" name="Text 4"/>
          <p:cNvSpPr txBox="1"/>
          <p:nvPr/>
        </p:nvSpPr>
        <p:spPr>
          <a:xfrm>
            <a:off x="3529584" y="1737360"/>
            <a:ext cx="1463040" cy="320040"/>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Neutral</a:t>
            </a:r>
            <a:endParaRPr lang="en-US" sz="1400" dirty="0"/>
          </a:p>
        </p:txBody>
      </p:sp>
      <p:sp>
        <p:nvSpPr>
          <p:cNvPr id="7" name="Text 5"/>
          <p:cNvSpPr txBox="1"/>
          <p:nvPr/>
        </p:nvSpPr>
        <p:spPr>
          <a:xfrm>
            <a:off x="5047488" y="1737360"/>
            <a:ext cx="1463040" cy="320040"/>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Positive</a:t>
            </a:r>
            <a:endParaRPr lang="en-US" sz="1400" dirty="0"/>
          </a:p>
        </p:txBody>
      </p:sp>
      <p:sp>
        <p:nvSpPr>
          <p:cNvPr id="8" name="Text 6"/>
          <p:cNvSpPr txBox="1"/>
          <p:nvPr/>
        </p:nvSpPr>
        <p:spPr>
          <a:xfrm>
            <a:off x="548640" y="2148840"/>
            <a:ext cx="1371600" cy="105156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Negative</a:t>
            </a:r>
            <a:endParaRPr lang="en-US" sz="1400" dirty="0"/>
          </a:p>
        </p:txBody>
      </p:sp>
      <p:sp>
        <p:nvSpPr>
          <p:cNvPr id="9" name="Cell Negative-Negative"/>
          <p:cNvSpPr/>
          <p:nvPr/>
        </p:nvSpPr>
        <p:spPr>
          <a:xfrm>
            <a:off x="2011680" y="2148840"/>
            <a:ext cx="1463040" cy="1051560"/>
          </a:xfrm>
          <a:prstGeom prst="rect">
            <a:avLst/>
          </a:prstGeom>
          <a:solidFill>
            <a:schemeClr val="accent1"/>
          </a:solidFill>
          <a:ln/>
        </p:spPr>
      </p:sp>
      <p:sp>
        <p:nvSpPr>
          <p:cNvPr id="10" name="Text 8"/>
          <p:cNvSpPr txBox="1"/>
          <p:nvPr/>
        </p:nvSpPr>
        <p:spPr>
          <a:xfrm>
            <a:off x="2011680" y="2148840"/>
            <a:ext cx="1463040" cy="1051560"/>
          </a:xfrm>
          <a:prstGeom prst="rect">
            <a:avLst/>
          </a:prstGeom>
          <a:noFill/>
          <a:ln/>
        </p:spPr>
        <p:txBody>
          <a:bodyPr wrap="square" lIns="0" tIns="0" rIns="0" bIns="0" rtlCol="0" anchor="ctr"/>
          <a:lstStyle/>
          <a:p>
            <a:pPr algn="ctr" indent="0" marL="0">
              <a:buNone/>
            </a:pPr>
            <a:r>
              <a:rPr lang="en-US" sz="2400" b="1" dirty="0">
                <a:solidFill>
                  <a:schemeClr val="bg1"/>
                </a:solidFill>
                <a:latin typeface="Calibri" pitchFamily="34" charset="0"/>
                <a:ea typeface="Calibri" pitchFamily="34" charset="-122"/>
                <a:cs typeface="Calibri" pitchFamily="34" charset="-120"/>
              </a:rPr>
              <a:t>630</a:t>
            </a:r>
            <a:endParaRPr lang="en-US" sz="2400" dirty="0"/>
          </a:p>
        </p:txBody>
      </p:sp>
      <p:sp>
        <p:nvSpPr>
          <p:cNvPr id="11" name="Cell Negative-Neutral"/>
          <p:cNvSpPr/>
          <p:nvPr/>
        </p:nvSpPr>
        <p:spPr>
          <a:xfrm>
            <a:off x="3529584" y="2148840"/>
            <a:ext cx="1463040" cy="1051560"/>
          </a:xfrm>
          <a:prstGeom prst="rect">
            <a:avLst/>
          </a:prstGeom>
          <a:solidFill>
            <a:schemeClr val="accent2">
              <a:alpha val="32000"/>
            </a:schemeClr>
          </a:solidFill>
          <a:ln/>
        </p:spPr>
      </p:sp>
      <p:sp>
        <p:nvSpPr>
          <p:cNvPr id="12" name="Text 10"/>
          <p:cNvSpPr txBox="1"/>
          <p:nvPr/>
        </p:nvSpPr>
        <p:spPr>
          <a:xfrm>
            <a:off x="3529584" y="2148840"/>
            <a:ext cx="1463040" cy="1051560"/>
          </a:xfrm>
          <a:prstGeom prst="rect">
            <a:avLst/>
          </a:prstGeom>
          <a:noFill/>
          <a:ln/>
        </p:spPr>
        <p:txBody>
          <a:bodyPr wrap="square" lIns="0" tIns="0" rIns="0" bIns="0" rtlCol="0" anchor="ctr"/>
          <a:lstStyle/>
          <a:p>
            <a:pPr algn="ctr" indent="0" marL="0">
              <a:buNone/>
            </a:pPr>
            <a:r>
              <a:rPr lang="en-US" sz="2400" b="1" dirty="0">
                <a:solidFill>
                  <a:schemeClr val="tx1"/>
                </a:solidFill>
                <a:latin typeface="Calibri" pitchFamily="34" charset="0"/>
                <a:ea typeface="Calibri" pitchFamily="34" charset="-122"/>
                <a:cs typeface="Calibri" pitchFamily="34" charset="-120"/>
              </a:rPr>
              <a:t>175</a:t>
            </a:r>
            <a:endParaRPr lang="en-US" sz="2400" dirty="0"/>
          </a:p>
        </p:txBody>
      </p:sp>
      <p:sp>
        <p:nvSpPr>
          <p:cNvPr id="13" name="Cell Negative-Positive"/>
          <p:cNvSpPr/>
          <p:nvPr/>
        </p:nvSpPr>
        <p:spPr>
          <a:xfrm>
            <a:off x="5047488" y="2148840"/>
            <a:ext cx="1463040" cy="1051560"/>
          </a:xfrm>
          <a:prstGeom prst="rect">
            <a:avLst/>
          </a:prstGeom>
          <a:solidFill>
            <a:schemeClr val="accent2">
              <a:alpha val="33000"/>
            </a:schemeClr>
          </a:solidFill>
          <a:ln/>
        </p:spPr>
      </p:sp>
      <p:sp>
        <p:nvSpPr>
          <p:cNvPr id="14" name="Text 12"/>
          <p:cNvSpPr txBox="1"/>
          <p:nvPr/>
        </p:nvSpPr>
        <p:spPr>
          <a:xfrm>
            <a:off x="5047488" y="2148840"/>
            <a:ext cx="1463040" cy="1051560"/>
          </a:xfrm>
          <a:prstGeom prst="rect">
            <a:avLst/>
          </a:prstGeom>
          <a:noFill/>
          <a:ln/>
        </p:spPr>
        <p:txBody>
          <a:bodyPr wrap="square" lIns="0" tIns="0" rIns="0" bIns="0" rtlCol="0" anchor="ctr"/>
          <a:lstStyle/>
          <a:p>
            <a:pPr algn="ctr" indent="0" marL="0">
              <a:buNone/>
            </a:pPr>
            <a:r>
              <a:rPr lang="en-US" sz="2400" b="1" dirty="0">
                <a:solidFill>
                  <a:schemeClr val="tx1"/>
                </a:solidFill>
                <a:latin typeface="Calibri" pitchFamily="34" charset="0"/>
                <a:ea typeface="Calibri" pitchFamily="34" charset="-122"/>
                <a:cs typeface="Calibri" pitchFamily="34" charset="-120"/>
              </a:rPr>
              <a:t>183</a:t>
            </a:r>
            <a:endParaRPr lang="en-US" sz="2400" dirty="0"/>
          </a:p>
        </p:txBody>
      </p:sp>
      <p:sp>
        <p:nvSpPr>
          <p:cNvPr id="15" name="Text 13"/>
          <p:cNvSpPr txBox="1"/>
          <p:nvPr/>
        </p:nvSpPr>
        <p:spPr>
          <a:xfrm>
            <a:off x="548640" y="3255264"/>
            <a:ext cx="1371600" cy="105156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Neutral</a:t>
            </a:r>
            <a:endParaRPr lang="en-US" sz="1400" dirty="0"/>
          </a:p>
        </p:txBody>
      </p:sp>
      <p:sp>
        <p:nvSpPr>
          <p:cNvPr id="16" name="Cell Neutral-Negative"/>
          <p:cNvSpPr/>
          <p:nvPr/>
        </p:nvSpPr>
        <p:spPr>
          <a:xfrm>
            <a:off x="2011680" y="3255264"/>
            <a:ext cx="1463040" cy="1051560"/>
          </a:xfrm>
          <a:prstGeom prst="rect">
            <a:avLst/>
          </a:prstGeom>
          <a:solidFill>
            <a:schemeClr val="accent2">
              <a:alpha val="28000"/>
            </a:schemeClr>
          </a:solidFill>
          <a:ln/>
        </p:spPr>
      </p:sp>
      <p:sp>
        <p:nvSpPr>
          <p:cNvPr id="17" name="Text 15"/>
          <p:cNvSpPr txBox="1"/>
          <p:nvPr/>
        </p:nvSpPr>
        <p:spPr>
          <a:xfrm>
            <a:off x="2011680" y="3255264"/>
            <a:ext cx="1463040" cy="1051560"/>
          </a:xfrm>
          <a:prstGeom prst="rect">
            <a:avLst/>
          </a:prstGeom>
          <a:noFill/>
          <a:ln/>
        </p:spPr>
        <p:txBody>
          <a:bodyPr wrap="square" lIns="0" tIns="0" rIns="0" bIns="0" rtlCol="0" anchor="ctr"/>
          <a:lstStyle/>
          <a:p>
            <a:pPr algn="ctr" indent="0" marL="0">
              <a:buNone/>
            </a:pPr>
            <a:r>
              <a:rPr lang="en-US" sz="2400" b="1" dirty="0">
                <a:solidFill>
                  <a:schemeClr val="tx1"/>
                </a:solidFill>
                <a:latin typeface="Calibri" pitchFamily="34" charset="0"/>
                <a:ea typeface="Calibri" pitchFamily="34" charset="-122"/>
                <a:cs typeface="Calibri" pitchFamily="34" charset="-120"/>
              </a:rPr>
              <a:t>128</a:t>
            </a:r>
            <a:endParaRPr lang="en-US" sz="2400" dirty="0"/>
          </a:p>
        </p:txBody>
      </p:sp>
      <p:sp>
        <p:nvSpPr>
          <p:cNvPr id="18" name="Cell Neutral-Neutral"/>
          <p:cNvSpPr/>
          <p:nvPr/>
        </p:nvSpPr>
        <p:spPr>
          <a:xfrm>
            <a:off x="3529584" y="3255264"/>
            <a:ext cx="1463040" cy="1051560"/>
          </a:xfrm>
          <a:prstGeom prst="rect">
            <a:avLst/>
          </a:prstGeom>
          <a:solidFill>
            <a:schemeClr val="accent1"/>
          </a:solidFill>
          <a:ln/>
        </p:spPr>
      </p:sp>
      <p:sp>
        <p:nvSpPr>
          <p:cNvPr id="19" name="Text 17"/>
          <p:cNvSpPr txBox="1"/>
          <p:nvPr/>
        </p:nvSpPr>
        <p:spPr>
          <a:xfrm>
            <a:off x="3529584" y="3255264"/>
            <a:ext cx="1463040" cy="1051560"/>
          </a:xfrm>
          <a:prstGeom prst="rect">
            <a:avLst/>
          </a:prstGeom>
          <a:noFill/>
          <a:ln/>
        </p:spPr>
        <p:txBody>
          <a:bodyPr wrap="square" lIns="0" tIns="0" rIns="0" bIns="0" rtlCol="0" anchor="ctr"/>
          <a:lstStyle/>
          <a:p>
            <a:pPr algn="ctr" indent="0" marL="0">
              <a:buNone/>
            </a:pPr>
            <a:r>
              <a:rPr lang="en-US" sz="2400" b="1" dirty="0">
                <a:solidFill>
                  <a:schemeClr val="bg1"/>
                </a:solidFill>
                <a:latin typeface="Calibri" pitchFamily="34" charset="0"/>
                <a:ea typeface="Calibri" pitchFamily="34" charset="-122"/>
                <a:cs typeface="Calibri" pitchFamily="34" charset="-120"/>
              </a:rPr>
              <a:t>92</a:t>
            </a:r>
            <a:endParaRPr lang="en-US" sz="2400" dirty="0"/>
          </a:p>
        </p:txBody>
      </p:sp>
      <p:sp>
        <p:nvSpPr>
          <p:cNvPr id="20" name="Cell Neutral-Positive"/>
          <p:cNvSpPr/>
          <p:nvPr/>
        </p:nvSpPr>
        <p:spPr>
          <a:xfrm>
            <a:off x="5047488" y="3255264"/>
            <a:ext cx="1463040" cy="1051560"/>
          </a:xfrm>
          <a:prstGeom prst="rect">
            <a:avLst/>
          </a:prstGeom>
          <a:solidFill>
            <a:schemeClr val="accent2">
              <a:alpha val="29000"/>
            </a:schemeClr>
          </a:solidFill>
          <a:ln/>
        </p:spPr>
      </p:sp>
      <p:sp>
        <p:nvSpPr>
          <p:cNvPr id="21" name="Text 19"/>
          <p:cNvSpPr txBox="1"/>
          <p:nvPr/>
        </p:nvSpPr>
        <p:spPr>
          <a:xfrm>
            <a:off x="5047488" y="3255264"/>
            <a:ext cx="1463040" cy="1051560"/>
          </a:xfrm>
          <a:prstGeom prst="rect">
            <a:avLst/>
          </a:prstGeom>
          <a:noFill/>
          <a:ln/>
        </p:spPr>
        <p:txBody>
          <a:bodyPr wrap="square" lIns="0" tIns="0" rIns="0" bIns="0" rtlCol="0" anchor="ctr"/>
          <a:lstStyle/>
          <a:p>
            <a:pPr algn="ctr" indent="0" marL="0">
              <a:buNone/>
            </a:pPr>
            <a:r>
              <a:rPr lang="en-US" sz="2400" b="1" dirty="0">
                <a:solidFill>
                  <a:schemeClr val="tx1"/>
                </a:solidFill>
                <a:latin typeface="Calibri" pitchFamily="34" charset="0"/>
                <a:ea typeface="Calibri" pitchFamily="34" charset="-122"/>
                <a:cs typeface="Calibri" pitchFamily="34" charset="-120"/>
              </a:rPr>
              <a:t>136</a:t>
            </a:r>
            <a:endParaRPr lang="en-US" sz="2400" dirty="0"/>
          </a:p>
        </p:txBody>
      </p:sp>
      <p:sp>
        <p:nvSpPr>
          <p:cNvPr id="22" name="Text 20"/>
          <p:cNvSpPr txBox="1"/>
          <p:nvPr/>
        </p:nvSpPr>
        <p:spPr>
          <a:xfrm>
            <a:off x="548640" y="4361688"/>
            <a:ext cx="1371600" cy="105156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Positive</a:t>
            </a:r>
            <a:endParaRPr lang="en-US" sz="1400" dirty="0"/>
          </a:p>
        </p:txBody>
      </p:sp>
      <p:sp>
        <p:nvSpPr>
          <p:cNvPr id="23" name="Cell Positive-Negative"/>
          <p:cNvSpPr/>
          <p:nvPr/>
        </p:nvSpPr>
        <p:spPr>
          <a:xfrm>
            <a:off x="2011680" y="4361688"/>
            <a:ext cx="1463040" cy="1051560"/>
          </a:xfrm>
          <a:prstGeom prst="rect">
            <a:avLst/>
          </a:prstGeom>
          <a:solidFill>
            <a:schemeClr val="accent2">
              <a:alpha val="52000"/>
            </a:schemeClr>
          </a:solidFill>
          <a:ln/>
        </p:spPr>
      </p:sp>
      <p:sp>
        <p:nvSpPr>
          <p:cNvPr id="24" name="Text 22"/>
          <p:cNvSpPr txBox="1"/>
          <p:nvPr/>
        </p:nvSpPr>
        <p:spPr>
          <a:xfrm>
            <a:off x="2011680" y="4361688"/>
            <a:ext cx="1463040" cy="1051560"/>
          </a:xfrm>
          <a:prstGeom prst="rect">
            <a:avLst/>
          </a:prstGeom>
          <a:noFill/>
          <a:ln/>
        </p:spPr>
        <p:txBody>
          <a:bodyPr wrap="square" lIns="0" tIns="0" rIns="0" bIns="0" rtlCol="0" anchor="ctr"/>
          <a:lstStyle/>
          <a:p>
            <a:pPr algn="ctr" indent="0" marL="0">
              <a:buNone/>
            </a:pPr>
            <a:r>
              <a:rPr lang="en-US" sz="2400" b="1" dirty="0">
                <a:solidFill>
                  <a:schemeClr val="tx1"/>
                </a:solidFill>
                <a:latin typeface="Calibri" pitchFamily="34" charset="0"/>
                <a:ea typeface="Calibri" pitchFamily="34" charset="-122"/>
                <a:cs typeface="Calibri" pitchFamily="34" charset="-120"/>
              </a:rPr>
              <a:t>366</a:t>
            </a:r>
            <a:endParaRPr lang="en-US" sz="2400" dirty="0"/>
          </a:p>
        </p:txBody>
      </p:sp>
      <p:sp>
        <p:nvSpPr>
          <p:cNvPr id="25" name="Cell Positive-Neutral"/>
          <p:cNvSpPr/>
          <p:nvPr/>
        </p:nvSpPr>
        <p:spPr>
          <a:xfrm>
            <a:off x="3529584" y="4361688"/>
            <a:ext cx="1463040" cy="1051560"/>
          </a:xfrm>
          <a:prstGeom prst="rect">
            <a:avLst/>
          </a:prstGeom>
          <a:solidFill>
            <a:schemeClr val="accent2">
              <a:alpha val="61000"/>
            </a:schemeClr>
          </a:solidFill>
          <a:ln/>
        </p:spPr>
      </p:sp>
      <p:sp>
        <p:nvSpPr>
          <p:cNvPr id="26" name="Text 24"/>
          <p:cNvSpPr txBox="1"/>
          <p:nvPr/>
        </p:nvSpPr>
        <p:spPr>
          <a:xfrm>
            <a:off x="3529584" y="4361688"/>
            <a:ext cx="1463040" cy="1051560"/>
          </a:xfrm>
          <a:prstGeom prst="rect">
            <a:avLst/>
          </a:prstGeom>
          <a:noFill/>
          <a:ln/>
        </p:spPr>
        <p:txBody>
          <a:bodyPr wrap="square" lIns="0" tIns="0" rIns="0" bIns="0" rtlCol="0" anchor="ctr"/>
          <a:lstStyle/>
          <a:p>
            <a:pPr algn="ctr" indent="0" marL="0">
              <a:buNone/>
            </a:pPr>
            <a:r>
              <a:rPr lang="en-US" sz="2400" b="1" dirty="0">
                <a:solidFill>
                  <a:schemeClr val="tx1"/>
                </a:solidFill>
                <a:latin typeface="Calibri" pitchFamily="34" charset="0"/>
                <a:ea typeface="Calibri" pitchFamily="34" charset="-122"/>
                <a:cs typeface="Calibri" pitchFamily="34" charset="-120"/>
              </a:rPr>
              <a:t>461</a:t>
            </a:r>
            <a:endParaRPr lang="en-US" sz="2400" dirty="0"/>
          </a:p>
        </p:txBody>
      </p:sp>
      <p:sp>
        <p:nvSpPr>
          <p:cNvPr id="27" name="Cell Positive-Positive"/>
          <p:cNvSpPr/>
          <p:nvPr/>
        </p:nvSpPr>
        <p:spPr>
          <a:xfrm>
            <a:off x="5047488" y="4361688"/>
            <a:ext cx="1463040" cy="1051560"/>
          </a:xfrm>
          <a:prstGeom prst="rect">
            <a:avLst/>
          </a:prstGeom>
          <a:solidFill>
            <a:schemeClr val="accent1"/>
          </a:solidFill>
          <a:ln/>
        </p:spPr>
      </p:sp>
      <p:sp>
        <p:nvSpPr>
          <p:cNvPr id="28" name="Text 26"/>
          <p:cNvSpPr txBox="1"/>
          <p:nvPr/>
        </p:nvSpPr>
        <p:spPr>
          <a:xfrm>
            <a:off x="5047488" y="4361688"/>
            <a:ext cx="1463040" cy="1051560"/>
          </a:xfrm>
          <a:prstGeom prst="rect">
            <a:avLst/>
          </a:prstGeom>
          <a:noFill/>
          <a:ln/>
        </p:spPr>
        <p:txBody>
          <a:bodyPr wrap="square" lIns="0" tIns="0" rIns="0" bIns="0" rtlCol="0" anchor="ctr"/>
          <a:lstStyle/>
          <a:p>
            <a:pPr algn="ctr" indent="0" marL="0">
              <a:buNone/>
            </a:pPr>
            <a:r>
              <a:rPr lang="en-US" sz="2400" b="1" dirty="0">
                <a:solidFill>
                  <a:schemeClr val="bg1"/>
                </a:solidFill>
                <a:latin typeface="Calibri" pitchFamily="34" charset="0"/>
                <a:ea typeface="Calibri" pitchFamily="34" charset="-122"/>
                <a:cs typeface="Calibri" pitchFamily="34" charset="-120"/>
              </a:rPr>
              <a:t>1829</a:t>
            </a:r>
            <a:endParaRPr lang="en-US" sz="2400" dirty="0"/>
          </a:p>
        </p:txBody>
      </p:sp>
      <p:sp>
        <p:nvSpPr>
          <p:cNvPr id="29" name="Text 27"/>
          <p:cNvSpPr txBox="1"/>
          <p:nvPr/>
        </p:nvSpPr>
        <p:spPr>
          <a:xfrm>
            <a:off x="6949440" y="1417320"/>
            <a:ext cx="466344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Per-class F1 (CIFG)</a:t>
            </a:r>
            <a:endParaRPr lang="en-US" sz="1800" dirty="0"/>
          </a:p>
        </p:txBody>
      </p:sp>
      <p:sp>
        <p:nvSpPr>
          <p:cNvPr id="30" name="Text 28"/>
          <p:cNvSpPr txBox="1"/>
          <p:nvPr/>
        </p:nvSpPr>
        <p:spPr>
          <a:xfrm>
            <a:off x="6949440" y="2011680"/>
            <a:ext cx="1097280" cy="45720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Negative</a:t>
            </a:r>
            <a:endParaRPr lang="en-US" sz="1500" dirty="0"/>
          </a:p>
        </p:txBody>
      </p:sp>
      <p:sp>
        <p:nvSpPr>
          <p:cNvPr id="31" name="Track Negative"/>
          <p:cNvSpPr/>
          <p:nvPr/>
        </p:nvSpPr>
        <p:spPr>
          <a:xfrm>
            <a:off x="8046720" y="2103120"/>
            <a:ext cx="2926080" cy="274320"/>
          </a:xfrm>
          <a:prstGeom prst="roundRect">
            <a:avLst>
              <a:gd name="adj" fmla="val 50000"/>
            </a:avLst>
          </a:prstGeom>
          <a:solidFill>
            <a:schemeClr val="bg2"/>
          </a:solidFill>
          <a:ln/>
        </p:spPr>
      </p:sp>
      <p:sp>
        <p:nvSpPr>
          <p:cNvPr id="32" name="Bar Negative"/>
          <p:cNvSpPr/>
          <p:nvPr/>
        </p:nvSpPr>
        <p:spPr>
          <a:xfrm>
            <a:off x="8046720" y="2103120"/>
            <a:ext cx="1745699" cy="274320"/>
          </a:xfrm>
          <a:prstGeom prst="roundRect">
            <a:avLst>
              <a:gd name="adj" fmla="val 50000"/>
            </a:avLst>
          </a:prstGeom>
          <a:solidFill>
            <a:schemeClr val="accent2"/>
          </a:solidFill>
          <a:ln/>
        </p:spPr>
      </p:sp>
      <p:sp>
        <p:nvSpPr>
          <p:cNvPr id="33" name="Text 31"/>
          <p:cNvSpPr txBox="1"/>
          <p:nvPr/>
        </p:nvSpPr>
        <p:spPr>
          <a:xfrm>
            <a:off x="11064240" y="2011680"/>
            <a:ext cx="640080" cy="4572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0.5966</a:t>
            </a:r>
            <a:endParaRPr lang="en-US" sz="1400" dirty="0"/>
          </a:p>
        </p:txBody>
      </p:sp>
      <p:sp>
        <p:nvSpPr>
          <p:cNvPr id="34" name="Text 32"/>
          <p:cNvSpPr txBox="1"/>
          <p:nvPr/>
        </p:nvSpPr>
        <p:spPr>
          <a:xfrm>
            <a:off x="6949440" y="2880360"/>
            <a:ext cx="1097280" cy="45720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Neutral</a:t>
            </a:r>
            <a:endParaRPr lang="en-US" sz="1500" dirty="0"/>
          </a:p>
        </p:txBody>
      </p:sp>
      <p:sp>
        <p:nvSpPr>
          <p:cNvPr id="35" name="Track Neutral"/>
          <p:cNvSpPr/>
          <p:nvPr/>
        </p:nvSpPr>
        <p:spPr>
          <a:xfrm>
            <a:off x="8046720" y="2971800"/>
            <a:ext cx="2926080" cy="274320"/>
          </a:xfrm>
          <a:prstGeom prst="roundRect">
            <a:avLst>
              <a:gd name="adj" fmla="val 50000"/>
            </a:avLst>
          </a:prstGeom>
          <a:solidFill>
            <a:schemeClr val="bg2"/>
          </a:solidFill>
          <a:ln/>
        </p:spPr>
      </p:sp>
      <p:sp>
        <p:nvSpPr>
          <p:cNvPr id="36" name="Bar Neutral"/>
          <p:cNvSpPr/>
          <p:nvPr/>
        </p:nvSpPr>
        <p:spPr>
          <a:xfrm>
            <a:off x="8046720" y="2971800"/>
            <a:ext cx="496556" cy="274320"/>
          </a:xfrm>
          <a:prstGeom prst="roundRect">
            <a:avLst>
              <a:gd name="adj" fmla="val 50000"/>
            </a:avLst>
          </a:prstGeom>
          <a:solidFill>
            <a:schemeClr val="accent3"/>
          </a:solidFill>
          <a:ln/>
        </p:spPr>
      </p:sp>
      <p:sp>
        <p:nvSpPr>
          <p:cNvPr id="37" name="Text 35"/>
          <p:cNvSpPr txBox="1"/>
          <p:nvPr/>
        </p:nvSpPr>
        <p:spPr>
          <a:xfrm>
            <a:off x="11064240" y="2880360"/>
            <a:ext cx="640080" cy="4572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0.1697</a:t>
            </a:r>
            <a:endParaRPr lang="en-US" sz="1400" dirty="0"/>
          </a:p>
        </p:txBody>
      </p:sp>
      <p:sp>
        <p:nvSpPr>
          <p:cNvPr id="38" name="Text 36"/>
          <p:cNvSpPr txBox="1"/>
          <p:nvPr/>
        </p:nvSpPr>
        <p:spPr>
          <a:xfrm>
            <a:off x="6949440" y="3749040"/>
            <a:ext cx="1097280" cy="45720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Positive</a:t>
            </a:r>
            <a:endParaRPr lang="en-US" sz="1500" dirty="0"/>
          </a:p>
        </p:txBody>
      </p:sp>
      <p:sp>
        <p:nvSpPr>
          <p:cNvPr id="39" name="Track Positive"/>
          <p:cNvSpPr/>
          <p:nvPr/>
        </p:nvSpPr>
        <p:spPr>
          <a:xfrm>
            <a:off x="8046720" y="3840480"/>
            <a:ext cx="2926080" cy="274320"/>
          </a:xfrm>
          <a:prstGeom prst="roundRect">
            <a:avLst>
              <a:gd name="adj" fmla="val 50000"/>
            </a:avLst>
          </a:prstGeom>
          <a:solidFill>
            <a:schemeClr val="bg2"/>
          </a:solidFill>
          <a:ln/>
        </p:spPr>
      </p:sp>
      <p:sp>
        <p:nvSpPr>
          <p:cNvPr id="40" name="Bar Positive"/>
          <p:cNvSpPr/>
          <p:nvPr/>
        </p:nvSpPr>
        <p:spPr>
          <a:xfrm>
            <a:off x="8046720" y="3840480"/>
            <a:ext cx="2227917" cy="274320"/>
          </a:xfrm>
          <a:prstGeom prst="roundRect">
            <a:avLst>
              <a:gd name="adj" fmla="val 50000"/>
            </a:avLst>
          </a:prstGeom>
          <a:solidFill>
            <a:schemeClr val="accent1"/>
          </a:solidFill>
          <a:ln/>
        </p:spPr>
      </p:sp>
      <p:sp>
        <p:nvSpPr>
          <p:cNvPr id="41" name="Text 39"/>
          <p:cNvSpPr txBox="1"/>
          <p:nvPr/>
        </p:nvSpPr>
        <p:spPr>
          <a:xfrm>
            <a:off x="11064240" y="3749040"/>
            <a:ext cx="640080" cy="4572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0.7614</a:t>
            </a:r>
            <a:endParaRPr lang="en-US" sz="1400" dirty="0"/>
          </a:p>
        </p:txBody>
      </p:sp>
      <p:sp>
        <p:nvSpPr>
          <p:cNvPr id="42" name="Neutral callout"/>
          <p:cNvSpPr/>
          <p:nvPr/>
        </p:nvSpPr>
        <p:spPr>
          <a:xfrm>
            <a:off x="6949440" y="4754880"/>
            <a:ext cx="4690872" cy="1143000"/>
          </a:xfrm>
          <a:prstGeom prst="roundRect">
            <a:avLst>
              <a:gd name="adj" fmla="val 9600"/>
            </a:avLst>
          </a:prstGeom>
          <a:solidFill>
            <a:schemeClr val="accent1"/>
          </a:solidFill>
          <a:ln/>
          <a:effectLst>
            <a:outerShdw sx="100000" sy="100000" kx="0" ky="0" algn="bl" rotWithShape="0" blurRad="101600" dist="25400" dir="5400000">
              <a:srgbClr val="0F2A33">
                <a:alpha val="12000"/>
              </a:srgbClr>
            </a:outerShdw>
          </a:effectLst>
        </p:spPr>
      </p:sp>
      <p:sp>
        <p:nvSpPr>
          <p:cNvPr id="43" name="Text 41"/>
          <p:cNvSpPr txBox="1"/>
          <p:nvPr/>
        </p:nvSpPr>
        <p:spPr>
          <a:xfrm>
            <a:off x="7178040" y="4754880"/>
            <a:ext cx="4251960" cy="1143000"/>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Only 92 of 356 neutral reviews are recognized correctly. Neutral remains the weak category.</a:t>
            </a:r>
            <a:endParaRPr lang="en-US" sz="1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bg1"/>
                </a:solidFill>
              </a:rPr>
              <a:t>Conclusions and next steps</a:t>
            </a:r>
            <a:endParaRPr lang="en-US" sz="3600" dirty="0"/>
          </a:p>
        </p:txBody>
      </p:sp>
      <p:sp>
        <p:nvSpPr>
          <p:cNvPr id="3" name="Panel Conclusions"/>
          <p:cNvSpPr/>
          <p:nvPr/>
        </p:nvSpPr>
        <p:spPr>
          <a:xfrm>
            <a:off x="548640" y="1508760"/>
            <a:ext cx="5318608" cy="4160520"/>
          </a:xfrm>
          <a:prstGeom prst="roundRect">
            <a:avLst>
              <a:gd name="adj" fmla="val 2637"/>
            </a:avLst>
          </a:prstGeom>
          <a:solidFill>
            <a:schemeClr val="tx1">
              <a:alpha val="65000"/>
            </a:schemeClr>
          </a:solidFill>
          <a:ln w="19050">
            <a:solidFill>
              <a:schemeClr val="accent4"/>
            </a:solidFill>
            <a:prstDash val="solid"/>
          </a:ln>
        </p:spPr>
      </p:sp>
      <p:sp>
        <p:nvSpPr>
          <p:cNvPr id="4" name="Text 2"/>
          <p:cNvSpPr txBox="1"/>
          <p:nvPr/>
        </p:nvSpPr>
        <p:spPr>
          <a:xfrm>
            <a:off x="914400" y="1691640"/>
            <a:ext cx="4587088" cy="548640"/>
          </a:xfrm>
          <a:prstGeom prst="rect">
            <a:avLst/>
          </a:prstGeom>
          <a:noFill/>
          <a:ln/>
        </p:spPr>
        <p:txBody>
          <a:bodyPr wrap="square" lIns="0" tIns="0" rIns="0" bIns="0" rtlCol="0" anchor="ctr"/>
          <a:lstStyle/>
          <a:p>
            <a:pPr indent="0" marL="0">
              <a:buNone/>
            </a:pPr>
            <a:r>
              <a:rPr lang="en-US" sz="2400" b="1" dirty="0">
                <a:solidFill>
                  <a:schemeClr val="accent4"/>
                </a:solidFill>
                <a:latin typeface="Cambria" pitchFamily="34" charset="0"/>
                <a:ea typeface="Cambria" pitchFamily="34" charset="-122"/>
                <a:cs typeface="Cambria" pitchFamily="34" charset="-120"/>
              </a:rPr>
              <a:t>Conclusions</a:t>
            </a:r>
            <a:endParaRPr lang="en-US" sz="2400" dirty="0"/>
          </a:p>
        </p:txBody>
      </p:sp>
      <p:sp>
        <p:nvSpPr>
          <p:cNvPr id="5" name="Text 3"/>
          <p:cNvSpPr txBox="1"/>
          <p:nvPr/>
        </p:nvSpPr>
        <p:spPr>
          <a:xfrm>
            <a:off x="914400" y="2423160"/>
            <a:ext cx="4587088"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CIFG has the best validation configuration and the strongest test macro-F1 (0.5093)</a:t>
            </a:r>
            <a:endParaRPr lang="en-US" sz="1600" dirty="0"/>
          </a:p>
          <a:p>
            <a:pPr marL="342900" indent="-3429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It uses fewer recurrent parameters than Vanilla (24,768 vs 33,024)</a:t>
            </a:r>
            <a:endParaRPr lang="en-US" sz="1600" dirty="0"/>
          </a:p>
          <a:p>
            <a:pPr marL="342900" indent="-3429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WMC adds capacity but does not improve these scores</a:t>
            </a:r>
            <a:endParaRPr lang="en-US" sz="1600" dirty="0"/>
          </a:p>
          <a:p>
            <a:pPr marL="342900" indent="-3429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Valid for this dataset, split and training budget</a:t>
            </a:r>
            <a:endParaRPr lang="en-US" sz="1600" dirty="0"/>
          </a:p>
        </p:txBody>
      </p:sp>
      <p:sp>
        <p:nvSpPr>
          <p:cNvPr id="6" name="Panel Next experiments"/>
          <p:cNvSpPr/>
          <p:nvPr/>
        </p:nvSpPr>
        <p:spPr>
          <a:xfrm>
            <a:off x="6324448" y="1508760"/>
            <a:ext cx="5318608" cy="4160520"/>
          </a:xfrm>
          <a:prstGeom prst="roundRect">
            <a:avLst>
              <a:gd name="adj" fmla="val 2637"/>
            </a:avLst>
          </a:prstGeom>
          <a:solidFill>
            <a:schemeClr val="tx1">
              <a:alpha val="65000"/>
            </a:schemeClr>
          </a:solidFill>
          <a:ln w="19050">
            <a:solidFill>
              <a:schemeClr val="accent2"/>
            </a:solidFill>
            <a:prstDash val="solid"/>
          </a:ln>
        </p:spPr>
      </p:sp>
      <p:sp>
        <p:nvSpPr>
          <p:cNvPr id="7" name="Text 5"/>
          <p:cNvSpPr txBox="1"/>
          <p:nvPr/>
        </p:nvSpPr>
        <p:spPr>
          <a:xfrm>
            <a:off x="6690208" y="1691640"/>
            <a:ext cx="4587088" cy="54864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Next experiments</a:t>
            </a:r>
            <a:endParaRPr lang="en-US" sz="2400" dirty="0"/>
          </a:p>
        </p:txBody>
      </p:sp>
      <p:sp>
        <p:nvSpPr>
          <p:cNvPr id="8" name="Text 6"/>
          <p:cNvSpPr txBox="1"/>
          <p:nvPr/>
        </p:nvSpPr>
        <p:spPr>
          <a:xfrm>
            <a:off x="6690208" y="2423160"/>
            <a:ext cx="4587088"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Single seed, small budget: repeat seeds, report spread, use more data</a:t>
            </a:r>
            <a:endParaRPr lang="en-US" sz="1600" dirty="0"/>
          </a:p>
          <a:p>
            <a:pPr marL="342900" indent="-3429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Truncation at 128 tokens: compare longer sequences</a:t>
            </a:r>
            <a:endParaRPr lang="en-US" sz="1600" dirty="0"/>
          </a:p>
          <a:p>
            <a:pPr marL="342900" indent="-3429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Weak neutral class: inspect ambiguous labels</a:t>
            </a:r>
            <a:endParaRPr lang="en-US" sz="1600" dirty="0"/>
          </a:p>
          <a:p>
            <a:pPr marL="342900" indent="-342900">
              <a:spcAft>
                <a:spcPts val="1200"/>
              </a:spcAft>
              <a:buSzPct val="100000"/>
              <a:buChar char="•"/>
            </a:pPr>
            <a:r>
              <a:rPr lang="en-US" sz="1600" dirty="0">
                <a:solidFill>
                  <a:schemeClr val="bg1"/>
                </a:solidFill>
                <a:latin typeface="Calibri" pitchFamily="34" charset="0"/>
                <a:ea typeface="Calibri" pitchFamily="34" charset="-122"/>
                <a:cs typeface="Calibri" pitchFamily="34" charset="-120"/>
              </a:rPr>
              <a:t>Generalization: pretrained embeddings, splits grouped by drug</a:t>
            </a:r>
            <a:endParaRPr lang="en-US" sz="1600" dirty="0"/>
          </a:p>
        </p:txBody>
      </p:sp>
      <p:sp>
        <p:nvSpPr>
          <p:cNvPr id="9" name="Text 7"/>
          <p:cNvSpPr txBox="1"/>
          <p:nvPr/>
        </p:nvSpPr>
        <p:spPr>
          <a:xfrm>
            <a:off x="548640" y="5943600"/>
            <a:ext cx="9997135" cy="320040"/>
          </a:xfrm>
          <a:prstGeom prst="rect">
            <a:avLst/>
          </a:prstGeom>
          <a:noFill/>
          <a:ln/>
        </p:spPr>
        <p:txBody>
          <a:bodyPr wrap="square" lIns="0" tIns="0" rIns="0" bIns="0" rtlCol="0" anchor="ctr"/>
          <a:lstStyle/>
          <a:p>
            <a:pPr indent="0" marL="0">
              <a:buNone/>
            </a:pPr>
            <a:r>
              <a:rPr lang="en-US" sz="1400" dirty="0">
                <a:solidFill>
                  <a:schemeClr val="accent6"/>
                </a:solidFill>
                <a:latin typeface="Calibri" pitchFamily="34" charset="0"/>
                <a:ea typeface="Calibri" pitchFamily="34" charset="-122"/>
                <a:cs typeface="Calibri" pitchFamily="34" charset="-120"/>
              </a:rPr>
              <a:t>Code, tests, histories and predictions: github.com/baalasara7-max/rnn-drug-review-lstm-2026</a:t>
            </a:r>
            <a:endParaRPr lang="en-US" sz="14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Drug Review RNN">
  <a:themeElements>
    <a:clrScheme name="Drug Review RNN">
      <a:dk1>
        <a:srgbClr val="0F2A33"/>
      </a:dk1>
      <a:lt1>
        <a:srgbClr val="FFFFFF"/>
      </a:lt1>
      <a:dk2>
        <a:srgbClr val="0B4F5C"/>
      </a:dk2>
      <a:lt2>
        <a:srgbClr val="EAF4F3"/>
      </a:lt2>
      <a:accent1>
        <a:srgbClr val="0E7C86"/>
      </a:accent1>
      <a:accent2>
        <a:srgbClr val="F26B5B"/>
      </a:accent2>
      <a:accent3>
        <a:srgbClr val="F2B84B"/>
      </a:accent3>
      <a:accent4>
        <a:srgbClr val="2EC4B6"/>
      </a:accent4>
      <a:accent5>
        <a:srgbClr val="5B7C99"/>
      </a:accent5>
      <a:accent6>
        <a:srgbClr val="8FA9A8"/>
      </a:accent6>
      <a:hlink>
        <a:srgbClr val="0E7C86"/>
      </a:hlink>
      <a:folHlink>
        <a:srgbClr val="5B7C99"/>
      </a:folHlink>
    </a:clrScheme>
    <a:fontScheme name="Drug Review RN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Drug review sentiment with manual LSTM cells</dc:title>
  <dc:subject>PptxGenJS Presentation</dc:subject>
  <dc:creator>PptxGenJS</dc:creator>
  <cp:lastModifiedBy>PptxGenJS</cp:lastModifiedBy>
  <cp:revision>1</cp:revision>
  <dcterms:created xsi:type="dcterms:W3CDTF">2026-10-25T15:14:04Z</dcterms:created>
  <dcterms:modified xsi:type="dcterms:W3CDTF">2026-10-25T15:14:04Z</dcterms:modified>
</cp:coreProperties>
</file>